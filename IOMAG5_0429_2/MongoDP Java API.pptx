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3434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0196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757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099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359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7308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6311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01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593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401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7810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2238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1844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4366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8687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92440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122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4A372-9801-4F22-AF69-352868D606D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7F8FF-832C-47D2-BE86-E5984B8FA1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26366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D5FDAD-BB73-808A-E4FE-4E0ADA64D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MongoDB</a:t>
            </a:r>
            <a:r>
              <a:rPr lang="hu-HU" dirty="0"/>
              <a:t> Java api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37EB8B0-E8AF-A72A-6652-67614B836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Nyíri Levente</a:t>
            </a:r>
          </a:p>
        </p:txBody>
      </p:sp>
    </p:spTree>
    <p:extLst>
      <p:ext uri="{BB962C8B-B14F-4D97-AF65-F5344CB8AC3E}">
        <p14:creationId xmlns:p14="http://schemas.microsoft.com/office/powerpoint/2010/main" val="103786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0BE033-00C7-9479-5A76-F0A9417C6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1BAA67-A7BF-0160-5DDF-538C8935C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Java API</a:t>
            </a:r>
          </a:p>
          <a:p>
            <a:r>
              <a:rPr lang="hu-HU" dirty="0"/>
              <a:t>Operátorok</a:t>
            </a:r>
          </a:p>
          <a:p>
            <a:r>
              <a:rPr lang="hu-HU" dirty="0"/>
              <a:t>DML</a:t>
            </a:r>
          </a:p>
          <a:p>
            <a:r>
              <a:rPr lang="hu-HU" dirty="0"/>
              <a:t>DQL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8400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6AA8AE-086A-C240-2386-331F43C7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Java api alapelemek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E03FFD-70A3-0B8F-C76B-05F1650B4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MongoClient</a:t>
            </a:r>
            <a:endParaRPr lang="hu-HU" dirty="0"/>
          </a:p>
          <a:p>
            <a:r>
              <a:rPr lang="hu-HU" dirty="0" err="1"/>
              <a:t>MongoDatabase</a:t>
            </a:r>
            <a:endParaRPr lang="hu-HU" dirty="0"/>
          </a:p>
          <a:p>
            <a:r>
              <a:rPr lang="hu-HU" dirty="0" err="1"/>
              <a:t>MongoCollection</a:t>
            </a:r>
            <a:endParaRPr lang="hu-HU" dirty="0"/>
          </a:p>
          <a:p>
            <a:r>
              <a:rPr lang="hu-HU" dirty="0" err="1"/>
              <a:t>Document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45147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C27F69-F5FF-4F43-1E7C-1D4E9898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MongoClient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865960-053D-77FA-807F-4BD15246C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Kezeli a kapcsolatot a szerverrel</a:t>
            </a:r>
          </a:p>
          <a:p>
            <a:r>
              <a:rPr lang="en-US" dirty="0" err="1"/>
              <a:t>MongoClient</a:t>
            </a:r>
            <a:r>
              <a:rPr lang="en-US" dirty="0"/>
              <a:t> </a:t>
            </a:r>
            <a:r>
              <a:rPr lang="en-US" dirty="0" err="1"/>
              <a:t>mongoClient</a:t>
            </a:r>
            <a:r>
              <a:rPr lang="en-US" dirty="0"/>
              <a:t> = </a:t>
            </a:r>
            <a:r>
              <a:rPr lang="en-US" dirty="0" err="1"/>
              <a:t>MongoClients.create</a:t>
            </a:r>
            <a:r>
              <a:rPr lang="en-US" dirty="0"/>
              <a:t>(</a:t>
            </a:r>
            <a:r>
              <a:rPr lang="hu-HU" dirty="0" err="1"/>
              <a:t>connection</a:t>
            </a:r>
            <a:r>
              <a:rPr lang="hu-HU" dirty="0"/>
              <a:t> </a:t>
            </a:r>
            <a:r>
              <a:rPr lang="hu-HU" dirty="0" err="1"/>
              <a:t>string</a:t>
            </a:r>
            <a:r>
              <a:rPr lang="hu-HU" dirty="0"/>
              <a:t>);</a:t>
            </a:r>
          </a:p>
          <a:p>
            <a:r>
              <a:rPr lang="en-US" dirty="0"/>
              <a:t>mongodb://localhost:27017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4253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DA2A67-3FA6-326E-2B70-53A8DB1F3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Mongodatabase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3CE160-2C0E-FA92-E205-F1B21B6F8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Ezen keresztül lehet elérni az adatbázist</a:t>
            </a:r>
          </a:p>
          <a:p>
            <a:r>
              <a:rPr lang="hu-HU" dirty="0" err="1"/>
              <a:t>MongoDatabase</a:t>
            </a:r>
            <a:r>
              <a:rPr lang="hu-HU" dirty="0"/>
              <a:t> </a:t>
            </a:r>
            <a:r>
              <a:rPr lang="hu-HU" dirty="0" err="1"/>
              <a:t>database</a:t>
            </a:r>
            <a:r>
              <a:rPr lang="hu-HU" dirty="0"/>
              <a:t> = </a:t>
            </a:r>
            <a:r>
              <a:rPr lang="hu-HU" dirty="0" err="1"/>
              <a:t>mongoClient.getDatabase</a:t>
            </a:r>
            <a:r>
              <a:rPr lang="hu-HU" dirty="0"/>
              <a:t>(</a:t>
            </a:r>
            <a:r>
              <a:rPr lang="hu-HU" dirty="0" err="1"/>
              <a:t>adatbazis_nev</a:t>
            </a:r>
            <a:r>
              <a:rPr lang="hu-HU" dirty="0"/>
              <a:t>);</a:t>
            </a:r>
          </a:p>
          <a:p>
            <a:r>
              <a:rPr lang="hu-HU" dirty="0" err="1"/>
              <a:t>Collection-ök</a:t>
            </a:r>
            <a:r>
              <a:rPr lang="hu-HU" dirty="0"/>
              <a:t> lekérése, létrehozása</a:t>
            </a:r>
          </a:p>
        </p:txBody>
      </p:sp>
    </p:spTree>
    <p:extLst>
      <p:ext uri="{BB962C8B-B14F-4D97-AF65-F5344CB8AC3E}">
        <p14:creationId xmlns:p14="http://schemas.microsoft.com/office/powerpoint/2010/main" val="2209726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C0BD49-6B75-3841-F5CE-9E2CA573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MongoCollection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4BD307A-FD23-85A2-591E-0F49BCB73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Kiválasztja a gyűjteményt az adatbázison belül</a:t>
            </a:r>
          </a:p>
          <a:p>
            <a:r>
              <a:rPr lang="hu-HU" dirty="0"/>
              <a:t>Ezen lehet műveleteket elvégezni, például Update, </a:t>
            </a:r>
            <a:r>
              <a:rPr lang="hu-HU" dirty="0" err="1"/>
              <a:t>Delete</a:t>
            </a:r>
            <a:r>
              <a:rPr lang="hu-HU" dirty="0"/>
              <a:t>, </a:t>
            </a:r>
            <a:r>
              <a:rPr lang="hu-HU" dirty="0" err="1"/>
              <a:t>Find</a:t>
            </a:r>
            <a:endParaRPr lang="hu-HU" dirty="0"/>
          </a:p>
          <a:p>
            <a:r>
              <a:rPr lang="hu-HU" dirty="0" err="1"/>
              <a:t>MongoCollection</a:t>
            </a:r>
            <a:r>
              <a:rPr lang="hu-HU" dirty="0"/>
              <a:t>&lt;</a:t>
            </a:r>
            <a:r>
              <a:rPr lang="hu-HU" dirty="0" err="1"/>
              <a:t>Document</a:t>
            </a:r>
            <a:r>
              <a:rPr lang="hu-HU" dirty="0"/>
              <a:t>&gt; </a:t>
            </a:r>
            <a:r>
              <a:rPr lang="hu-HU" dirty="0" err="1"/>
              <a:t>termekek</a:t>
            </a:r>
            <a:r>
              <a:rPr lang="hu-HU" dirty="0"/>
              <a:t>=</a:t>
            </a:r>
            <a:r>
              <a:rPr lang="hu-HU" dirty="0" err="1"/>
              <a:t>database.getCollection</a:t>
            </a:r>
            <a:r>
              <a:rPr lang="hu-HU" dirty="0"/>
              <a:t>("</a:t>
            </a:r>
            <a:r>
              <a:rPr lang="hu-HU" dirty="0" err="1"/>
              <a:t>termekek</a:t>
            </a:r>
            <a:r>
              <a:rPr lang="hu-HU" dirty="0"/>
              <a:t>");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39593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D3EFE9-947D-9BED-43F7-9DEF2647E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Logikai </a:t>
            </a:r>
            <a:r>
              <a:rPr lang="hu-HU" dirty="0" err="1"/>
              <a:t>oprátorok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3F5D22-FE75-AB52-EE37-98CE35E9C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and(): Csak akkor ad találatot, ha az összes benne lévő feltétel igaz.</a:t>
            </a:r>
          </a:p>
          <a:p>
            <a:pPr lvl="1"/>
            <a:r>
              <a:rPr lang="hu-HU" dirty="0"/>
              <a:t>Filters.and(</a:t>
            </a:r>
            <a:r>
              <a:rPr lang="hu-HU" dirty="0" err="1"/>
              <a:t>gt</a:t>
            </a:r>
            <a:r>
              <a:rPr lang="hu-HU" dirty="0"/>
              <a:t>("kor", 18), </a:t>
            </a:r>
            <a:r>
              <a:rPr lang="hu-HU" dirty="0" err="1"/>
              <a:t>eq</a:t>
            </a:r>
            <a:r>
              <a:rPr lang="hu-HU" dirty="0"/>
              <a:t>("varos", "Budapest"))</a:t>
            </a:r>
          </a:p>
          <a:p>
            <a:r>
              <a:rPr lang="hu-HU" dirty="0" err="1"/>
              <a:t>or</a:t>
            </a:r>
            <a:r>
              <a:rPr lang="hu-HU" dirty="0"/>
              <a:t>(): Akkor ad találatot, ha legalább az egyik feltétel igaz.</a:t>
            </a:r>
          </a:p>
          <a:p>
            <a:pPr lvl="1"/>
            <a:r>
              <a:rPr lang="hu-HU" dirty="0" err="1"/>
              <a:t>Filters.or</a:t>
            </a:r>
            <a:r>
              <a:rPr lang="hu-HU" dirty="0"/>
              <a:t>(</a:t>
            </a:r>
            <a:r>
              <a:rPr lang="hu-HU" dirty="0" err="1"/>
              <a:t>eq</a:t>
            </a:r>
            <a:r>
              <a:rPr lang="hu-HU" dirty="0"/>
              <a:t>("</a:t>
            </a:r>
            <a:r>
              <a:rPr lang="hu-HU" dirty="0" err="1"/>
              <a:t>szin</a:t>
            </a:r>
            <a:r>
              <a:rPr lang="hu-HU" dirty="0"/>
              <a:t>", "piros"), </a:t>
            </a:r>
            <a:r>
              <a:rPr lang="hu-HU" dirty="0" err="1"/>
              <a:t>eq</a:t>
            </a:r>
            <a:r>
              <a:rPr lang="hu-HU" dirty="0"/>
              <a:t>("</a:t>
            </a:r>
            <a:r>
              <a:rPr lang="hu-HU" dirty="0" err="1"/>
              <a:t>szin</a:t>
            </a:r>
            <a:r>
              <a:rPr lang="hu-HU" dirty="0"/>
              <a:t>", "</a:t>
            </a:r>
            <a:r>
              <a:rPr lang="hu-HU" dirty="0" err="1"/>
              <a:t>zold</a:t>
            </a:r>
            <a:r>
              <a:rPr lang="hu-HU" dirty="0"/>
              <a:t>"))</a:t>
            </a:r>
          </a:p>
          <a:p>
            <a:r>
              <a:rPr lang="hu-HU" dirty="0" err="1"/>
              <a:t>not</a:t>
            </a:r>
            <a:r>
              <a:rPr lang="hu-HU" dirty="0"/>
              <a:t>(): Megfordítja a feltétel eredményét.</a:t>
            </a:r>
          </a:p>
          <a:p>
            <a:pPr lvl="1"/>
            <a:r>
              <a:rPr lang="hu-HU" dirty="0" err="1"/>
              <a:t>Filters.not</a:t>
            </a:r>
            <a:r>
              <a:rPr lang="hu-HU" dirty="0"/>
              <a:t>(</a:t>
            </a:r>
            <a:r>
              <a:rPr lang="hu-HU" dirty="0" err="1"/>
              <a:t>eq</a:t>
            </a:r>
            <a:r>
              <a:rPr lang="hu-HU" dirty="0"/>
              <a:t>("</a:t>
            </a:r>
            <a:r>
              <a:rPr lang="hu-HU" dirty="0" err="1"/>
              <a:t>tipus</a:t>
            </a:r>
            <a:r>
              <a:rPr lang="hu-HU" dirty="0"/>
              <a:t>", "</a:t>
            </a:r>
            <a:r>
              <a:rPr lang="hu-HU" dirty="0" err="1"/>
              <a:t>hibas</a:t>
            </a:r>
            <a:r>
              <a:rPr lang="hu-HU" dirty="0"/>
              <a:t>"))</a:t>
            </a:r>
          </a:p>
          <a:p>
            <a:r>
              <a:rPr lang="hu-HU" dirty="0" err="1"/>
              <a:t>nor</a:t>
            </a:r>
            <a:r>
              <a:rPr lang="hu-HU" dirty="0"/>
              <a:t>(): Akkor igaz, ha egyik feltétel sem teljesül.</a:t>
            </a:r>
          </a:p>
        </p:txBody>
      </p:sp>
    </p:spTree>
    <p:extLst>
      <p:ext uri="{BB962C8B-B14F-4D97-AF65-F5344CB8AC3E}">
        <p14:creationId xmlns:p14="http://schemas.microsoft.com/office/powerpoint/2010/main" val="250638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5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5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pic>
        <p:nvPicPr>
          <p:cNvPr id="73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D0D5D9-3C9F-7D42-195D-44D03157A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98" y="1125855"/>
            <a:ext cx="3520824" cy="4255025"/>
          </a:xfrm>
        </p:spPr>
        <p:txBody>
          <a:bodyPr>
            <a:normAutofit/>
          </a:bodyPr>
          <a:lstStyle/>
          <a:p>
            <a:r>
              <a:rPr lang="hu-HU" sz="3300" dirty="0">
                <a:solidFill>
                  <a:srgbClr val="FFFFFF"/>
                </a:solidFill>
              </a:rPr>
              <a:t>Összehasonlító operátorok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B2746C4C-4262-0689-A944-BC41E0CE22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2594150"/>
              </p:ext>
            </p:extLst>
          </p:nvPr>
        </p:nvGraphicFramePr>
        <p:xfrm>
          <a:off x="4662188" y="1189358"/>
          <a:ext cx="6987283" cy="4236447"/>
        </p:xfrm>
        <a:graphic>
          <a:graphicData uri="http://schemas.openxmlformats.org/drawingml/2006/table">
            <a:tbl>
              <a:tblPr/>
              <a:tblGrid>
                <a:gridCol w="2253352">
                  <a:extLst>
                    <a:ext uri="{9D8B030D-6E8A-4147-A177-3AD203B41FA5}">
                      <a16:colId xmlns:a16="http://schemas.microsoft.com/office/drawing/2014/main" val="73382511"/>
                    </a:ext>
                  </a:extLst>
                </a:gridCol>
                <a:gridCol w="2405440">
                  <a:extLst>
                    <a:ext uri="{9D8B030D-6E8A-4147-A177-3AD203B41FA5}">
                      <a16:colId xmlns:a16="http://schemas.microsoft.com/office/drawing/2014/main" val="1484326660"/>
                    </a:ext>
                  </a:extLst>
                </a:gridCol>
                <a:gridCol w="2328491">
                  <a:extLst>
                    <a:ext uri="{9D8B030D-6E8A-4147-A177-3AD203B41FA5}">
                      <a16:colId xmlns:a16="http://schemas.microsoft.com/office/drawing/2014/main" val="521054815"/>
                    </a:ext>
                  </a:extLst>
                </a:gridCol>
              </a:tblGrid>
              <a:tr h="40984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Metódus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1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Jelentés</a:t>
                      </a:r>
                      <a:endParaRPr lang="hu-HU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Példa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59564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535007"/>
                  </a:ext>
                </a:extLst>
              </a:tr>
              <a:tr h="40984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eq()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Egyenlő</a:t>
                      </a:r>
                      <a:endParaRPr lang="hu-HU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eq("nev", "Béla")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59564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96207"/>
                  </a:ext>
                </a:extLst>
              </a:tr>
              <a:tr h="40984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ne()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Nem egyenlő</a:t>
                      </a:r>
                      <a:endParaRPr lang="hu-HU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ne("statusz", "aktiv")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59564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466877"/>
                  </a:ext>
                </a:extLst>
              </a:tr>
              <a:tr h="59245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gt()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Nagyobb mint</a:t>
                      </a:r>
                      <a:endParaRPr lang="hu-HU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gt("kor", 18)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59564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682011"/>
                  </a:ext>
                </a:extLst>
              </a:tr>
              <a:tr h="59245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gte()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Nagyobb </a:t>
                      </a:r>
                      <a:r>
                        <a:rPr lang="en-US" sz="12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vagy</a:t>
                      </a:r>
                      <a:r>
                        <a:rPr 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egyenlő</a:t>
                      </a:r>
                      <a:endParaRPr lang="hu-HU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gte("ar", 500)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59564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102053"/>
                  </a:ext>
                </a:extLst>
              </a:tr>
              <a:tr h="40984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lt()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Kisebb mint</a:t>
                      </a:r>
                      <a:endParaRPr lang="hu-HU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lt("keszlet", 5)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59564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984853"/>
                  </a:ext>
                </a:extLst>
              </a:tr>
              <a:tr h="59245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lte()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Kisebb </a:t>
                      </a:r>
                      <a:r>
                        <a:rPr lang="en-US" sz="12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vagy</a:t>
                      </a:r>
                      <a:r>
                        <a:rPr 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egyenlő</a:t>
                      </a:r>
                      <a:endParaRPr lang="hu-HU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lte("datum", ma)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59564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481538"/>
                  </a:ext>
                </a:extLst>
              </a:tr>
              <a:tr h="40984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in()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Benne van a listában</a:t>
                      </a:r>
                      <a:endParaRPr lang="hu-HU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in("szin", "piros", "kek")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59564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909865"/>
                  </a:ext>
                </a:extLst>
              </a:tr>
              <a:tr h="40984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nin()</a:t>
                      </a:r>
                      <a:endParaRPr lang="hu-HU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hu-HU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Nincs benne a listában</a:t>
                      </a:r>
                      <a:endParaRPr lang="hu-HU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74455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nin("id", 1, 2, 3)</a:t>
                      </a:r>
                      <a:endParaRPr lang="hu-HU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564" marR="59564" marT="99274" marB="9927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295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679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F70DC2-5EEF-81CD-E08D-D1F8FF6E2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DML műveletek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088B2E8-FD0F-4F76-3312-BD62A25C6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updateOne</a:t>
            </a:r>
            <a:r>
              <a:rPr lang="hu-HU" dirty="0"/>
              <a:t>/</a:t>
            </a:r>
            <a:r>
              <a:rPr lang="hu-HU" dirty="0" err="1"/>
              <a:t>updateMany</a:t>
            </a:r>
            <a:endParaRPr lang="hu-HU" dirty="0"/>
          </a:p>
          <a:p>
            <a:r>
              <a:rPr lang="hu-HU" dirty="0" err="1"/>
              <a:t>insertOne</a:t>
            </a:r>
            <a:r>
              <a:rPr lang="hu-HU" dirty="0"/>
              <a:t>/</a:t>
            </a:r>
            <a:r>
              <a:rPr lang="hu-HU" dirty="0" err="1"/>
              <a:t>insertMany</a:t>
            </a:r>
            <a:endParaRPr lang="hu-HU" dirty="0"/>
          </a:p>
          <a:p>
            <a:pPr lvl="1"/>
            <a:r>
              <a:rPr lang="en-US" dirty="0" err="1"/>
              <a:t>collection.insertOne</a:t>
            </a:r>
            <a:r>
              <a:rPr lang="en-US" dirty="0"/>
              <a:t>(new Document("name", "Anna").append("age", 22));</a:t>
            </a:r>
            <a:endParaRPr lang="hu-HU" dirty="0"/>
          </a:p>
          <a:p>
            <a:r>
              <a:rPr lang="hu-HU" dirty="0" err="1"/>
              <a:t>deleteOne</a:t>
            </a:r>
            <a:r>
              <a:rPr lang="hu-HU" dirty="0"/>
              <a:t>/</a:t>
            </a:r>
            <a:r>
              <a:rPr lang="hu-HU" dirty="0" err="1"/>
              <a:t>deleteMany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38456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85D95D-C2E7-3D85-6497-B56F2D18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DQL művelet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3E6F5E9-7C4D-BB91-AEFF-CCB86343F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Find</a:t>
            </a:r>
            <a:r>
              <a:rPr lang="hu-HU" dirty="0"/>
              <a:t>() segítségével</a:t>
            </a:r>
          </a:p>
          <a:p>
            <a:r>
              <a:rPr lang="en-US" dirty="0"/>
              <a:t>Document user = </a:t>
            </a:r>
            <a:r>
              <a:rPr lang="en-US" dirty="0" err="1"/>
              <a:t>collection.find</a:t>
            </a:r>
            <a:r>
              <a:rPr lang="en-US" dirty="0"/>
              <a:t>(eq("age", 25)).first();</a:t>
            </a:r>
            <a:endParaRPr lang="hu-HU" dirty="0"/>
          </a:p>
          <a:p>
            <a:r>
              <a:rPr lang="hu-HU" dirty="0" err="1"/>
              <a:t>First</a:t>
            </a:r>
            <a:r>
              <a:rPr lang="hu-HU" dirty="0"/>
              <a:t>() – Egy dokumentum lekérdezése</a:t>
            </a:r>
          </a:p>
          <a:p>
            <a:r>
              <a:rPr lang="hu-HU" dirty="0" err="1"/>
              <a:t>into</a:t>
            </a:r>
            <a:r>
              <a:rPr lang="hu-HU" dirty="0"/>
              <a:t>(</a:t>
            </a:r>
            <a:r>
              <a:rPr lang="hu-HU" dirty="0" err="1"/>
              <a:t>new</a:t>
            </a:r>
            <a:r>
              <a:rPr lang="hu-HU" dirty="0"/>
              <a:t> </a:t>
            </a:r>
            <a:r>
              <a:rPr lang="hu-HU" dirty="0" err="1"/>
              <a:t>ArrayList</a:t>
            </a:r>
            <a:r>
              <a:rPr lang="hu-HU" dirty="0"/>
              <a:t>&lt;&gt;())- listához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771682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Áramkör</Template>
  <TotalTime>70</TotalTime>
  <Words>348</Words>
  <Application>Microsoft Office PowerPoint</Application>
  <PresentationFormat>Szélesvásznú</PresentationFormat>
  <Paragraphs>70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Google Sans Text</vt:lpstr>
      <vt:lpstr>Tw Cen MT</vt:lpstr>
      <vt:lpstr>Áramkör</vt:lpstr>
      <vt:lpstr>MongoDB Java api</vt:lpstr>
      <vt:lpstr>Tartalom</vt:lpstr>
      <vt:lpstr>Java api alapelemek</vt:lpstr>
      <vt:lpstr>MongoClient</vt:lpstr>
      <vt:lpstr>Mongodatabase</vt:lpstr>
      <vt:lpstr>MongoCollection</vt:lpstr>
      <vt:lpstr>Logikai oprátorok</vt:lpstr>
      <vt:lpstr>Összehasonlító operátorok</vt:lpstr>
      <vt:lpstr>DML műveletek</vt:lpstr>
      <vt:lpstr>DQL művelet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Nyíri Levente</dc:creator>
  <cp:lastModifiedBy>Nyíri Levente</cp:lastModifiedBy>
  <cp:revision>1</cp:revision>
  <dcterms:created xsi:type="dcterms:W3CDTF">2026-04-28T16:33:11Z</dcterms:created>
  <dcterms:modified xsi:type="dcterms:W3CDTF">2026-04-28T17:44:27Z</dcterms:modified>
</cp:coreProperties>
</file>