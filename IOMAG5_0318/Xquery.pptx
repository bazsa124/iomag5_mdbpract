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9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3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4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7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51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354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75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098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9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66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E2455-E091-4BD6-840D-D056C88E8DD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97112EF-FF7C-4A5C-85F0-8552764D5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589213" y="1185260"/>
            <a:ext cx="8421950" cy="1476977"/>
          </a:xfrm>
        </p:spPr>
        <p:txBody>
          <a:bodyPr>
            <a:normAutofit/>
          </a:bodyPr>
          <a:lstStyle/>
          <a:p>
            <a:r>
              <a:rPr lang="hu-HU" sz="6600" dirty="0" err="1">
                <a:solidFill>
                  <a:schemeClr val="tx1"/>
                </a:solidFill>
              </a:rPr>
              <a:t>Xquery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Szalóczy Krisztián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8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az</a:t>
            </a:r>
            <a:r>
              <a:rPr lang="en-US" dirty="0">
                <a:solidFill>
                  <a:schemeClr val="tx1"/>
                </a:solidFill>
              </a:rPr>
              <a:t> XQuery?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XQuery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lekérdező</a:t>
            </a:r>
            <a:r>
              <a:rPr lang="en-US" dirty="0"/>
              <a:t> </a:t>
            </a:r>
            <a:r>
              <a:rPr lang="en-US" dirty="0" err="1"/>
              <a:t>nyelv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b="1" dirty="0"/>
              <a:t>XML </a:t>
            </a:r>
            <a:r>
              <a:rPr lang="en-US" b="1" dirty="0" err="1"/>
              <a:t>adatok</a:t>
            </a:r>
            <a:r>
              <a:rPr lang="en-US" b="1" dirty="0"/>
              <a:t> </a:t>
            </a:r>
            <a:r>
              <a:rPr lang="en-US" b="1" dirty="0" err="1"/>
              <a:t>feldolgozására</a:t>
            </a:r>
            <a:r>
              <a:rPr lang="en-US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 </a:t>
            </a:r>
            <a:r>
              <a:rPr lang="en-US" b="1" dirty="0" err="1"/>
              <a:t>lekérdezésére</a:t>
            </a:r>
            <a:r>
              <a:rPr lang="en-US" dirty="0"/>
              <a:t> </a:t>
            </a:r>
            <a:r>
              <a:rPr lang="en-US" dirty="0" err="1"/>
              <a:t>használnak</a:t>
            </a:r>
            <a:r>
              <a:rPr lang="en-US" dirty="0"/>
              <a:t>.</a:t>
            </a:r>
          </a:p>
          <a:p>
            <a:r>
              <a:rPr lang="en-US" dirty="0" err="1"/>
              <a:t>Hasonló</a:t>
            </a:r>
            <a:r>
              <a:rPr lang="en-US" dirty="0"/>
              <a:t> </a:t>
            </a:r>
            <a:r>
              <a:rPr lang="en-US" dirty="0" err="1"/>
              <a:t>szerepet</a:t>
            </a:r>
            <a:r>
              <a:rPr lang="en-US" dirty="0"/>
              <a:t> </a:t>
            </a:r>
            <a:r>
              <a:rPr lang="en-US" dirty="0" err="1"/>
              <a:t>tölt</a:t>
            </a:r>
            <a:r>
              <a:rPr lang="en-US" dirty="0"/>
              <a:t> be </a:t>
            </a:r>
            <a:r>
              <a:rPr lang="en-US" dirty="0" err="1"/>
              <a:t>az</a:t>
            </a:r>
            <a:r>
              <a:rPr lang="en-US" dirty="0"/>
              <a:t> XML </a:t>
            </a:r>
            <a:r>
              <a:rPr lang="en-US" dirty="0" err="1"/>
              <a:t>világában</a:t>
            </a:r>
            <a:r>
              <a:rPr lang="en-US" dirty="0"/>
              <a:t>, mint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SQL</a:t>
            </a:r>
            <a:r>
              <a:rPr lang="en-US" dirty="0"/>
              <a:t> a </a:t>
            </a:r>
            <a:r>
              <a:rPr lang="en-US" dirty="0" err="1"/>
              <a:t>relációs</a:t>
            </a:r>
            <a:r>
              <a:rPr lang="en-US" dirty="0"/>
              <a:t> </a:t>
            </a:r>
            <a:r>
              <a:rPr lang="en-US" dirty="0" err="1"/>
              <a:t>adatbázisoknál</a:t>
            </a:r>
            <a:r>
              <a:rPr lang="en-US" dirty="0"/>
              <a:t>.</a:t>
            </a:r>
          </a:p>
          <a:p>
            <a:r>
              <a:rPr lang="en-US" dirty="0" err="1"/>
              <a:t>Tehát</a:t>
            </a:r>
            <a:r>
              <a:rPr lang="en-US" dirty="0"/>
              <a:t>:</a:t>
            </a:r>
          </a:p>
          <a:p>
            <a:r>
              <a:rPr lang="en-US" dirty="0"/>
              <a:t>SQL → </a:t>
            </a:r>
            <a:r>
              <a:rPr lang="en-US" dirty="0" err="1"/>
              <a:t>táblák</a:t>
            </a:r>
            <a:r>
              <a:rPr lang="en-US" dirty="0"/>
              <a:t> </a:t>
            </a:r>
            <a:r>
              <a:rPr lang="en-US" dirty="0" err="1"/>
              <a:t>lekérdezése</a:t>
            </a:r>
            <a:endParaRPr lang="en-US" dirty="0"/>
          </a:p>
          <a:p>
            <a:r>
              <a:rPr lang="en-US" dirty="0"/>
              <a:t>XQuery → </a:t>
            </a:r>
            <a:r>
              <a:rPr lang="en-US" b="1" dirty="0"/>
              <a:t>XML </a:t>
            </a:r>
            <a:r>
              <a:rPr lang="en-US" b="1" dirty="0" err="1"/>
              <a:t>dokumentumok</a:t>
            </a:r>
            <a:r>
              <a:rPr lang="en-US" b="1" dirty="0"/>
              <a:t> </a:t>
            </a:r>
            <a:r>
              <a:rPr lang="en-US" b="1" dirty="0" err="1"/>
              <a:t>lekérdezése</a:t>
            </a:r>
            <a:endParaRPr lang="en-US" dirty="0"/>
          </a:p>
          <a:p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XQuery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XPath</a:t>
            </a:r>
            <a:r>
              <a:rPr lang="en-US" dirty="0"/>
              <a:t> </a:t>
            </a:r>
            <a:r>
              <a:rPr lang="en-US" dirty="0" err="1"/>
              <a:t>kifejezésekre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, </a:t>
            </a:r>
            <a:r>
              <a:rPr lang="en-US" dirty="0" err="1"/>
              <a:t>amelyekkel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XML </a:t>
            </a:r>
            <a:r>
              <a:rPr lang="en-US" dirty="0" err="1"/>
              <a:t>struktúrában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navigálni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6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célja - használata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219353"/>
            <a:ext cx="5926138" cy="365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Fő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XML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b="1" dirty="0" err="1"/>
              <a:t>lekérdezése</a:t>
            </a:r>
            <a:endParaRPr lang="en-US" dirty="0"/>
          </a:p>
          <a:p>
            <a:pPr lvl="1"/>
            <a:r>
              <a:rPr lang="en-US" dirty="0"/>
              <a:t>XML </a:t>
            </a:r>
            <a:r>
              <a:rPr lang="en-US" dirty="0" err="1"/>
              <a:t>struktúrák</a:t>
            </a:r>
            <a:r>
              <a:rPr lang="en-US" dirty="0"/>
              <a:t> </a:t>
            </a:r>
            <a:r>
              <a:rPr lang="en-US" b="1" dirty="0" err="1"/>
              <a:t>feldolgozása</a:t>
            </a:r>
            <a:endParaRPr lang="en-US" dirty="0"/>
          </a:p>
          <a:p>
            <a:pPr lvl="1"/>
            <a:r>
              <a:rPr lang="hu-HU" dirty="0" err="1"/>
              <a:t>Ú</a:t>
            </a:r>
            <a:r>
              <a:rPr lang="en-US" dirty="0" smtClean="0"/>
              <a:t>j </a:t>
            </a:r>
            <a:r>
              <a:rPr lang="en-US" dirty="0"/>
              <a:t>XML </a:t>
            </a:r>
            <a:r>
              <a:rPr lang="en-US" b="1" dirty="0" err="1"/>
              <a:t>generálása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u-HU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dirty="0" err="1"/>
              <a:t>Felhasználás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XML </a:t>
            </a:r>
            <a:r>
              <a:rPr lang="en-US" dirty="0" err="1"/>
              <a:t>adatbázisok</a:t>
            </a:r>
            <a:endParaRPr lang="en-US" dirty="0"/>
          </a:p>
          <a:p>
            <a:pPr lvl="1"/>
            <a:r>
              <a:rPr lang="en-US" dirty="0" err="1"/>
              <a:t>webszolgáltatások</a:t>
            </a:r>
            <a:endParaRPr lang="en-US" dirty="0"/>
          </a:p>
          <a:p>
            <a:pPr lvl="1"/>
            <a:r>
              <a:rPr lang="en-US" dirty="0" err="1"/>
              <a:t>dokumentumkezelő</a:t>
            </a:r>
            <a:r>
              <a:rPr lang="en-US" dirty="0"/>
              <a:t> </a:t>
            </a:r>
            <a:r>
              <a:rPr lang="en-US" dirty="0" err="1"/>
              <a:t>rendszerek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0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Csoportba foglalás 52"/>
          <p:cNvGrpSpPr/>
          <p:nvPr/>
        </p:nvGrpSpPr>
        <p:grpSpPr>
          <a:xfrm>
            <a:off x="2268985" y="1826828"/>
            <a:ext cx="8719712" cy="4171950"/>
            <a:chOff x="1905000" y="406400"/>
            <a:chExt cx="8719712" cy="4171950"/>
          </a:xfrm>
        </p:grpSpPr>
        <p:sp>
          <p:nvSpPr>
            <p:cNvPr id="4" name="Ellipszis 3">
              <a:extLst>
                <a:ext uri="{FF2B5EF4-FFF2-40B4-BE49-F238E27FC236}">
                  <a16:creationId xmlns:a16="http://schemas.microsoft.com/office/drawing/2014/main" id="{DDF9337B-0E19-2E70-AFC0-2F31E7F488CF}"/>
                </a:ext>
              </a:extLst>
            </p:cNvPr>
            <p:cNvSpPr/>
            <p:nvPr/>
          </p:nvSpPr>
          <p:spPr>
            <a:xfrm>
              <a:off x="6629400" y="406400"/>
              <a:ext cx="17399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b="1" dirty="0" err="1"/>
                <a:t>Xquery</a:t>
              </a:r>
              <a:endParaRPr lang="hu-HU" b="1" dirty="0"/>
            </a:p>
          </p:txBody>
        </p:sp>
        <p:sp>
          <p:nvSpPr>
            <p:cNvPr id="5" name="Ellipszis 4">
              <a:extLst>
                <a:ext uri="{FF2B5EF4-FFF2-40B4-BE49-F238E27FC236}">
                  <a16:creationId xmlns:a16="http://schemas.microsoft.com/office/drawing/2014/main" id="{22FA9C70-6626-2365-30B3-B3CC9F27DA34}"/>
                </a:ext>
              </a:extLst>
            </p:cNvPr>
            <p:cNvSpPr/>
            <p:nvPr/>
          </p:nvSpPr>
          <p:spPr>
            <a:xfrm>
              <a:off x="4202113" y="1660853"/>
              <a:ext cx="14224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b="1" dirty="0" err="1"/>
                <a:t>Query</a:t>
              </a:r>
              <a:r>
                <a:rPr lang="hu-HU" sz="1600" dirty="0"/>
                <a:t> </a:t>
              </a:r>
              <a:r>
                <a:rPr lang="hu-HU" sz="1600" b="1" dirty="0"/>
                <a:t>FLWOR</a:t>
              </a:r>
            </a:p>
          </p:txBody>
        </p:sp>
        <p:sp>
          <p:nvSpPr>
            <p:cNvPr id="7" name="Ellipszis 6">
              <a:extLst>
                <a:ext uri="{FF2B5EF4-FFF2-40B4-BE49-F238E27FC236}">
                  <a16:creationId xmlns:a16="http://schemas.microsoft.com/office/drawing/2014/main" id="{2135333B-A0C0-3B67-54A8-3576D89ED47C}"/>
                </a:ext>
              </a:extLst>
            </p:cNvPr>
            <p:cNvSpPr/>
            <p:nvPr/>
          </p:nvSpPr>
          <p:spPr>
            <a:xfrm>
              <a:off x="9088012" y="1660853"/>
              <a:ext cx="1536700" cy="7493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b="1" dirty="0"/>
                <a:t>Update</a:t>
              </a:r>
            </a:p>
          </p:txBody>
        </p:sp>
        <p:sp>
          <p:nvSpPr>
            <p:cNvPr id="8" name="Ellipszis 7">
              <a:extLst>
                <a:ext uri="{FF2B5EF4-FFF2-40B4-BE49-F238E27FC236}">
                  <a16:creationId xmlns:a16="http://schemas.microsoft.com/office/drawing/2014/main" id="{B36A805E-D790-8253-A800-285F42F0D605}"/>
                </a:ext>
              </a:extLst>
            </p:cNvPr>
            <p:cNvSpPr/>
            <p:nvPr/>
          </p:nvSpPr>
          <p:spPr>
            <a:xfrm>
              <a:off x="1905000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Selection</a:t>
              </a:r>
              <a:endParaRPr lang="hu-HU" sz="1200" b="1" dirty="0"/>
            </a:p>
          </p:txBody>
        </p:sp>
        <p:sp>
          <p:nvSpPr>
            <p:cNvPr id="9" name="Ellipszis 8">
              <a:extLst>
                <a:ext uri="{FF2B5EF4-FFF2-40B4-BE49-F238E27FC236}">
                  <a16:creationId xmlns:a16="http://schemas.microsoft.com/office/drawing/2014/main" id="{F4D740C2-2EDD-F56A-6528-EEE4BC005864}"/>
                </a:ext>
              </a:extLst>
            </p:cNvPr>
            <p:cNvSpPr/>
            <p:nvPr/>
          </p:nvSpPr>
          <p:spPr>
            <a:xfrm>
              <a:off x="3541713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/>
                <a:t>Projection</a:t>
              </a:r>
            </a:p>
          </p:txBody>
        </p:sp>
        <p:sp>
          <p:nvSpPr>
            <p:cNvPr id="10" name="Ellipszis 9">
              <a:extLst>
                <a:ext uri="{FF2B5EF4-FFF2-40B4-BE49-F238E27FC236}">
                  <a16:creationId xmlns:a16="http://schemas.microsoft.com/office/drawing/2014/main" id="{2B625B94-B04C-DE66-5865-4EE9676534BC}"/>
                </a:ext>
              </a:extLst>
            </p:cNvPr>
            <p:cNvSpPr/>
            <p:nvPr/>
          </p:nvSpPr>
          <p:spPr>
            <a:xfrm>
              <a:off x="4969271" y="4006850"/>
              <a:ext cx="1320800" cy="57149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/>
                <a:t>Group</a:t>
              </a:r>
              <a:r>
                <a:rPr lang="hu-HU" dirty="0"/>
                <a:t> </a:t>
              </a:r>
            </a:p>
          </p:txBody>
        </p:sp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FEE51206-AE15-3A98-FE71-FD008335C960}"/>
                </a:ext>
              </a:extLst>
            </p:cNvPr>
            <p:cNvSpPr/>
            <p:nvPr/>
          </p:nvSpPr>
          <p:spPr>
            <a:xfrm>
              <a:off x="6501406" y="4006850"/>
              <a:ext cx="1320800" cy="571500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Join</a:t>
              </a:r>
              <a:endParaRPr lang="hu-HU" sz="1200" b="1" dirty="0"/>
            </a:p>
          </p:txBody>
        </p:sp>
        <p:sp>
          <p:nvSpPr>
            <p:cNvPr id="12" name="Ellipszis 11">
              <a:extLst>
                <a:ext uri="{FF2B5EF4-FFF2-40B4-BE49-F238E27FC236}">
                  <a16:creationId xmlns:a16="http://schemas.microsoft.com/office/drawing/2014/main" id="{5D882330-2F7A-F9F8-8A84-A5D488D05218}"/>
                </a:ext>
              </a:extLst>
            </p:cNvPr>
            <p:cNvSpPr/>
            <p:nvPr/>
          </p:nvSpPr>
          <p:spPr>
            <a:xfrm>
              <a:off x="9103908" y="3917581"/>
              <a:ext cx="1520804" cy="660768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200" b="1" dirty="0" err="1"/>
                <a:t>Insert</a:t>
              </a:r>
              <a:r>
                <a:rPr lang="hu-HU" sz="1200" dirty="0"/>
                <a:t>, </a:t>
              </a:r>
              <a:r>
                <a:rPr lang="hu-HU" sz="1200" b="1" dirty="0"/>
                <a:t>update</a:t>
              </a:r>
              <a:r>
                <a:rPr lang="hu-HU" sz="1200" dirty="0"/>
                <a:t>, </a:t>
              </a:r>
              <a:r>
                <a:rPr lang="hu-HU" sz="1200" b="1" dirty="0" err="1"/>
                <a:t>delete</a:t>
              </a:r>
              <a:endParaRPr lang="hu-HU" sz="1200" b="1" dirty="0"/>
            </a:p>
          </p:txBody>
        </p:sp>
        <p:cxnSp>
          <p:nvCxnSpPr>
            <p:cNvPr id="3" name="Egyenes összekötő 2"/>
            <p:cNvCxnSpPr>
              <a:stCxn id="5" idx="4"/>
              <a:endCxn id="8" idx="0"/>
            </p:cNvCxnSpPr>
            <p:nvPr/>
          </p:nvCxnSpPr>
          <p:spPr>
            <a:xfrm flipH="1">
              <a:off x="2565400" y="2410153"/>
              <a:ext cx="2347913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gyenes összekötő 12"/>
            <p:cNvCxnSpPr>
              <a:stCxn id="5" idx="4"/>
              <a:endCxn id="9" idx="0"/>
            </p:cNvCxnSpPr>
            <p:nvPr/>
          </p:nvCxnSpPr>
          <p:spPr>
            <a:xfrm flipH="1">
              <a:off x="4202113" y="2410153"/>
              <a:ext cx="711200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gyenes összekötő 14"/>
            <p:cNvCxnSpPr>
              <a:stCxn id="5" idx="4"/>
              <a:endCxn id="10" idx="0"/>
            </p:cNvCxnSpPr>
            <p:nvPr/>
          </p:nvCxnSpPr>
          <p:spPr>
            <a:xfrm>
              <a:off x="4913313" y="2410153"/>
              <a:ext cx="716358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>
              <a:stCxn id="5" idx="4"/>
              <a:endCxn id="11" idx="0"/>
            </p:cNvCxnSpPr>
            <p:nvPr/>
          </p:nvCxnSpPr>
          <p:spPr>
            <a:xfrm>
              <a:off x="4913313" y="2410153"/>
              <a:ext cx="2248493" cy="15966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gyenes összekötő 20"/>
            <p:cNvCxnSpPr>
              <a:stCxn id="7" idx="4"/>
              <a:endCxn id="12" idx="0"/>
            </p:cNvCxnSpPr>
            <p:nvPr/>
          </p:nvCxnSpPr>
          <p:spPr>
            <a:xfrm>
              <a:off x="9856362" y="2410153"/>
              <a:ext cx="7948" cy="1507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gyenes összekötő 26"/>
            <p:cNvCxnSpPr>
              <a:stCxn id="4" idx="4"/>
              <a:endCxn id="5" idx="0"/>
            </p:cNvCxnSpPr>
            <p:nvPr/>
          </p:nvCxnSpPr>
          <p:spPr>
            <a:xfrm flipH="1">
              <a:off x="4913313" y="1155700"/>
              <a:ext cx="2586037" cy="5051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/>
            <p:cNvCxnSpPr>
              <a:stCxn id="4" idx="4"/>
              <a:endCxn id="7" idx="0"/>
            </p:cNvCxnSpPr>
            <p:nvPr/>
          </p:nvCxnSpPr>
          <p:spPr>
            <a:xfrm>
              <a:off x="7499350" y="1155700"/>
              <a:ext cx="2357012" cy="5051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Szövegdoboz 53"/>
          <p:cNvSpPr txBox="1"/>
          <p:nvPr/>
        </p:nvSpPr>
        <p:spPr>
          <a:xfrm>
            <a:off x="1942184" y="656265"/>
            <a:ext cx="4779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Xquery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412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FLWOR </a:t>
            </a:r>
            <a:r>
              <a:rPr lang="hu-HU" dirty="0" err="1"/>
              <a:t>expression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legismertebb</a:t>
            </a:r>
            <a:r>
              <a:rPr lang="en-US" dirty="0"/>
              <a:t> XQuery </a:t>
            </a:r>
            <a:r>
              <a:rPr lang="en-US" dirty="0" err="1"/>
              <a:t>szerkezet</a:t>
            </a:r>
            <a:r>
              <a:rPr lang="en-US" dirty="0"/>
              <a:t> a </a:t>
            </a:r>
            <a:r>
              <a:rPr lang="en-US" b="1" dirty="0"/>
              <a:t>FLWOR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XQuery-ben kb.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szerepet</a:t>
            </a:r>
            <a:r>
              <a:rPr lang="en-US" dirty="0"/>
              <a:t> </a:t>
            </a:r>
            <a:r>
              <a:rPr lang="en-US" dirty="0" err="1"/>
              <a:t>tölt</a:t>
            </a:r>
            <a:r>
              <a:rPr lang="en-US" dirty="0"/>
              <a:t> be, mint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SQL SELECT </a:t>
            </a:r>
            <a:r>
              <a:rPr lang="en-US" b="1" dirty="0" err="1"/>
              <a:t>lekérdezés</a:t>
            </a:r>
            <a:r>
              <a:rPr lang="en-US" dirty="0"/>
              <a:t>.</a:t>
            </a:r>
            <a:endParaRPr lang="hu-HU" dirty="0"/>
          </a:p>
          <a:p>
            <a:pPr lvl="1"/>
            <a:r>
              <a:rPr lang="hu-HU" dirty="0"/>
              <a:t>Mozaikszó : </a:t>
            </a:r>
          </a:p>
          <a:p>
            <a:pPr lvl="2"/>
            <a:r>
              <a:rPr lang="hu-HU" b="1" dirty="0"/>
              <a:t>FOR -&gt; </a:t>
            </a:r>
            <a:r>
              <a:rPr lang="hu-HU" dirty="0"/>
              <a:t>Iterál egy elem listán</a:t>
            </a:r>
          </a:p>
          <a:p>
            <a:pPr lvl="2"/>
            <a:r>
              <a:rPr lang="hu-HU" b="1" dirty="0"/>
              <a:t>LET -&gt; </a:t>
            </a:r>
            <a:r>
              <a:rPr lang="hu-HU" dirty="0"/>
              <a:t>Változóba tesz egy értéket</a:t>
            </a:r>
          </a:p>
          <a:p>
            <a:pPr lvl="2"/>
            <a:r>
              <a:rPr lang="hu-HU" b="1" dirty="0"/>
              <a:t>WHERE </a:t>
            </a:r>
            <a:r>
              <a:rPr lang="hu-HU" dirty="0"/>
              <a:t>-&gt; Szűrés (mint SQL WHERE)</a:t>
            </a:r>
          </a:p>
          <a:p>
            <a:pPr lvl="2"/>
            <a:r>
              <a:rPr lang="hu-HU" b="1" dirty="0"/>
              <a:t>ORDER BY </a:t>
            </a:r>
            <a:r>
              <a:rPr lang="hu-HU" dirty="0"/>
              <a:t>-&gt; Rendezés</a:t>
            </a:r>
          </a:p>
          <a:p>
            <a:pPr lvl="2"/>
            <a:r>
              <a:rPr lang="hu-HU" b="1" dirty="0"/>
              <a:t>RETURN </a:t>
            </a:r>
            <a:r>
              <a:rPr lang="hu-HU" dirty="0"/>
              <a:t>-&gt; Mit adjon vissza a lekérdezés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73329" y="641866"/>
            <a:ext cx="8911687" cy="1280890"/>
          </a:xfrm>
        </p:spPr>
        <p:txBody>
          <a:bodyPr/>
          <a:lstStyle/>
          <a:p>
            <a:r>
              <a:rPr lang="hu-HU" dirty="0" smtClean="0"/>
              <a:t>1. Feladat</a:t>
            </a:r>
            <a:br>
              <a:rPr lang="hu-HU" dirty="0" smtClean="0"/>
            </a:b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4904" y="2148396"/>
            <a:ext cx="5015883" cy="3737499"/>
          </a:xfrm>
        </p:spPr>
        <p:txBody>
          <a:bodyPr/>
          <a:lstStyle/>
          <a:p>
            <a:r>
              <a:rPr lang="en-US" dirty="0" err="1" smtClean="0"/>
              <a:t>Készítsen</a:t>
            </a:r>
            <a:r>
              <a:rPr lang="en-US" dirty="0" smtClean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Xquery</a:t>
            </a:r>
            <a:r>
              <a:rPr lang="en-US" dirty="0"/>
              <a:t> </a:t>
            </a:r>
            <a:r>
              <a:rPr lang="en-US" dirty="0" err="1"/>
              <a:t>lekérdezést</a:t>
            </a:r>
            <a:r>
              <a:rPr lang="en-US" dirty="0"/>
              <a:t>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kiirtja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összes</a:t>
            </a:r>
            <a:r>
              <a:rPr lang="en-US" dirty="0"/>
              <a:t> </a:t>
            </a:r>
            <a:r>
              <a:rPr lang="en-US" dirty="0" err="1" smtClean="0"/>
              <a:t>vendéget</a:t>
            </a:r>
            <a:r>
              <a:rPr lang="hu-HU" dirty="0" smtClean="0"/>
              <a:t>:</a:t>
            </a: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en-US" i="1" dirty="0" smtClean="0">
                <a:latin typeface="Bahnschrift Light" panose="020B0502040204020203" pitchFamily="34" charset="0"/>
              </a:rPr>
              <a:t>doc</a:t>
            </a:r>
            <a:r>
              <a:rPr lang="en-US" i="1" dirty="0">
                <a:latin typeface="Bahnschrift Light" panose="020B0502040204020203" pitchFamily="34" charset="0"/>
              </a:rPr>
              <a:t>("/</a:t>
            </a:r>
            <a:r>
              <a:rPr lang="en-US" i="1" dirty="0" err="1" smtClean="0">
                <a:latin typeface="Bahnschrift Light" panose="020B0502040204020203" pitchFamily="34" charset="0"/>
              </a:rPr>
              <a:t>db</a:t>
            </a:r>
            <a:r>
              <a:rPr lang="hu-HU" i="1" dirty="0">
                <a:latin typeface="Bahnschrift Light" panose="020B0502040204020203" pitchFamily="34" charset="0"/>
              </a:rPr>
              <a:t>/</a:t>
            </a:r>
            <a:r>
              <a:rPr lang="en-US" i="1" dirty="0" smtClean="0">
                <a:latin typeface="Bahnschrift Light" panose="020B0502040204020203" pitchFamily="34" charset="0"/>
              </a:rPr>
              <a:t>etterem.xml</a:t>
            </a:r>
            <a:r>
              <a:rPr lang="en-US" i="1" dirty="0">
                <a:latin typeface="Bahnschrift Light" panose="020B0502040204020203" pitchFamily="34" charset="0"/>
              </a:rPr>
              <a:t>")//</a:t>
            </a:r>
            <a:r>
              <a:rPr lang="en-US" i="1" dirty="0" err="1" smtClean="0">
                <a:latin typeface="Bahnschrift Light" panose="020B0502040204020203" pitchFamily="34" charset="0"/>
              </a:rPr>
              <a:t>vendeg</a:t>
            </a:r>
            <a:endParaRPr lang="en-US" i="1" dirty="0">
              <a:latin typeface="Bahnschrift Light" panose="020B0502040204020203" pitchFamily="34" charset="0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17" y="1380198"/>
            <a:ext cx="5276583" cy="462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2.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27970" y="2053700"/>
            <a:ext cx="5622633" cy="356586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Kérdezze</a:t>
            </a:r>
            <a:r>
              <a:rPr lang="en-US" dirty="0"/>
              <a:t> le </a:t>
            </a:r>
            <a:r>
              <a:rPr lang="en-US" dirty="0" err="1"/>
              <a:t>azokat</a:t>
            </a:r>
            <a:r>
              <a:rPr lang="en-US" dirty="0"/>
              <a:t> a </a:t>
            </a:r>
            <a:r>
              <a:rPr lang="en-US" dirty="0" err="1"/>
              <a:t>szakácsokat</a:t>
            </a:r>
            <a:r>
              <a:rPr lang="en-US" dirty="0"/>
              <a:t>, </a:t>
            </a:r>
            <a:r>
              <a:rPr lang="en-US" dirty="0" err="1"/>
              <a:t>akiknek</a:t>
            </a:r>
            <a:r>
              <a:rPr lang="en-US" dirty="0"/>
              <a:t> a </a:t>
            </a:r>
            <a:r>
              <a:rPr lang="en-US" dirty="0" err="1"/>
              <a:t>végzettségeik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van </a:t>
            </a:r>
            <a:r>
              <a:rPr lang="en-US" dirty="0" err="1"/>
              <a:t>szakközépiskola</a:t>
            </a:r>
            <a:r>
              <a:rPr lang="en-US" dirty="0"/>
              <a:t> (</a:t>
            </a:r>
            <a:r>
              <a:rPr lang="en-US" dirty="0" err="1"/>
              <a:t>SzakácsID</a:t>
            </a:r>
            <a:r>
              <a:rPr lang="en-US" dirty="0"/>
              <a:t>, 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Részleg</a:t>
            </a:r>
            <a:r>
              <a:rPr lang="en-US" dirty="0"/>
              <a:t>, </a:t>
            </a:r>
            <a:r>
              <a:rPr lang="en-US" dirty="0" err="1"/>
              <a:t>Végzettségek</a:t>
            </a:r>
            <a:r>
              <a:rPr lang="en-US" dirty="0"/>
              <a:t>)! </a:t>
            </a:r>
            <a:endParaRPr lang="hu-HU" dirty="0" smtClean="0"/>
          </a:p>
          <a:p>
            <a:endParaRPr lang="hu-HU" dirty="0"/>
          </a:p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for $s in 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 smtClean="0">
                <a:latin typeface="Bahnschrift Light" panose="020B0502040204020203" pitchFamily="34" charset="0"/>
              </a:rPr>
              <a:t>szakacs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where </a:t>
            </a:r>
            <a:r>
              <a:rPr lang="en-US" i="1" dirty="0">
                <a:latin typeface="Bahnschrift Light" panose="020B0502040204020203" pitchFamily="34" charset="0"/>
              </a:rPr>
              <a:t>$s/</a:t>
            </a:r>
            <a:r>
              <a:rPr lang="en-US" i="1" dirty="0" err="1">
                <a:latin typeface="Bahnschrift Light" panose="020B0502040204020203" pitchFamily="34" charset="0"/>
              </a:rPr>
              <a:t>vegzettseg</a:t>
            </a:r>
            <a:r>
              <a:rPr lang="en-US" i="1" dirty="0">
                <a:latin typeface="Bahnschrift Light" panose="020B0502040204020203" pitchFamily="34" charset="0"/>
              </a:rPr>
              <a:t> = "</a:t>
            </a:r>
            <a:r>
              <a:rPr lang="en-US" i="1" dirty="0" err="1" smtClean="0">
                <a:latin typeface="Bahnschrift Light" panose="020B0502040204020203" pitchFamily="34" charset="0"/>
              </a:rPr>
              <a:t>Szakközépiskola</a:t>
            </a:r>
            <a:r>
              <a:rPr lang="hu-HU" i="1" dirty="0" smtClean="0">
                <a:latin typeface="Bahnschrift Light" panose="020B0502040204020203" pitchFamily="34" charset="0"/>
              </a:rPr>
              <a:t>”</a:t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return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 smtClean="0">
                <a:latin typeface="Bahnschrift Light" panose="020B0502040204020203" pitchFamily="34" charset="0"/>
              </a:rPr>
              <a:t>szakacs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SzakacsID</a:t>
            </a:r>
            <a:r>
              <a:rPr lang="en-US" i="1" dirty="0">
                <a:latin typeface="Bahnschrift Light" panose="020B0502040204020203" pitchFamily="34" charset="0"/>
              </a:rPr>
              <a:t>&gt;{data($s/@id)}&lt;/</a:t>
            </a:r>
            <a:r>
              <a:rPr lang="en-US" i="1" dirty="0" err="1">
                <a:latin typeface="Bahnschrift Light" panose="020B0502040204020203" pitchFamily="34" charset="0"/>
              </a:rPr>
              <a:t>SzakacsID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&gt;{data($s/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&gt;{data($s/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Reszleg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Vegzettsegek</a:t>
            </a:r>
            <a:r>
              <a:rPr lang="en-US" i="1" dirty="0">
                <a:latin typeface="Bahnschrift Light" panose="020B0502040204020203" pitchFamily="34" charset="0"/>
              </a:rPr>
              <a:t>&gt;{$s/</a:t>
            </a:r>
            <a:r>
              <a:rPr lang="en-US" i="1" dirty="0" err="1">
                <a:latin typeface="Bahnschrift Light" panose="020B0502040204020203" pitchFamily="34" charset="0"/>
              </a:rPr>
              <a:t>vegzettseg</a:t>
            </a:r>
            <a:r>
              <a:rPr lang="en-US" i="1" dirty="0">
                <a:latin typeface="Bahnschrift Light" panose="020B0502040204020203" pitchFamily="34" charset="0"/>
              </a:rPr>
              <a:t>}&lt;/</a:t>
            </a:r>
            <a:r>
              <a:rPr lang="en-US" i="1" dirty="0" err="1">
                <a:latin typeface="Bahnschrift Light" panose="020B0502040204020203" pitchFamily="34" charset="0"/>
              </a:rPr>
              <a:t>Vegzettsegek</a:t>
            </a:r>
            <a:r>
              <a:rPr lang="en-US" i="1" dirty="0" smtClean="0">
                <a:latin typeface="Bahnschrift Light" panose="020B0502040204020203" pitchFamily="34" charset="0"/>
              </a:rPr>
              <a:t>&gt;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latin typeface="Bahnschrift Light" panose="020B0502040204020203" pitchFamily="34" charset="0"/>
              </a:rPr>
              <a:t>szakacs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603" y="624110"/>
            <a:ext cx="5398741" cy="56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8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3. feladat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4497" y="1264555"/>
            <a:ext cx="4460115" cy="4741268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1633492" y="1905000"/>
            <a:ext cx="5255580" cy="3793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Kérdezze</a:t>
            </a:r>
            <a:r>
              <a:rPr lang="en-US" dirty="0"/>
              <a:t> le </a:t>
            </a:r>
            <a:r>
              <a:rPr lang="en-US" dirty="0" err="1"/>
              <a:t>azokat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éttermeket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dirty="0" err="1"/>
              <a:t>öt</a:t>
            </a:r>
            <a:r>
              <a:rPr lang="en-US" dirty="0"/>
              <a:t> </a:t>
            </a:r>
            <a:r>
              <a:rPr lang="en-US" dirty="0" err="1"/>
              <a:t>csillagosak</a:t>
            </a:r>
            <a:r>
              <a:rPr lang="en-US" dirty="0"/>
              <a:t> (</a:t>
            </a:r>
            <a:r>
              <a:rPr lang="en-US" dirty="0" err="1"/>
              <a:t>ÉtteremID</a:t>
            </a:r>
            <a:r>
              <a:rPr lang="en-US" dirty="0"/>
              <a:t>, </a:t>
            </a:r>
            <a:r>
              <a:rPr lang="en-US" dirty="0" err="1"/>
              <a:t>Név</a:t>
            </a:r>
            <a:r>
              <a:rPr lang="en-US" dirty="0"/>
              <a:t>, </a:t>
            </a:r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Csillag</a:t>
            </a:r>
            <a:r>
              <a:rPr lang="en-US" dirty="0" smtClean="0"/>
              <a:t>)!</a:t>
            </a:r>
            <a:endParaRPr lang="hu-HU" dirty="0" smtClean="0"/>
          </a:p>
          <a:p>
            <a:endParaRPr lang="hu-HU" dirty="0"/>
          </a:p>
          <a:p>
            <a:pPr defTabSz="457200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$e in doc("/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where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= 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5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return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EtteremID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&gt;{data($e/@id)}&lt;/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EtteremID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Cim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&gt;{data($e/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Csillag</a:t>
            </a: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  <a: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etterem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6650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4.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8773" y="2002655"/>
            <a:ext cx="6909894" cy="3777622"/>
          </a:xfrm>
        </p:spPr>
        <p:txBody>
          <a:bodyPr>
            <a:normAutofit/>
          </a:bodyPr>
          <a:lstStyle/>
          <a:p>
            <a:r>
              <a:rPr lang="hu-HU" dirty="0"/>
              <a:t>Kérdezze le azokat a gyakornokokat, akik délutánra be </a:t>
            </a:r>
            <a:r>
              <a:rPr lang="hu-HU" dirty="0" smtClean="0"/>
              <a:t>vannak </a:t>
            </a:r>
            <a:r>
              <a:rPr lang="hu-HU" dirty="0"/>
              <a:t>osztva (</a:t>
            </a:r>
            <a:r>
              <a:rPr lang="hu-HU" dirty="0" err="1"/>
              <a:t>GyakornokID</a:t>
            </a:r>
            <a:r>
              <a:rPr lang="hu-HU" dirty="0"/>
              <a:t>, Név, Gyakorlat kezdete, Műszak)! </a:t>
            </a:r>
            <a:endParaRPr lang="hu-HU" dirty="0" smtClean="0"/>
          </a:p>
          <a:p>
            <a:pPr marL="400050" lvl="1" indent="0">
              <a:lnSpc>
                <a:spcPct val="11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for $g in 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gyakornokwhere</a:t>
            </a:r>
            <a:r>
              <a:rPr lang="en-US" i="1" dirty="0">
                <a:latin typeface="Bahnschrift Light" panose="020B0502040204020203" pitchFamily="34" charset="0"/>
              </a:rPr>
              <a:t> 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$g/</a:t>
            </a:r>
            <a:r>
              <a:rPr lang="en-US" i="1" dirty="0" err="1" smtClean="0">
                <a:latin typeface="Bahnschrift Light" panose="020B0502040204020203" pitchFamily="34" charset="0"/>
              </a:rPr>
              <a:t>muszak</a:t>
            </a:r>
            <a:r>
              <a:rPr lang="en-US" i="1" dirty="0" smtClean="0">
                <a:latin typeface="Bahnschrift Light" panose="020B0502040204020203" pitchFamily="34" charset="0"/>
              </a:rPr>
              <a:t> </a:t>
            </a:r>
            <a:r>
              <a:rPr lang="en-US" i="1" dirty="0">
                <a:latin typeface="Bahnschrift Light" panose="020B0502040204020203" pitchFamily="34" charset="0"/>
              </a:rPr>
              <a:t>= "</a:t>
            </a:r>
            <a:r>
              <a:rPr lang="en-US" i="1" dirty="0" err="1" smtClean="0">
                <a:latin typeface="Bahnschrift Light" panose="020B0502040204020203" pitchFamily="34" charset="0"/>
              </a:rPr>
              <a:t>délután</a:t>
            </a:r>
            <a:r>
              <a:rPr lang="hu-HU" i="1" dirty="0" smtClean="0">
                <a:latin typeface="Bahnschrift Light" panose="020B0502040204020203" pitchFamily="34" charset="0"/>
              </a:rPr>
              <a:t>”</a:t>
            </a:r>
            <a:r>
              <a:rPr lang="hu-HU" i="1" dirty="0">
                <a:latin typeface="Bahnschrift Light" panose="020B0502040204020203" pitchFamily="34" charset="0"/>
              </a:rPr>
              <a:t/>
            </a:r>
            <a:br>
              <a:rPr lang="hu-HU" i="1" dirty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return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 smtClean="0">
                <a:latin typeface="Bahnschrift Light" panose="020B0502040204020203" pitchFamily="34" charset="0"/>
              </a:rPr>
              <a:t>gyakornok</a:t>
            </a:r>
            <a:r>
              <a:rPr lang="en-US" i="1" dirty="0">
                <a:latin typeface="Bahnschrift Light" panose="020B0502040204020203" pitchFamily="34" charset="0"/>
              </a:rPr>
              <a:t>&gt;  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GyakornokID</a:t>
            </a:r>
            <a:r>
              <a:rPr lang="en-US" i="1" dirty="0">
                <a:latin typeface="Bahnschrift Light" panose="020B0502040204020203" pitchFamily="34" charset="0"/>
              </a:rPr>
              <a:t>&gt;{data($g/@id)}&lt;/</a:t>
            </a:r>
            <a:r>
              <a:rPr lang="en-US" i="1" dirty="0" err="1">
                <a:latin typeface="Bahnschrift Light" panose="020B0502040204020203" pitchFamily="34" charset="0"/>
              </a:rPr>
              <a:t>GyakornokID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Nev</a:t>
            </a:r>
            <a:r>
              <a:rPr lang="en-US" i="1" dirty="0">
                <a:latin typeface="Bahnschrift Light" panose="020B0502040204020203" pitchFamily="34" charset="0"/>
              </a:rPr>
              <a:t>&gt;  &lt;</a:t>
            </a:r>
            <a:r>
              <a:rPr lang="en-US" i="1" dirty="0" err="1">
                <a:latin typeface="Bahnschrift Light" panose="020B0502040204020203" pitchFamily="34" charset="0"/>
              </a:rPr>
              <a:t>GyakorlatKezdete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gyakorlat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kezdete</a:t>
            </a:r>
            <a:r>
              <a:rPr lang="en-US" i="1" dirty="0" smtClean="0">
                <a:latin typeface="Bahnschrift Light" panose="020B0502040204020203" pitchFamily="34" charset="0"/>
              </a:rPr>
              <a:t>)}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&lt;/</a:t>
            </a:r>
            <a:r>
              <a:rPr lang="en-US" i="1" dirty="0" err="1">
                <a:latin typeface="Bahnschrift Light" panose="020B0502040204020203" pitchFamily="34" charset="0"/>
              </a:rPr>
              <a:t>GyakorlatKezdete</a:t>
            </a:r>
            <a:r>
              <a:rPr lang="en-US" i="1" dirty="0">
                <a:latin typeface="Bahnschrift Light" panose="020B0502040204020203" pitchFamily="34" charset="0"/>
              </a:rPr>
              <a:t>&gt; 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&lt;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&gt;{data($g/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>
                <a:latin typeface="Bahnschrift Light" panose="020B0502040204020203" pitchFamily="34" charset="0"/>
              </a:rPr>
              <a:t>)}&lt;/</a:t>
            </a:r>
            <a:r>
              <a:rPr lang="en-US" i="1" dirty="0" err="1">
                <a:latin typeface="Bahnschrift Light" panose="020B0502040204020203" pitchFamily="34" charset="0"/>
              </a:rPr>
              <a:t>Muszak</a:t>
            </a:r>
            <a:r>
              <a:rPr lang="en-US" i="1" dirty="0" smtClean="0">
                <a:latin typeface="Bahnschrift Light" panose="020B0502040204020203" pitchFamily="34" charset="0"/>
              </a:rPr>
              <a:t>&gt;&lt;</a:t>
            </a:r>
            <a:r>
              <a:rPr lang="hu-HU" i="1" dirty="0" smtClean="0">
                <a:latin typeface="Bahnschrift Light" panose="020B0502040204020203" pitchFamily="34" charset="0"/>
              </a:rPr>
              <a:t/>
            </a:r>
            <a:br>
              <a:rPr lang="hu-HU" i="1" dirty="0" smtClean="0">
                <a:latin typeface="Bahnschrift Light" panose="020B0502040204020203" pitchFamily="34" charset="0"/>
              </a:rPr>
            </a:br>
            <a:r>
              <a:rPr lang="en-US" i="1" dirty="0" smtClean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gyakornok</a:t>
            </a:r>
            <a:r>
              <a:rPr lang="en-US" i="1" dirty="0">
                <a:latin typeface="Bahnschrift Light" panose="020B0502040204020203" pitchFamily="34" charset="0"/>
              </a:rPr>
              <a:t>&gt;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277" y="1742003"/>
            <a:ext cx="5224323" cy="41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0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5. Feladat</a:t>
            </a:r>
            <a:endParaRPr lang="en-US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9197" y="1264555"/>
            <a:ext cx="3548306" cy="4705363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621437" y="2044804"/>
            <a:ext cx="7477760" cy="2843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lvl="1" defTabSz="457200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dirty="0" err="1" smtClean="0"/>
              <a:t>L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istázza</a:t>
            </a:r>
            <a:r>
              <a:rPr lang="hu-H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ki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vendégek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nevét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rendeléseik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összegét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join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/>
            </a:r>
            <a:br>
              <a:rPr lang="hu-HU" dirty="0" smtClean="0"/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$v in doc("/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vendeg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let $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rendelesek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:=  doc("/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db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/etterem.xml")//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rendeles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[@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e_v_v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 = $v/@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vkod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]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for $r in $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rendelesek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return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adat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&gt;{$v/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nev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  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osszeg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&gt;{$r/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osszeg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}&lt;/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osszeg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  <a: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/>
            </a:r>
            <a:br>
              <a:rPr lang="hu-HU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</a:b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&lt;/</a:t>
            </a:r>
            <a:r>
              <a:rPr lang="en-US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adat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Light" panose="020B050204020402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6894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6.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40636" y="2133600"/>
            <a:ext cx="8915400" cy="3777622"/>
          </a:xfrm>
        </p:spPr>
        <p:txBody>
          <a:bodyPr/>
          <a:lstStyle/>
          <a:p>
            <a:pPr marL="400050" lvl="1">
              <a:lnSpc>
                <a:spcPct val="110000"/>
              </a:lnSpc>
            </a:pPr>
            <a:r>
              <a:rPr lang="en-US" sz="1800" dirty="0" err="1" smtClean="0"/>
              <a:t>Növe</a:t>
            </a:r>
            <a:r>
              <a:rPr lang="hu-HU" sz="1800" dirty="0" err="1" smtClean="0"/>
              <a:t>lje</a:t>
            </a:r>
            <a:r>
              <a:rPr lang="en-US" sz="1800" dirty="0" smtClean="0"/>
              <a:t> </a:t>
            </a:r>
            <a:r>
              <a:rPr lang="en-US" sz="1800" dirty="0"/>
              <a:t>meg </a:t>
            </a:r>
            <a:r>
              <a:rPr lang="en-US" sz="1800" dirty="0" err="1"/>
              <a:t>minden</a:t>
            </a:r>
            <a:r>
              <a:rPr lang="en-US" sz="1800" dirty="0"/>
              <a:t> </a:t>
            </a:r>
            <a:r>
              <a:rPr lang="en-US" sz="1800" dirty="0" err="1"/>
              <a:t>rendelés</a:t>
            </a:r>
            <a:r>
              <a:rPr lang="en-US" sz="1800" dirty="0"/>
              <a:t> </a:t>
            </a:r>
            <a:r>
              <a:rPr lang="en-US" sz="1800" dirty="0" err="1"/>
              <a:t>összegét</a:t>
            </a:r>
            <a:r>
              <a:rPr lang="en-US" sz="1800" dirty="0"/>
              <a:t> 1000 Ft-</a:t>
            </a:r>
            <a:r>
              <a:rPr lang="en-US" sz="1800" dirty="0" err="1"/>
              <a:t>tal</a:t>
            </a:r>
            <a:r>
              <a:rPr lang="en-US" sz="1800" dirty="0"/>
              <a:t>!</a:t>
            </a:r>
            <a:r>
              <a:rPr lang="hu-HU" sz="1800" dirty="0"/>
              <a:t> (update)</a:t>
            </a:r>
            <a:br>
              <a:rPr lang="hu-HU" sz="1800" dirty="0"/>
            </a:br>
            <a:r>
              <a:rPr lang="hu-HU" dirty="0"/>
              <a:t/>
            </a:r>
            <a:br>
              <a:rPr lang="hu-HU" dirty="0"/>
            </a:br>
            <a:r>
              <a:rPr lang="hu-HU" i="1" dirty="0" err="1">
                <a:latin typeface="Bahnschrift Light" panose="020B0502040204020203" pitchFamily="34" charset="0"/>
              </a:rPr>
              <a:t>for</a:t>
            </a:r>
            <a:r>
              <a:rPr lang="hu-HU" i="1" dirty="0">
                <a:latin typeface="Bahnschrift Light" panose="020B0502040204020203" pitchFamily="34" charset="0"/>
              </a:rPr>
              <a:t> $r in </a:t>
            </a:r>
            <a:r>
              <a:rPr lang="hu-HU" i="1" dirty="0" err="1">
                <a:latin typeface="Bahnschrift Light" panose="020B0502040204020203" pitchFamily="34" charset="0"/>
              </a:rPr>
              <a:t>doc</a:t>
            </a:r>
            <a:r>
              <a:rPr lang="hu-HU" i="1" dirty="0">
                <a:latin typeface="Bahnschrift Light" panose="020B0502040204020203" pitchFamily="34" charset="0"/>
              </a:rPr>
              <a:t>("/db/etterem.xml")//</a:t>
            </a:r>
            <a:r>
              <a:rPr lang="hu-HU" i="1" dirty="0" err="1">
                <a:latin typeface="Bahnschrift Light" panose="020B0502040204020203" pitchFamily="34" charset="0"/>
              </a:rPr>
              <a:t>rendelesreturnupdate</a:t>
            </a:r>
            <a:r>
              <a:rPr lang="hu-HU" i="1" dirty="0">
                <a:latin typeface="Bahnschrift Light" panose="020B0502040204020203" pitchFamily="34" charset="0"/>
              </a:rPr>
              <a:t> </a:t>
            </a:r>
            <a:r>
              <a:rPr lang="hu-HU" i="1" dirty="0" err="1">
                <a:latin typeface="Bahnschrift Light" panose="020B0502040204020203" pitchFamily="34" charset="0"/>
              </a:rPr>
              <a:t>value</a:t>
            </a:r>
            <a:r>
              <a:rPr lang="hu-HU" i="1" dirty="0">
                <a:latin typeface="Bahnschrift Light" panose="020B0502040204020203" pitchFamily="34" charset="0"/>
              </a:rPr>
              <a:t> $r/</a:t>
            </a:r>
            <a:r>
              <a:rPr lang="hu-HU" i="1" dirty="0" err="1">
                <a:latin typeface="Bahnschrift Light" panose="020B0502040204020203" pitchFamily="34" charset="0"/>
              </a:rPr>
              <a:t>osszeg</a:t>
            </a:r>
            <a:r>
              <a:rPr lang="hu-HU" i="1" dirty="0">
                <a:latin typeface="Bahnschrift Light" panose="020B0502040204020203" pitchFamily="34" charset="0"/>
              </a:rPr>
              <a:t> </a:t>
            </a:r>
            <a:r>
              <a:rPr lang="hu-HU" i="1" dirty="0" err="1">
                <a:latin typeface="Bahnschrift Light" panose="020B0502040204020203" pitchFamily="34" charset="0"/>
              </a:rPr>
              <a:t>with</a:t>
            </a:r>
            <a:r>
              <a:rPr lang="hu-HU" i="1" dirty="0">
                <a:latin typeface="Bahnschrift Light" panose="020B0502040204020203" pitchFamily="34" charset="0"/>
              </a:rPr>
              <a:t> $r/</a:t>
            </a:r>
            <a:r>
              <a:rPr lang="hu-HU" i="1" dirty="0" err="1">
                <a:latin typeface="Bahnschrift Light" panose="020B0502040204020203" pitchFamily="34" charset="0"/>
              </a:rPr>
              <a:t>osszeg</a:t>
            </a:r>
            <a:r>
              <a:rPr lang="hu-HU" i="1" dirty="0">
                <a:latin typeface="Bahnschrift Light" panose="020B0502040204020203" pitchFamily="34" charset="0"/>
              </a:rPr>
              <a:t> + 1000</a:t>
            </a:r>
            <a:endParaRPr lang="en-US" i="1" dirty="0">
              <a:latin typeface="Bahnschrift Light" panose="020B0502040204020203" pitchFamily="34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55" y="3354905"/>
            <a:ext cx="2978531" cy="255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5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7. Feladat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731254" y="2204621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 smtClean="0"/>
              <a:t>Hány rendelés van </a:t>
            </a:r>
            <a:r>
              <a:rPr lang="hu-HU" dirty="0" smtClean="0"/>
              <a:t>összesen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i="1" dirty="0">
                <a:latin typeface="Bahnschrift Light" panose="020B0502040204020203" pitchFamily="34" charset="0"/>
              </a:rPr>
              <a:t>count(doc("/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rendeles</a:t>
            </a:r>
            <a:r>
              <a:rPr lang="en-US" i="1" dirty="0">
                <a:latin typeface="Bahnschrift Light" panose="020B0502040204020203" pitchFamily="34" charset="0"/>
              </a:rPr>
              <a:t>)</a:t>
            </a:r>
            <a:endParaRPr lang="hu-HU" i="1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u-HU" dirty="0" smtClean="0"/>
              <a:t>Mennyi az összes rendelés </a:t>
            </a:r>
            <a:r>
              <a:rPr lang="hu-HU" dirty="0" smtClean="0"/>
              <a:t>értéke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hu-HU" dirty="0"/>
              <a:t>	</a:t>
            </a:r>
            <a:r>
              <a:rPr lang="en-US" i="1" dirty="0">
                <a:latin typeface="Bahnschrift Light" panose="020B0502040204020203" pitchFamily="34" charset="0"/>
              </a:rPr>
              <a:t>sum(doc("/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/etterem.xml")//</a:t>
            </a:r>
            <a:r>
              <a:rPr lang="en-US" i="1" dirty="0" err="1">
                <a:latin typeface="Bahnschrift Light" panose="020B0502040204020203" pitchFamily="34" charset="0"/>
              </a:rPr>
              <a:t>rendeles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osszeg</a:t>
            </a:r>
            <a:r>
              <a:rPr lang="en-US" i="1" dirty="0">
                <a:latin typeface="Bahnschrift Light" panose="020B0502040204020203" pitchFamily="34" charset="0"/>
              </a:rPr>
              <a:t>)</a:t>
            </a:r>
            <a:endParaRPr lang="hu-HU" i="1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u-HU" dirty="0" smtClean="0"/>
              <a:t>Átlagos rendelési érték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hu-HU" i="1" dirty="0" smtClean="0">
                <a:latin typeface="Bahnschrift Light" panose="020B0502040204020203" pitchFamily="34" charset="0"/>
              </a:rPr>
              <a:t>	</a:t>
            </a:r>
            <a:r>
              <a:rPr lang="en-US" i="1" dirty="0" err="1" smtClean="0">
                <a:latin typeface="Bahnschrift Light" panose="020B0502040204020203" pitchFamily="34" charset="0"/>
              </a:rPr>
              <a:t>avg</a:t>
            </a:r>
            <a:r>
              <a:rPr lang="en-US" i="1" dirty="0" smtClean="0">
                <a:latin typeface="Bahnschrift Light" panose="020B0502040204020203" pitchFamily="34" charset="0"/>
              </a:rPr>
              <a:t>(doc</a:t>
            </a:r>
            <a:r>
              <a:rPr lang="en-US" i="1" dirty="0">
                <a:latin typeface="Bahnschrift Light" panose="020B0502040204020203" pitchFamily="34" charset="0"/>
              </a:rPr>
              <a:t>("/</a:t>
            </a:r>
            <a:r>
              <a:rPr lang="en-US" i="1" dirty="0" err="1">
                <a:latin typeface="Bahnschrift Light" panose="020B0502040204020203" pitchFamily="34" charset="0"/>
              </a:rPr>
              <a:t>db</a:t>
            </a:r>
            <a:r>
              <a:rPr lang="en-US" i="1" dirty="0">
                <a:latin typeface="Bahnschrift Light" panose="020B0502040204020203" pitchFamily="34" charset="0"/>
              </a:rPr>
              <a:t>/etterem.xml</a:t>
            </a:r>
            <a:r>
              <a:rPr lang="en-US" i="1" dirty="0">
                <a:latin typeface="Bahnschrift Light" panose="020B0502040204020203" pitchFamily="34" charset="0"/>
              </a:rPr>
              <a:t>")//</a:t>
            </a:r>
            <a:r>
              <a:rPr lang="en-US" i="1" dirty="0" err="1">
                <a:latin typeface="Bahnschrift Light" panose="020B0502040204020203" pitchFamily="34" charset="0"/>
              </a:rPr>
              <a:t>rendeles</a:t>
            </a:r>
            <a:r>
              <a:rPr lang="en-US" i="1" dirty="0">
                <a:latin typeface="Bahnschrift Light" panose="020B0502040204020203" pitchFamily="34" charset="0"/>
              </a:rPr>
              <a:t>/</a:t>
            </a:r>
            <a:r>
              <a:rPr lang="en-US" i="1" dirty="0" err="1">
                <a:latin typeface="Bahnschrift Light" panose="020B0502040204020203" pitchFamily="34" charset="0"/>
              </a:rPr>
              <a:t>osszeg</a:t>
            </a:r>
            <a:r>
              <a:rPr lang="en-US" i="1" dirty="0">
                <a:latin typeface="Bahnschrift Light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9422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Használ </a:t>
            </a:r>
            <a:r>
              <a:rPr lang="hu-HU" dirty="0" err="1" smtClean="0"/>
              <a:t>Xpath</a:t>
            </a:r>
            <a:r>
              <a:rPr lang="hu-HU" dirty="0" smtClean="0"/>
              <a:t> kifejezések</a:t>
            </a:r>
            <a:endParaRPr lang="en-US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127671"/>
              </p:ext>
            </p:extLst>
          </p:nvPr>
        </p:nvGraphicFramePr>
        <p:xfrm>
          <a:off x="3103271" y="1689717"/>
          <a:ext cx="8401341" cy="457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447">
                  <a:extLst>
                    <a:ext uri="{9D8B030D-6E8A-4147-A177-3AD203B41FA5}">
                      <a16:colId xmlns:a16="http://schemas.microsoft.com/office/drawing/2014/main" val="925800942"/>
                    </a:ext>
                  </a:extLst>
                </a:gridCol>
                <a:gridCol w="2800447">
                  <a:extLst>
                    <a:ext uri="{9D8B030D-6E8A-4147-A177-3AD203B41FA5}">
                      <a16:colId xmlns:a16="http://schemas.microsoft.com/office/drawing/2014/main" val="671270567"/>
                    </a:ext>
                  </a:extLst>
                </a:gridCol>
                <a:gridCol w="2800447">
                  <a:extLst>
                    <a:ext uri="{9D8B030D-6E8A-4147-A177-3AD203B41FA5}">
                      <a16:colId xmlns:a16="http://schemas.microsoft.com/office/drawing/2014/main" val="3629005481"/>
                    </a:ext>
                  </a:extLst>
                </a:gridCol>
              </a:tblGrid>
              <a:tr h="243465">
                <a:tc>
                  <a:txBody>
                    <a:bodyPr/>
                    <a:lstStyle/>
                    <a:p>
                      <a:r>
                        <a:rPr lang="en-US" sz="1100" dirty="0" err="1"/>
                        <a:t>Feladat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XPath kifejezés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Jelentés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163458"/>
                  </a:ext>
                </a:extLst>
              </a:tr>
              <a:tr h="600325">
                <a:tc>
                  <a:txBody>
                    <a:bodyPr/>
                    <a:lstStyle/>
                    <a:p>
                      <a:r>
                        <a:rPr lang="en-US" sz="1100"/>
                        <a:t>Szakácsok lekérdezése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//szakacs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XML dokumentum összes szakács elemének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387894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Szakács végzettsége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$s/vegzettseg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adott szakács végzettség elemei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365189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 dirty="0" err="1"/>
                        <a:t>Éttermek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lekérdezése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//</a:t>
                      </a:r>
                      <a:r>
                        <a:rPr lang="en-US" sz="1100" dirty="0" err="1"/>
                        <a:t>etterem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Az összes étterem elem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804346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Étterem csillaga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$e/csillag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adott étterem csillag értéke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776315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Étterem neve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$e/nev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étterem neve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376196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Étterem címe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$e/cim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étterem cím adatai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557042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Gyakornokok lekérdezése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//gyakornok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Az összes gyakornok elem kiválasztása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586805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hu-HU" sz="1100"/>
                        <a:t>Gyakornok műszaka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$g/muszak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u-HU" sz="1100"/>
                        <a:t>Az adott gyakornok műszak 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319821"/>
                  </a:ext>
                </a:extLst>
              </a:tr>
              <a:tr h="243465">
                <a:tc>
                  <a:txBody>
                    <a:bodyPr/>
                    <a:lstStyle/>
                    <a:p>
                      <a:r>
                        <a:rPr lang="en-US" sz="1100"/>
                        <a:t>Gyakornok neve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$g/nev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gyakornok neve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129301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Gyakorlat kezdete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$g/gyakorlat/kezdete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 gyakornok gyakorlatának kezdete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56174"/>
                  </a:ext>
                </a:extLst>
              </a:tr>
              <a:tr h="420227">
                <a:tc>
                  <a:txBody>
                    <a:bodyPr/>
                    <a:lstStyle/>
                    <a:p>
                      <a:r>
                        <a:rPr lang="en-US" sz="1100"/>
                        <a:t>ID attribútum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$e/@id, $g/@id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Az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elem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azonosító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attribútuma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21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391029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Szálak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zála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ála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TM02892315[[fn=Szálak]]</Template>
  <TotalTime>3121</TotalTime>
  <Words>414</Words>
  <Application>Microsoft Office PowerPoint</Application>
  <PresentationFormat>Szélesvásznú</PresentationFormat>
  <Paragraphs>99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Bahnschrift Light</vt:lpstr>
      <vt:lpstr>Century Gothic</vt:lpstr>
      <vt:lpstr>Wingdings 3</vt:lpstr>
      <vt:lpstr>Szálak</vt:lpstr>
      <vt:lpstr>Xquery</vt:lpstr>
      <vt:lpstr>Mi az XQuery?</vt:lpstr>
      <vt:lpstr>Fő célja - használata</vt:lpstr>
      <vt:lpstr>PowerPoint-bemutató</vt:lpstr>
      <vt:lpstr>FLWOR expression</vt:lpstr>
      <vt:lpstr>1. Feladat </vt:lpstr>
      <vt:lpstr>2. Feladat</vt:lpstr>
      <vt:lpstr>3. feladat</vt:lpstr>
      <vt:lpstr>4. Feladat</vt:lpstr>
      <vt:lpstr>5. Feladat</vt:lpstr>
      <vt:lpstr>6. Feladat</vt:lpstr>
      <vt:lpstr>7. Feladat</vt:lpstr>
      <vt:lpstr>Használ Xpath kifejezések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Xquery</dc:title>
  <dc:creator>szalóczy krisztián</dc:creator>
  <cp:lastModifiedBy>szalóczy krisztián</cp:lastModifiedBy>
  <cp:revision>25</cp:revision>
  <dcterms:created xsi:type="dcterms:W3CDTF">2026-03-14T08:14:52Z</dcterms:created>
  <dcterms:modified xsi:type="dcterms:W3CDTF">2026-03-17T21:20:15Z</dcterms:modified>
</cp:coreProperties>
</file>