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slides/slide6.xml" ContentType="application/vnd.openxmlformats-officedocument.presentationml.slide+xml"/>
  <Override PartName="/ppt/slides/slide11.xml" ContentType="application/vnd.openxmlformats-officedocument.presentationml.slid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14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5143500"/>
  <p:notesSz cx="5143500" cy="9144000"/>
  <p:defaultTextStyle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>
        <p:guide pos="2880"/>
        <p:guide pos="162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 /><Relationship Id="rId16" Type="http://schemas.openxmlformats.org/officeDocument/2006/relationships/tableStyles" Target="tableStyles.xml" /><Relationship Id="rId17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2231103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74138229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14297966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572361661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253236580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54506168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855313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465823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250961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034574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770474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271648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0404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857943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426708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352669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562238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603494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36719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693469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940185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756519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604007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45818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583699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519339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693473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37878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163352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129081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21038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737035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072200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661467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475350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679894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90347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140453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670258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dt="0" ftr="0" hdr="0" sldNum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bg>
      <p:bgPr shadeToTitle="0">
        <a:solidFill>
          <a:srgbClr val="0A162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759957" name="Shape 0"/>
          <p:cNvSpPr/>
          <p:nvPr/>
        </p:nvSpPr>
        <p:spPr bwMode="auto">
          <a:xfrm>
            <a:off x="0" y="0"/>
            <a:ext cx="9144000" cy="73152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1360574266" name="Text 1"/>
          <p:cNvSpPr/>
          <p:nvPr/>
        </p:nvSpPr>
        <p:spPr bwMode="auto">
          <a:xfrm>
            <a:off x="640080" y="82296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5200" b="1" spc="20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Oracle ORDBMS</a:t>
            </a:r>
            <a:endParaRPr lang="en-US" sz="5200"/>
          </a:p>
        </p:txBody>
      </p:sp>
      <p:sp>
        <p:nvSpPr>
          <p:cNvPr id="40722004" name="Text 2"/>
          <p:cNvSpPr/>
          <p:nvPr/>
        </p:nvSpPr>
        <p:spPr bwMode="auto">
          <a:xfrm>
            <a:off x="640080" y="1719072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600" spc="100">
                <a:solidFill>
                  <a:srgbClr val="00A8E8"/>
                </a:solidFill>
                <a:latin typeface="Trebuchet MS"/>
                <a:ea typeface="Trebuchet MS"/>
                <a:cs typeface="Trebuchet MS"/>
              </a:rPr>
              <a:t>XMLType · XMLTABLE · UDT</a:t>
            </a:r>
            <a:endParaRPr lang="en-US" sz="2600"/>
          </a:p>
        </p:txBody>
      </p:sp>
      <p:sp>
        <p:nvSpPr>
          <p:cNvPr id="365548134" name="Shape 3"/>
          <p:cNvSpPr/>
          <p:nvPr/>
        </p:nvSpPr>
        <p:spPr bwMode="auto">
          <a:xfrm>
            <a:off x="640080" y="2331720"/>
            <a:ext cx="7863840" cy="0"/>
          </a:xfrm>
          <a:prstGeom prst="line">
            <a:avLst/>
          </a:prstGeom>
          <a:noFill/>
          <a:ln w="19050">
            <a:solidFill>
              <a:srgbClr val="0D3B6E"/>
            </a:solidFill>
            <a:prstDash val="solid"/>
          </a:ln>
        </p:spPr>
      </p:sp>
      <p:sp>
        <p:nvSpPr>
          <p:cNvPr id="720283378" name="Text 4"/>
          <p:cNvSpPr/>
          <p:nvPr/>
        </p:nvSpPr>
        <p:spPr bwMode="auto">
          <a:xfrm>
            <a:off x="640080" y="2487168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A0C4E0"/>
                </a:solidFill>
                <a:latin typeface="Calibri"/>
                <a:ea typeface="Calibri"/>
                <a:cs typeface="Calibri"/>
              </a:rPr>
              <a:t>Modern adatbázis rendszerek MSc – 8. </a:t>
            </a:r>
            <a:r>
              <a:rPr lang="hu-HU" sz="1400">
                <a:solidFill>
                  <a:srgbClr val="A0C4E0"/>
                </a:solidFill>
                <a:latin typeface="Calibri"/>
                <a:ea typeface="Calibri"/>
                <a:cs typeface="Calibri"/>
              </a:rPr>
              <a:t>gyakorlat</a:t>
            </a:r>
            <a:endParaRPr lang="en-US" sz="1400"/>
          </a:p>
        </p:txBody>
      </p:sp>
      <p:sp>
        <p:nvSpPr>
          <p:cNvPr id="80854256" name="Shape 18"/>
          <p:cNvSpPr/>
          <p:nvPr/>
        </p:nvSpPr>
        <p:spPr bwMode="auto">
          <a:xfrm>
            <a:off x="0" y="5065776"/>
            <a:ext cx="9144000" cy="73152"/>
          </a:xfrm>
          <a:prstGeom prst="rect">
            <a:avLst/>
          </a:prstGeom>
          <a:solidFill>
            <a:srgbClr val="00D4AA"/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bg>
      <p:bgPr shadeToTitle="0">
        <a:solidFill>
          <a:srgbClr val="0A162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9904675" name="Shape 0"/>
          <p:cNvSpPr/>
          <p:nvPr/>
        </p:nvSpPr>
        <p:spPr bwMode="auto">
          <a:xfrm>
            <a:off x="0" y="0"/>
            <a:ext cx="9144000" cy="73152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754545032" name="Text 1"/>
          <p:cNvSpPr/>
          <p:nvPr/>
        </p:nvSpPr>
        <p:spPr bwMode="auto">
          <a:xfrm>
            <a:off x="548640" y="18288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32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Mit tanulunk ma?</a:t>
            </a:r>
            <a:endParaRPr lang="en-US" sz="3200"/>
          </a:p>
        </p:txBody>
      </p:sp>
      <p:sp>
        <p:nvSpPr>
          <p:cNvPr id="1269685646" name="Shape 2"/>
          <p:cNvSpPr/>
          <p:nvPr/>
        </p:nvSpPr>
        <p:spPr bwMode="auto">
          <a:xfrm>
            <a:off x="365760" y="1005840"/>
            <a:ext cx="4023360" cy="1005840"/>
          </a:xfrm>
          <a:prstGeom prst="rect">
            <a:avLst/>
          </a:prstGeom>
          <a:solidFill>
            <a:srgbClr val="0D3B6E"/>
          </a:solidFill>
          <a:ln/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27142206" name="Shape 3"/>
          <p:cNvSpPr/>
          <p:nvPr/>
        </p:nvSpPr>
        <p:spPr bwMode="auto">
          <a:xfrm>
            <a:off x="365760" y="1005840"/>
            <a:ext cx="54864" cy="1005840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1506641563" name="Shape 4"/>
          <p:cNvSpPr/>
          <p:nvPr/>
        </p:nvSpPr>
        <p:spPr bwMode="auto">
          <a:xfrm>
            <a:off x="457200" y="1115568"/>
            <a:ext cx="411480" cy="411480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1076443718" name="Text 5"/>
          <p:cNvSpPr/>
          <p:nvPr/>
        </p:nvSpPr>
        <p:spPr bwMode="auto">
          <a:xfrm>
            <a:off x="457200" y="11155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0A1628"/>
                </a:solidFill>
                <a:latin typeface="Trebuchet MS"/>
                <a:ea typeface="Trebuchet MS"/>
                <a:cs typeface="Trebuchet MS"/>
              </a:rPr>
              <a:t>1</a:t>
            </a:r>
            <a:endParaRPr lang="en-US" sz="1600"/>
          </a:p>
        </p:txBody>
      </p:sp>
      <p:sp>
        <p:nvSpPr>
          <p:cNvPr id="1724916225" name="Text 6"/>
          <p:cNvSpPr/>
          <p:nvPr/>
        </p:nvSpPr>
        <p:spPr bwMode="auto">
          <a:xfrm>
            <a:off x="960120" y="109728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XML mint adatforrás</a:t>
            </a:r>
            <a:endParaRPr lang="en-US" sz="1200"/>
          </a:p>
        </p:txBody>
      </p:sp>
      <p:sp>
        <p:nvSpPr>
          <p:cNvPr id="1018561373" name="Text 7"/>
          <p:cNvSpPr/>
          <p:nvPr/>
        </p:nvSpPr>
        <p:spPr bwMode="auto">
          <a:xfrm>
            <a:off x="960120" y="1389888"/>
            <a:ext cx="3337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A0C4E0"/>
                </a:solidFill>
                <a:latin typeface="Calibri"/>
                <a:ea typeface="Calibri"/>
                <a:cs typeface="Calibri"/>
              </a:rPr>
              <a:t>Miért jó az XML-t Oracle-ben tárolni? XMLType oszlop.</a:t>
            </a:r>
            <a:endParaRPr lang="en-US" sz="1000"/>
          </a:p>
        </p:txBody>
      </p:sp>
      <p:sp>
        <p:nvSpPr>
          <p:cNvPr id="569580203" name="Shape 8"/>
          <p:cNvSpPr/>
          <p:nvPr/>
        </p:nvSpPr>
        <p:spPr bwMode="auto">
          <a:xfrm>
            <a:off x="4754880" y="1005840"/>
            <a:ext cx="4023360" cy="1005840"/>
          </a:xfrm>
          <a:prstGeom prst="rect">
            <a:avLst/>
          </a:prstGeom>
          <a:solidFill>
            <a:srgbClr val="0D3B6E"/>
          </a:solidFill>
          <a:ln/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1745488485" name="Shape 9"/>
          <p:cNvSpPr/>
          <p:nvPr/>
        </p:nvSpPr>
        <p:spPr bwMode="auto">
          <a:xfrm>
            <a:off x="4754880" y="1005840"/>
            <a:ext cx="54864" cy="100584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245905670" name="Shape 10"/>
          <p:cNvSpPr/>
          <p:nvPr/>
        </p:nvSpPr>
        <p:spPr bwMode="auto">
          <a:xfrm>
            <a:off x="4846320" y="1115568"/>
            <a:ext cx="411480" cy="41148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2035780480" name="Text 11"/>
          <p:cNvSpPr/>
          <p:nvPr/>
        </p:nvSpPr>
        <p:spPr bwMode="auto">
          <a:xfrm>
            <a:off x="4846320" y="11155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0A1628"/>
                </a:solidFill>
                <a:latin typeface="Trebuchet MS"/>
                <a:ea typeface="Trebuchet MS"/>
                <a:cs typeface="Trebuchet MS"/>
              </a:rPr>
              <a:t>2</a:t>
            </a:r>
            <a:endParaRPr lang="en-US" sz="1600"/>
          </a:p>
        </p:txBody>
      </p:sp>
      <p:sp>
        <p:nvSpPr>
          <p:cNvPr id="764666975" name="Text 12"/>
          <p:cNvSpPr/>
          <p:nvPr/>
        </p:nvSpPr>
        <p:spPr bwMode="auto">
          <a:xfrm>
            <a:off x="5349240" y="109728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XMLType tábla létrehozása</a:t>
            </a:r>
            <a:endParaRPr lang="en-US" sz="1200"/>
          </a:p>
        </p:txBody>
      </p:sp>
      <p:sp>
        <p:nvSpPr>
          <p:cNvPr id="222129103" name="Text 13"/>
          <p:cNvSpPr/>
          <p:nvPr/>
        </p:nvSpPr>
        <p:spPr bwMode="auto">
          <a:xfrm>
            <a:off x="5349240" y="1389888"/>
            <a:ext cx="3337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A0C4E0"/>
                </a:solidFill>
                <a:latin typeface="Calibri"/>
                <a:ea typeface="Calibri"/>
                <a:cs typeface="Calibri"/>
              </a:rPr>
              <a:t>Tábla létrehozása, XML feltöltése APEX-ben (drag &amp; drop).</a:t>
            </a:r>
            <a:endParaRPr lang="en-US" sz="1000"/>
          </a:p>
        </p:txBody>
      </p:sp>
      <p:sp>
        <p:nvSpPr>
          <p:cNvPr id="1927673091" name="Shape 14"/>
          <p:cNvSpPr/>
          <p:nvPr/>
        </p:nvSpPr>
        <p:spPr bwMode="auto">
          <a:xfrm>
            <a:off x="365760" y="2194560"/>
            <a:ext cx="4023360" cy="1005840"/>
          </a:xfrm>
          <a:prstGeom prst="rect">
            <a:avLst/>
          </a:prstGeom>
          <a:solidFill>
            <a:srgbClr val="0D3B6E"/>
          </a:solidFill>
          <a:ln/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1519797709" name="Shape 15"/>
          <p:cNvSpPr/>
          <p:nvPr/>
        </p:nvSpPr>
        <p:spPr bwMode="auto">
          <a:xfrm>
            <a:off x="365760" y="2194560"/>
            <a:ext cx="54864" cy="100584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198972486" name="Shape 16"/>
          <p:cNvSpPr/>
          <p:nvPr/>
        </p:nvSpPr>
        <p:spPr bwMode="auto">
          <a:xfrm>
            <a:off x="457200" y="2304288"/>
            <a:ext cx="411480" cy="41148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533702751" name="Text 17"/>
          <p:cNvSpPr/>
          <p:nvPr/>
        </p:nvSpPr>
        <p:spPr bwMode="auto">
          <a:xfrm>
            <a:off x="457200" y="23042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0A1628"/>
                </a:solidFill>
                <a:latin typeface="Trebuchet MS"/>
                <a:ea typeface="Trebuchet MS"/>
                <a:cs typeface="Trebuchet MS"/>
              </a:rPr>
              <a:t>3</a:t>
            </a:r>
            <a:endParaRPr lang="en-US" sz="1600"/>
          </a:p>
        </p:txBody>
      </p:sp>
      <p:sp>
        <p:nvSpPr>
          <p:cNvPr id="1383031567" name="Text 18"/>
          <p:cNvSpPr/>
          <p:nvPr/>
        </p:nvSpPr>
        <p:spPr bwMode="auto">
          <a:xfrm>
            <a:off x="960120" y="228600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XMLTABLE – lekérdezés</a:t>
            </a:r>
            <a:endParaRPr lang="en-US" sz="1200"/>
          </a:p>
        </p:txBody>
      </p:sp>
      <p:sp>
        <p:nvSpPr>
          <p:cNvPr id="1386769112" name="Text 19"/>
          <p:cNvSpPr/>
          <p:nvPr/>
        </p:nvSpPr>
        <p:spPr bwMode="auto">
          <a:xfrm>
            <a:off x="960120" y="2578608"/>
            <a:ext cx="3337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A0C4E0"/>
                </a:solidFill>
                <a:latin typeface="Calibri"/>
                <a:ea typeface="Calibri"/>
                <a:cs typeface="Calibri"/>
              </a:rPr>
              <a:t>XPath-ok, COLUMNS definíció, szűrés, JOIN-szerű lekérdezés.</a:t>
            </a:r>
            <a:endParaRPr lang="en-US" sz="1000"/>
          </a:p>
        </p:txBody>
      </p:sp>
      <p:sp>
        <p:nvSpPr>
          <p:cNvPr id="2021578179" name="Shape 20"/>
          <p:cNvSpPr/>
          <p:nvPr/>
        </p:nvSpPr>
        <p:spPr bwMode="auto">
          <a:xfrm>
            <a:off x="4754880" y="2194560"/>
            <a:ext cx="4023360" cy="1005840"/>
          </a:xfrm>
          <a:prstGeom prst="rect">
            <a:avLst/>
          </a:prstGeom>
          <a:solidFill>
            <a:srgbClr val="0D3B6E"/>
          </a:solidFill>
          <a:ln/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192960049" name="Shape 21"/>
          <p:cNvSpPr/>
          <p:nvPr/>
        </p:nvSpPr>
        <p:spPr bwMode="auto">
          <a:xfrm>
            <a:off x="4754880" y="2194560"/>
            <a:ext cx="54864" cy="1005840"/>
          </a:xfrm>
          <a:prstGeom prst="rect">
            <a:avLst/>
          </a:prstGeom>
          <a:solidFill>
            <a:srgbClr val="C77DFF"/>
          </a:solidFill>
          <a:ln/>
        </p:spPr>
      </p:sp>
      <p:sp>
        <p:nvSpPr>
          <p:cNvPr id="1243362213" name="Shape 22"/>
          <p:cNvSpPr/>
          <p:nvPr/>
        </p:nvSpPr>
        <p:spPr bwMode="auto">
          <a:xfrm>
            <a:off x="4846320" y="2304288"/>
            <a:ext cx="411480" cy="411480"/>
          </a:xfrm>
          <a:prstGeom prst="rect">
            <a:avLst/>
          </a:prstGeom>
          <a:solidFill>
            <a:srgbClr val="C77DFF"/>
          </a:solidFill>
          <a:ln/>
        </p:spPr>
      </p:sp>
      <p:sp>
        <p:nvSpPr>
          <p:cNvPr id="644710584" name="Text 23"/>
          <p:cNvSpPr/>
          <p:nvPr/>
        </p:nvSpPr>
        <p:spPr bwMode="auto">
          <a:xfrm>
            <a:off x="4846320" y="23042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0A1628"/>
                </a:solidFill>
                <a:latin typeface="Trebuchet MS"/>
                <a:ea typeface="Trebuchet MS"/>
                <a:cs typeface="Trebuchet MS"/>
              </a:rPr>
              <a:t>4</a:t>
            </a:r>
            <a:endParaRPr lang="en-US" sz="1600"/>
          </a:p>
        </p:txBody>
      </p:sp>
      <p:sp>
        <p:nvSpPr>
          <p:cNvPr id="1857603637" name="Text 24"/>
          <p:cNvSpPr/>
          <p:nvPr/>
        </p:nvSpPr>
        <p:spPr bwMode="auto">
          <a:xfrm>
            <a:off x="5349240" y="228600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UDT – Felhasználói típus</a:t>
            </a:r>
            <a:endParaRPr lang="en-US" sz="1200"/>
          </a:p>
        </p:txBody>
      </p:sp>
      <p:sp>
        <p:nvSpPr>
          <p:cNvPr id="1960427805" name="Text 25"/>
          <p:cNvSpPr/>
          <p:nvPr/>
        </p:nvSpPr>
        <p:spPr bwMode="auto">
          <a:xfrm>
            <a:off x="5349240" y="2578608"/>
            <a:ext cx="3337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A0C4E0"/>
                </a:solidFill>
                <a:latin typeface="Calibri"/>
                <a:ea typeface="Calibri"/>
                <a:cs typeface="Calibri"/>
              </a:rPr>
              <a:t>CREATE TYPE, TYPE BODY, tagfüggvény, beágyazott objektum.</a:t>
            </a:r>
            <a:endParaRPr lang="en-US" sz="1000"/>
          </a:p>
        </p:txBody>
      </p:sp>
      <p:sp>
        <p:nvSpPr>
          <p:cNvPr id="682034417" name="Shape 26"/>
          <p:cNvSpPr/>
          <p:nvPr/>
        </p:nvSpPr>
        <p:spPr bwMode="auto">
          <a:xfrm>
            <a:off x="365760" y="3383280"/>
            <a:ext cx="4023360" cy="1005840"/>
          </a:xfrm>
          <a:prstGeom prst="rect">
            <a:avLst/>
          </a:prstGeom>
          <a:solidFill>
            <a:srgbClr val="0D3B6E"/>
          </a:solidFill>
          <a:ln/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726254379" name="Shape 27"/>
          <p:cNvSpPr/>
          <p:nvPr/>
        </p:nvSpPr>
        <p:spPr bwMode="auto">
          <a:xfrm>
            <a:off x="365760" y="3383280"/>
            <a:ext cx="54864" cy="100584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772772172" name="Shape 28"/>
          <p:cNvSpPr/>
          <p:nvPr/>
        </p:nvSpPr>
        <p:spPr bwMode="auto">
          <a:xfrm>
            <a:off x="457200" y="3493008"/>
            <a:ext cx="411480" cy="41148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163247740" name="Text 29"/>
          <p:cNvSpPr/>
          <p:nvPr/>
        </p:nvSpPr>
        <p:spPr bwMode="auto">
          <a:xfrm>
            <a:off x="457200" y="34930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0A1628"/>
                </a:solidFill>
                <a:latin typeface="Trebuchet MS"/>
                <a:ea typeface="Trebuchet MS"/>
                <a:cs typeface="Trebuchet MS"/>
              </a:rPr>
              <a:t>5</a:t>
            </a:r>
            <a:endParaRPr lang="en-US" sz="1600"/>
          </a:p>
        </p:txBody>
      </p:sp>
      <p:sp>
        <p:nvSpPr>
          <p:cNvPr id="279649361" name="Text 30"/>
          <p:cNvSpPr/>
          <p:nvPr/>
        </p:nvSpPr>
        <p:spPr bwMode="auto">
          <a:xfrm>
            <a:off x="960120" y="347472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XML → Object Table</a:t>
            </a:r>
            <a:endParaRPr lang="en-US" sz="1200"/>
          </a:p>
        </p:txBody>
      </p:sp>
      <p:sp>
        <p:nvSpPr>
          <p:cNvPr id="1426093599" name="Text 31"/>
          <p:cNvSpPr/>
          <p:nvPr/>
        </p:nvSpPr>
        <p:spPr bwMode="auto">
          <a:xfrm>
            <a:off x="960120" y="3767328"/>
            <a:ext cx="3337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A0C4E0"/>
                </a:solidFill>
                <a:latin typeface="Calibri"/>
                <a:ea typeface="Calibri"/>
                <a:cs typeface="Calibri"/>
              </a:rPr>
              <a:t>INSERT INTO … SELECT + XMLTABLE: XML adatok UDT táblába.</a:t>
            </a:r>
            <a:endParaRPr lang="en-US" sz="1000"/>
          </a:p>
        </p:txBody>
      </p:sp>
      <p:sp>
        <p:nvSpPr>
          <p:cNvPr id="4954272" name="Shape 32"/>
          <p:cNvSpPr/>
          <p:nvPr/>
        </p:nvSpPr>
        <p:spPr bwMode="auto">
          <a:xfrm>
            <a:off x="4754880" y="3383280"/>
            <a:ext cx="4023360" cy="1005840"/>
          </a:xfrm>
          <a:prstGeom prst="rect">
            <a:avLst/>
          </a:prstGeom>
          <a:solidFill>
            <a:srgbClr val="0D3B6E"/>
          </a:solidFill>
          <a:ln/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906420317" name="Shape 33"/>
          <p:cNvSpPr/>
          <p:nvPr/>
        </p:nvSpPr>
        <p:spPr bwMode="auto">
          <a:xfrm>
            <a:off x="4754880" y="3383280"/>
            <a:ext cx="54864" cy="1005840"/>
          </a:xfrm>
          <a:prstGeom prst="rect">
            <a:avLst/>
          </a:prstGeom>
          <a:solidFill>
            <a:srgbClr val="5BF0A5"/>
          </a:solidFill>
          <a:ln/>
        </p:spPr>
      </p:sp>
      <p:sp>
        <p:nvSpPr>
          <p:cNvPr id="1069198826" name="Shape 34"/>
          <p:cNvSpPr/>
          <p:nvPr/>
        </p:nvSpPr>
        <p:spPr bwMode="auto">
          <a:xfrm>
            <a:off x="4846320" y="3493008"/>
            <a:ext cx="411480" cy="411480"/>
          </a:xfrm>
          <a:prstGeom prst="rect">
            <a:avLst/>
          </a:prstGeom>
          <a:solidFill>
            <a:srgbClr val="5BF0A5"/>
          </a:solidFill>
          <a:ln/>
        </p:spPr>
      </p:sp>
      <p:sp>
        <p:nvSpPr>
          <p:cNvPr id="2098047157" name="Text 35"/>
          <p:cNvSpPr/>
          <p:nvPr/>
        </p:nvSpPr>
        <p:spPr bwMode="auto">
          <a:xfrm>
            <a:off x="4846320" y="34930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0A1628"/>
                </a:solidFill>
                <a:latin typeface="Trebuchet MS"/>
                <a:ea typeface="Trebuchet MS"/>
                <a:cs typeface="Trebuchet MS"/>
              </a:rPr>
              <a:t>6</a:t>
            </a:r>
            <a:endParaRPr lang="en-US" sz="1600"/>
          </a:p>
        </p:txBody>
      </p:sp>
      <p:sp>
        <p:nvSpPr>
          <p:cNvPr id="249602188" name="Text 36"/>
          <p:cNvSpPr/>
          <p:nvPr/>
        </p:nvSpPr>
        <p:spPr bwMode="auto">
          <a:xfrm>
            <a:off x="5349240" y="347472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VARRAY &amp; kollekciók</a:t>
            </a:r>
            <a:endParaRPr lang="en-US" sz="1200"/>
          </a:p>
        </p:txBody>
      </p:sp>
      <p:sp>
        <p:nvSpPr>
          <p:cNvPr id="1404173851" name="Text 37"/>
          <p:cNvSpPr/>
          <p:nvPr/>
        </p:nvSpPr>
        <p:spPr bwMode="auto">
          <a:xfrm>
            <a:off x="5349240" y="3767328"/>
            <a:ext cx="3337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A0C4E0"/>
                </a:solidFill>
                <a:latin typeface="Calibri"/>
                <a:ea typeface="Calibri"/>
                <a:cs typeface="Calibri"/>
              </a:rPr>
              <a:t>Többértékű XML elemek (pl. végzettségek) Oracle VARRAY-jel.</a:t>
            </a:r>
            <a:endParaRPr lang="en-US" sz="1000"/>
          </a:p>
        </p:txBody>
      </p:sp>
      <p:sp>
        <p:nvSpPr>
          <p:cNvPr id="869624971" name="Shape 38"/>
          <p:cNvSpPr/>
          <p:nvPr/>
        </p:nvSpPr>
        <p:spPr bwMode="auto">
          <a:xfrm>
            <a:off x="0" y="5065776"/>
            <a:ext cx="9144000" cy="73152"/>
          </a:xfrm>
          <a:prstGeom prst="rect">
            <a:avLst/>
          </a:prstGeom>
          <a:solidFill>
            <a:srgbClr val="00D4AA"/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bg>
      <p:bgPr shadeToTitle="0">
        <a:solidFill>
          <a:srgbClr val="E8F4FD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5854769" name="Shape 0"/>
          <p:cNvSpPr/>
          <p:nvPr/>
        </p:nvSpPr>
        <p:spPr bwMode="auto">
          <a:xfrm>
            <a:off x="0" y="0"/>
            <a:ext cx="9144000" cy="73152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944079167" name="Shape 1"/>
          <p:cNvSpPr/>
          <p:nvPr/>
        </p:nvSpPr>
        <p:spPr bwMode="auto">
          <a:xfrm>
            <a:off x="0" y="73152"/>
            <a:ext cx="9144000" cy="65836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42431854" name="Text 2"/>
          <p:cNvSpPr/>
          <p:nvPr/>
        </p:nvSpPr>
        <p:spPr bwMode="auto"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1. XMLType – mi ez és miért jó?</a:t>
            </a:r>
            <a:endParaRPr lang="en-US" sz="2600"/>
          </a:p>
        </p:txBody>
      </p:sp>
      <p:sp>
        <p:nvSpPr>
          <p:cNvPr id="265869960" name="Shape 3"/>
          <p:cNvSpPr/>
          <p:nvPr/>
        </p:nvSpPr>
        <p:spPr bwMode="auto">
          <a:xfrm>
            <a:off x="274320" y="868680"/>
            <a:ext cx="393192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702409511" name="Shape 4"/>
          <p:cNvSpPr/>
          <p:nvPr/>
        </p:nvSpPr>
        <p:spPr bwMode="auto">
          <a:xfrm>
            <a:off x="274320" y="868680"/>
            <a:ext cx="54864" cy="1143000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845046477" name="Text 5"/>
          <p:cNvSpPr/>
          <p:nvPr/>
        </p:nvSpPr>
        <p:spPr bwMode="auto">
          <a:xfrm>
            <a:off x="402336" y="96012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00A8E8"/>
                </a:solidFill>
                <a:latin typeface="Trebuchet MS"/>
                <a:ea typeface="Trebuchet MS"/>
                <a:cs typeface="Trebuchet MS"/>
              </a:rPr>
              <a:t>XMLType</a:t>
            </a:r>
            <a:endParaRPr lang="en-US" sz="1200"/>
          </a:p>
        </p:txBody>
      </p:sp>
      <p:sp>
        <p:nvSpPr>
          <p:cNvPr id="189611290" name="Text 6"/>
          <p:cNvSpPr/>
          <p:nvPr/>
        </p:nvSpPr>
        <p:spPr bwMode="auto">
          <a:xfrm>
            <a:off x="402336" y="1252728"/>
            <a:ext cx="37490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1A2744"/>
                </a:solidFill>
                <a:latin typeface="Calibri"/>
                <a:ea typeface="Calibri"/>
                <a:cs typeface="Calibri"/>
              </a:rPr>
              <a:t>Az Oracle saját adattípusa egész XML dokumentumok tárolására egyetlen oszlopban. Nem egyszerű szöveg – az Oracle érti a szerkezetét!</a:t>
            </a:r>
            <a:endParaRPr lang="en-US" sz="1100"/>
          </a:p>
        </p:txBody>
      </p:sp>
      <p:sp>
        <p:nvSpPr>
          <p:cNvPr id="2131202761" name="Shape 7"/>
          <p:cNvSpPr/>
          <p:nvPr/>
        </p:nvSpPr>
        <p:spPr bwMode="auto">
          <a:xfrm>
            <a:off x="274320" y="210312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64275391" name="Shape 8"/>
          <p:cNvSpPr/>
          <p:nvPr/>
        </p:nvSpPr>
        <p:spPr bwMode="auto">
          <a:xfrm>
            <a:off x="274320" y="2103120"/>
            <a:ext cx="54864" cy="13716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441449020" name="Text 9"/>
          <p:cNvSpPr/>
          <p:nvPr/>
        </p:nvSpPr>
        <p:spPr bwMode="auto">
          <a:xfrm>
            <a:off x="402336" y="21945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00D4AA"/>
                </a:solidFill>
                <a:latin typeface="Trebuchet MS"/>
                <a:ea typeface="Trebuchet MS"/>
                <a:cs typeface="Trebuchet MS"/>
              </a:rPr>
              <a:t>Miért jobb mint VARCHAR2?</a:t>
            </a:r>
            <a:endParaRPr lang="en-US" sz="1200"/>
          </a:p>
        </p:txBody>
      </p:sp>
      <p:sp>
        <p:nvSpPr>
          <p:cNvPr id="1446589581" name="Text 10"/>
          <p:cNvSpPr/>
          <p:nvPr/>
        </p:nvSpPr>
        <p:spPr bwMode="auto">
          <a:xfrm>
            <a:off x="402336" y="2487168"/>
            <a:ext cx="37490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1A2744"/>
                </a:solidFill>
                <a:latin typeface="Calibri"/>
                <a:ea typeface="Calibri"/>
                <a:cs typeface="Calibri"/>
              </a:rPr>
              <a:t>✔ XPath lekérdezések</a:t>
            </a:r>
            <a:endParaRPr lang="en-US" sz="1100"/>
          </a:p>
          <a:p>
            <a:pPr marL="0" indent="0">
              <a:buNone/>
              <a:defRPr/>
            </a:pPr>
            <a:r>
              <a:rPr lang="en-US" sz="1100">
                <a:solidFill>
                  <a:srgbClr val="1A2744"/>
                </a:solidFill>
                <a:latin typeface="Calibri"/>
                <a:ea typeface="Calibri"/>
                <a:cs typeface="Calibri"/>
              </a:rPr>
              <a:t>✔ Sémavalidáció (XSD)</a:t>
            </a:r>
            <a:endParaRPr lang="en-US" sz="1100"/>
          </a:p>
          <a:p>
            <a:pPr marL="0" indent="0">
              <a:buNone/>
              <a:defRPr/>
            </a:pPr>
            <a:r>
              <a:rPr lang="en-US" sz="1100">
                <a:solidFill>
                  <a:srgbClr val="1A2744"/>
                </a:solidFill>
                <a:latin typeface="Calibri"/>
                <a:ea typeface="Calibri"/>
                <a:cs typeface="Calibri"/>
              </a:rPr>
              <a:t>✔ Indexelés XML csomópontokon</a:t>
            </a:r>
            <a:endParaRPr lang="en-US" sz="1100"/>
          </a:p>
          <a:p>
            <a:pPr marL="0" indent="0">
              <a:buNone/>
              <a:defRPr/>
            </a:pPr>
            <a:r>
              <a:rPr lang="en-US" sz="1100">
                <a:solidFill>
                  <a:srgbClr val="1A2744"/>
                </a:solidFill>
                <a:latin typeface="Calibri"/>
                <a:ea typeface="Calibri"/>
                <a:cs typeface="Calibri"/>
              </a:rPr>
              <a:t>✔ Natív SQL integráció</a:t>
            </a:r>
            <a:endParaRPr lang="en-US" sz="1100"/>
          </a:p>
        </p:txBody>
      </p:sp>
      <p:sp>
        <p:nvSpPr>
          <p:cNvPr id="873882249" name="Shape 11"/>
          <p:cNvSpPr/>
          <p:nvPr/>
        </p:nvSpPr>
        <p:spPr bwMode="auto">
          <a:xfrm>
            <a:off x="274320" y="3566160"/>
            <a:ext cx="393192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1227037808" name="Shape 12"/>
          <p:cNvSpPr/>
          <p:nvPr/>
        </p:nvSpPr>
        <p:spPr bwMode="auto">
          <a:xfrm>
            <a:off x="274320" y="3566160"/>
            <a:ext cx="54864" cy="118872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370539941" name="Text 13"/>
          <p:cNvSpPr/>
          <p:nvPr/>
        </p:nvSpPr>
        <p:spPr bwMode="auto">
          <a:xfrm>
            <a:off x="402336" y="365760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F4A261"/>
                </a:solidFill>
                <a:latin typeface="Trebuchet MS"/>
                <a:ea typeface="Trebuchet MS"/>
                <a:cs typeface="Trebuchet MS"/>
              </a:rPr>
              <a:t>APEX – drag &amp; drop feltöltés</a:t>
            </a:r>
            <a:endParaRPr lang="en-US" sz="1200"/>
          </a:p>
        </p:txBody>
      </p:sp>
      <p:sp>
        <p:nvSpPr>
          <p:cNvPr id="1072829976" name="Text 14"/>
          <p:cNvSpPr/>
          <p:nvPr/>
        </p:nvSpPr>
        <p:spPr bwMode="auto">
          <a:xfrm>
            <a:off x="402336" y="3950208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1A2744"/>
                </a:solidFill>
                <a:latin typeface="Calibri"/>
                <a:ea typeface="Calibri"/>
                <a:cs typeface="Calibri"/>
              </a:rPr>
              <a:t>SQL Workshop → Utilities → Data Workshop → Load Data</a:t>
            </a:r>
            <a:endParaRPr lang="en-US" sz="1100"/>
          </a:p>
          <a:p>
            <a:pPr marL="0" indent="0">
              <a:buNone/>
              <a:defRPr/>
            </a:pPr>
            <a:r>
              <a:rPr lang="en-US" sz="1100">
                <a:solidFill>
                  <a:srgbClr val="1A2744"/>
                </a:solidFill>
                <a:latin typeface="Calibri"/>
                <a:ea typeface="Calibri"/>
                <a:cs typeface="Calibri"/>
              </a:rPr>
              <a:t>Húzd rá az XML fájlt → add meg a tábla nevét → kész!</a:t>
            </a:r>
            <a:endParaRPr lang="en-US" sz="1100"/>
          </a:p>
        </p:txBody>
      </p:sp>
      <p:sp>
        <p:nvSpPr>
          <p:cNvPr id="1675036212" name="Shape 15"/>
          <p:cNvSpPr/>
          <p:nvPr/>
        </p:nvSpPr>
        <p:spPr bwMode="auto">
          <a:xfrm>
            <a:off x="4663440" y="868680"/>
            <a:ext cx="4114800" cy="566928"/>
          </a:xfrm>
          <a:prstGeom prst="rect">
            <a:avLst/>
          </a:prstGeom>
          <a:solidFill>
            <a:srgbClr val="0D3B6E"/>
          </a:solidFill>
          <a:ln/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641315767" name="Text 16"/>
          <p:cNvSpPr/>
          <p:nvPr/>
        </p:nvSpPr>
        <p:spPr bwMode="auto">
          <a:xfrm>
            <a:off x="4663440" y="86868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hu-HU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saját</a:t>
            </a: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.xml fájl</a:t>
            </a:r>
            <a:endParaRPr lang="hu-HU" sz="120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58129619" name="Text 17"/>
          <p:cNvSpPr/>
          <p:nvPr/>
        </p:nvSpPr>
        <p:spPr bwMode="auto">
          <a:xfrm>
            <a:off x="6492240" y="1453896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800">
                <a:solidFill>
                  <a:srgbClr val="00A8E8"/>
                </a:solidFill>
              </a:rPr>
              <a:t>▼</a:t>
            </a:r>
            <a:endParaRPr lang="en-US" sz="1800"/>
          </a:p>
        </p:txBody>
      </p:sp>
      <p:sp>
        <p:nvSpPr>
          <p:cNvPr id="592730970" name="Shape 18"/>
          <p:cNvSpPr/>
          <p:nvPr/>
        </p:nvSpPr>
        <p:spPr bwMode="auto">
          <a:xfrm>
            <a:off x="4663440" y="1874520"/>
            <a:ext cx="4114800" cy="566928"/>
          </a:xfrm>
          <a:prstGeom prst="rect">
            <a:avLst/>
          </a:prstGeom>
          <a:solidFill>
            <a:srgbClr val="0A1628"/>
          </a:solidFill>
          <a:ln/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1680348346" name="Text 19"/>
          <p:cNvSpPr/>
          <p:nvPr/>
        </p:nvSpPr>
        <p:spPr bwMode="auto">
          <a:xfrm>
            <a:off x="4663440" y="187452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00A8E8"/>
                </a:solidFill>
                <a:latin typeface="Calibri"/>
                <a:ea typeface="Calibri"/>
                <a:cs typeface="Calibri"/>
              </a:rPr>
              <a:t>APEX Data Workshop (drag &amp; drop)</a:t>
            </a:r>
            <a:endParaRPr lang="en-US" sz="1200"/>
          </a:p>
        </p:txBody>
      </p:sp>
      <p:sp>
        <p:nvSpPr>
          <p:cNvPr id="1646996623" name="Text 20"/>
          <p:cNvSpPr/>
          <p:nvPr/>
        </p:nvSpPr>
        <p:spPr bwMode="auto">
          <a:xfrm>
            <a:off x="6492240" y="2459735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800">
                <a:solidFill>
                  <a:srgbClr val="00A8E8"/>
                </a:solidFill>
              </a:rPr>
              <a:t>▼</a:t>
            </a:r>
            <a:endParaRPr lang="en-US" sz="1800"/>
          </a:p>
        </p:txBody>
      </p:sp>
      <p:sp>
        <p:nvSpPr>
          <p:cNvPr id="1748353359" name="Shape 21"/>
          <p:cNvSpPr/>
          <p:nvPr/>
        </p:nvSpPr>
        <p:spPr bwMode="auto">
          <a:xfrm>
            <a:off x="4663440" y="2880360"/>
            <a:ext cx="4114800" cy="566928"/>
          </a:xfrm>
          <a:prstGeom prst="rect">
            <a:avLst/>
          </a:prstGeom>
          <a:solidFill>
            <a:srgbClr val="0D3B6E"/>
          </a:solidFill>
          <a:ln/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1347867052" name="Text 22"/>
          <p:cNvSpPr/>
          <p:nvPr/>
        </p:nvSpPr>
        <p:spPr bwMode="auto">
          <a:xfrm>
            <a:off x="4663440" y="288036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vendeglatas_xml</a:t>
            </a:r>
            <a:endParaRPr lang="en-US" sz="1200"/>
          </a:p>
          <a:p>
            <a:pPr marL="0" indent="0" algn="ctr">
              <a:buNone/>
              <a:defRPr/>
            </a:pPr>
            <a:r>
              <a:rPr lang="en-US" sz="120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(id, adat XMLType)</a:t>
            </a:r>
            <a:endParaRPr lang="en-US" sz="1200"/>
          </a:p>
        </p:txBody>
      </p:sp>
      <p:sp>
        <p:nvSpPr>
          <p:cNvPr id="2137466246" name="Text 23"/>
          <p:cNvSpPr/>
          <p:nvPr/>
        </p:nvSpPr>
        <p:spPr bwMode="auto">
          <a:xfrm>
            <a:off x="6492240" y="3465576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800">
                <a:solidFill>
                  <a:srgbClr val="00D4AA"/>
                </a:solidFill>
              </a:rPr>
              <a:t>▼</a:t>
            </a:r>
            <a:endParaRPr lang="en-US" sz="1800"/>
          </a:p>
        </p:txBody>
      </p:sp>
      <p:sp>
        <p:nvSpPr>
          <p:cNvPr id="1685996615" name="Shape 24"/>
          <p:cNvSpPr/>
          <p:nvPr/>
        </p:nvSpPr>
        <p:spPr bwMode="auto">
          <a:xfrm>
            <a:off x="4663440" y="3886200"/>
            <a:ext cx="4114800" cy="566928"/>
          </a:xfrm>
          <a:prstGeom prst="rect">
            <a:avLst/>
          </a:prstGeom>
          <a:solidFill>
            <a:srgbClr val="1A4A1A"/>
          </a:solidFill>
          <a:ln/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2005345323" name="Text 25"/>
          <p:cNvSpPr/>
          <p:nvPr/>
        </p:nvSpPr>
        <p:spPr bwMode="auto">
          <a:xfrm>
            <a:off x="4663440" y="388620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00D4AA"/>
                </a:solidFill>
                <a:latin typeface="Calibri"/>
                <a:ea typeface="Calibri"/>
                <a:cs typeface="Calibri"/>
              </a:rPr>
              <a:t>XMLTABLE → sorok  ✔</a:t>
            </a:r>
            <a:endParaRPr lang="en-US" sz="1200"/>
          </a:p>
        </p:txBody>
      </p:sp>
      <p:sp>
        <p:nvSpPr>
          <p:cNvPr id="833334167" name="Shape 26"/>
          <p:cNvSpPr/>
          <p:nvPr/>
        </p:nvSpPr>
        <p:spPr bwMode="auto">
          <a:xfrm>
            <a:off x="0" y="5065776"/>
            <a:ext cx="9144000" cy="73152"/>
          </a:xfrm>
          <a:prstGeom prst="rect">
            <a:avLst/>
          </a:prstGeom>
          <a:solidFill>
            <a:srgbClr val="00D4AA"/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">
    <p:bg>
      <p:bgPr shadeToTitle="0">
        <a:solidFill>
          <a:srgbClr val="0A162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6660728" name="Shape 0"/>
          <p:cNvSpPr/>
          <p:nvPr/>
        </p:nvSpPr>
        <p:spPr bwMode="auto">
          <a:xfrm>
            <a:off x="0" y="0"/>
            <a:ext cx="9144000" cy="73152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1510595735" name="Text 1"/>
          <p:cNvSpPr/>
          <p:nvPr/>
        </p:nvSpPr>
        <p:spPr bwMode="auto">
          <a:xfrm>
            <a:off x="457200" y="1097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2. XMLType tábla létrehozása</a:t>
            </a:r>
            <a:endParaRPr lang="en-US" sz="2600"/>
          </a:p>
        </p:txBody>
      </p:sp>
      <p:sp>
        <p:nvSpPr>
          <p:cNvPr id="501530846" name="Text 3"/>
          <p:cNvSpPr/>
          <p:nvPr/>
        </p:nvSpPr>
        <p:spPr bwMode="auto">
          <a:xfrm>
            <a:off x="457200" y="71323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0A1628"/>
                </a:solidFill>
                <a:latin typeface="Calibri"/>
                <a:ea typeface="Calibri"/>
                <a:cs typeface="Calibri"/>
              </a:rPr>
              <a:t>SQL Commands – APEX</a:t>
            </a:r>
            <a:endParaRPr lang="en-US" sz="1000"/>
          </a:p>
        </p:txBody>
      </p:sp>
      <p:sp>
        <p:nvSpPr>
          <p:cNvPr id="587727276" name="Shape 4"/>
          <p:cNvSpPr/>
          <p:nvPr/>
        </p:nvSpPr>
        <p:spPr bwMode="auto">
          <a:xfrm>
            <a:off x="457200" y="1051560"/>
            <a:ext cx="5303520" cy="3749040"/>
          </a:xfrm>
          <a:prstGeom prst="rect">
            <a:avLst/>
          </a:prstGeom>
          <a:solidFill>
            <a:srgbClr val="1E2D3D"/>
          </a:solidFill>
          <a:ln/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94051369" name="Shape 5"/>
          <p:cNvSpPr/>
          <p:nvPr/>
        </p:nvSpPr>
        <p:spPr bwMode="auto">
          <a:xfrm>
            <a:off x="457200" y="1051560"/>
            <a:ext cx="292608" cy="3749040"/>
          </a:xfrm>
          <a:prstGeom prst="rect">
            <a:avLst/>
          </a:prstGeom>
          <a:solidFill>
            <a:srgbClr val="0D2233"/>
          </a:solidFill>
          <a:ln/>
        </p:spPr>
      </p:sp>
      <p:sp>
        <p:nvSpPr>
          <p:cNvPr id="742454004" name="Text 6"/>
          <p:cNvSpPr/>
          <p:nvPr/>
        </p:nvSpPr>
        <p:spPr bwMode="auto">
          <a:xfrm>
            <a:off x="457200" y="1051560"/>
            <a:ext cx="292608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3A5A7A"/>
                </a:solidFill>
                <a:latin typeface="Courier New"/>
                <a:ea typeface="Courier New"/>
                <a:cs typeface="Courier New"/>
              </a:rPr>
              <a:t>1</a:t>
            </a:r>
            <a:endParaRPr lang="en-US" sz="800"/>
          </a:p>
        </p:txBody>
      </p:sp>
      <p:sp>
        <p:nvSpPr>
          <p:cNvPr id="1093789606" name="Text 7"/>
          <p:cNvSpPr/>
          <p:nvPr/>
        </p:nvSpPr>
        <p:spPr bwMode="auto">
          <a:xfrm>
            <a:off x="804672" y="1051560"/>
            <a:ext cx="4910328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A8D8EA"/>
                </a:solidFill>
                <a:latin typeface="Courier New"/>
                <a:ea typeface="Courier New"/>
                <a:cs typeface="Courier New"/>
              </a:rPr>
              <a:t>-- 1. lépés: tábla létrehozása XMLType oszloppal</a:t>
            </a:r>
            <a:endParaRPr lang="en-US" sz="950"/>
          </a:p>
        </p:txBody>
      </p:sp>
      <p:sp>
        <p:nvSpPr>
          <p:cNvPr id="955815023" name="Text 8"/>
          <p:cNvSpPr/>
          <p:nvPr/>
        </p:nvSpPr>
        <p:spPr bwMode="auto">
          <a:xfrm>
            <a:off x="457200" y="1301496"/>
            <a:ext cx="292608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3A5A7A"/>
                </a:solidFill>
                <a:latin typeface="Courier New"/>
                <a:ea typeface="Courier New"/>
                <a:cs typeface="Courier New"/>
              </a:rPr>
              <a:t>2</a:t>
            </a:r>
            <a:endParaRPr lang="en-US" sz="800"/>
          </a:p>
        </p:txBody>
      </p:sp>
      <p:sp>
        <p:nvSpPr>
          <p:cNvPr id="740783376" name="Shape 9"/>
          <p:cNvSpPr/>
          <p:nvPr/>
        </p:nvSpPr>
        <p:spPr bwMode="auto">
          <a:xfrm>
            <a:off x="749808" y="1301496"/>
            <a:ext cx="5010912" cy="249936"/>
          </a:xfrm>
          <a:prstGeom prst="rect">
            <a:avLst/>
          </a:prstGeom>
          <a:solidFill>
            <a:srgbClr val="1A4A3A"/>
          </a:solidFill>
          <a:ln/>
        </p:spPr>
      </p:sp>
      <p:sp>
        <p:nvSpPr>
          <p:cNvPr id="1585789787" name="Text 10"/>
          <p:cNvSpPr/>
          <p:nvPr/>
        </p:nvSpPr>
        <p:spPr bwMode="auto">
          <a:xfrm>
            <a:off x="804672" y="1301496"/>
            <a:ext cx="4910328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00D4AA"/>
                </a:solidFill>
                <a:latin typeface="Courier New"/>
                <a:ea typeface="Courier New"/>
                <a:cs typeface="Courier New"/>
              </a:rPr>
              <a:t>CREATE TABLE vendeglatas_xml (</a:t>
            </a:r>
            <a:endParaRPr lang="en-US" sz="950"/>
          </a:p>
        </p:txBody>
      </p:sp>
      <p:sp>
        <p:nvSpPr>
          <p:cNvPr id="849763112" name="Text 11"/>
          <p:cNvSpPr/>
          <p:nvPr/>
        </p:nvSpPr>
        <p:spPr bwMode="auto">
          <a:xfrm>
            <a:off x="457200" y="1551432"/>
            <a:ext cx="292608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3A5A7A"/>
                </a:solidFill>
                <a:latin typeface="Courier New"/>
                <a:ea typeface="Courier New"/>
                <a:cs typeface="Courier New"/>
              </a:rPr>
              <a:t>3</a:t>
            </a:r>
            <a:endParaRPr lang="en-US" sz="800"/>
          </a:p>
        </p:txBody>
      </p:sp>
      <p:sp>
        <p:nvSpPr>
          <p:cNvPr id="121236989" name="Shape 12"/>
          <p:cNvSpPr/>
          <p:nvPr/>
        </p:nvSpPr>
        <p:spPr bwMode="auto">
          <a:xfrm>
            <a:off x="749808" y="1551432"/>
            <a:ext cx="5010912" cy="249936"/>
          </a:xfrm>
          <a:prstGeom prst="rect">
            <a:avLst/>
          </a:prstGeom>
          <a:solidFill>
            <a:srgbClr val="1A4A3A"/>
          </a:solidFill>
          <a:ln/>
        </p:spPr>
      </p:sp>
      <p:sp>
        <p:nvSpPr>
          <p:cNvPr id="521480173" name="Text 13"/>
          <p:cNvSpPr/>
          <p:nvPr/>
        </p:nvSpPr>
        <p:spPr bwMode="auto">
          <a:xfrm>
            <a:off x="804672" y="1551432"/>
            <a:ext cx="4910328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00D4AA"/>
                </a:solidFill>
                <a:latin typeface="Courier New"/>
                <a:ea typeface="Courier New"/>
                <a:cs typeface="Courier New"/>
              </a:rPr>
              <a:t>  id    NUMBER GENERATED ALWAYS AS IDENTITY PRIMARY KEY,</a:t>
            </a:r>
            <a:endParaRPr lang="en-US" sz="950"/>
          </a:p>
        </p:txBody>
      </p:sp>
      <p:sp>
        <p:nvSpPr>
          <p:cNvPr id="265017012" name="Text 14"/>
          <p:cNvSpPr/>
          <p:nvPr/>
        </p:nvSpPr>
        <p:spPr bwMode="auto">
          <a:xfrm>
            <a:off x="457200" y="1801367"/>
            <a:ext cx="292608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3A5A7A"/>
                </a:solidFill>
                <a:latin typeface="Courier New"/>
                <a:ea typeface="Courier New"/>
                <a:cs typeface="Courier New"/>
              </a:rPr>
              <a:t>4</a:t>
            </a:r>
            <a:endParaRPr lang="en-US" sz="800"/>
          </a:p>
        </p:txBody>
      </p:sp>
      <p:sp>
        <p:nvSpPr>
          <p:cNvPr id="2139619316" name="Shape 15"/>
          <p:cNvSpPr/>
          <p:nvPr/>
        </p:nvSpPr>
        <p:spPr bwMode="auto">
          <a:xfrm>
            <a:off x="749808" y="1801367"/>
            <a:ext cx="5010912" cy="249936"/>
          </a:xfrm>
          <a:prstGeom prst="rect">
            <a:avLst/>
          </a:prstGeom>
          <a:solidFill>
            <a:srgbClr val="1A4A3A"/>
          </a:solidFill>
          <a:ln/>
        </p:spPr>
      </p:sp>
      <p:sp>
        <p:nvSpPr>
          <p:cNvPr id="1858804566" name="Text 16"/>
          <p:cNvSpPr/>
          <p:nvPr/>
        </p:nvSpPr>
        <p:spPr bwMode="auto">
          <a:xfrm>
            <a:off x="804672" y="1801367"/>
            <a:ext cx="4910328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00D4AA"/>
                </a:solidFill>
                <a:latin typeface="Courier New"/>
                <a:ea typeface="Courier New"/>
                <a:cs typeface="Courier New"/>
              </a:rPr>
              <a:t>  adat  XMLType     -- az egész XML dokumentum egy oszlopban</a:t>
            </a:r>
            <a:endParaRPr lang="en-US" sz="950"/>
          </a:p>
        </p:txBody>
      </p:sp>
      <p:sp>
        <p:nvSpPr>
          <p:cNvPr id="663301425" name="Text 17"/>
          <p:cNvSpPr/>
          <p:nvPr/>
        </p:nvSpPr>
        <p:spPr bwMode="auto">
          <a:xfrm>
            <a:off x="457200" y="2051304"/>
            <a:ext cx="292608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3A5A7A"/>
                </a:solidFill>
                <a:latin typeface="Courier New"/>
                <a:ea typeface="Courier New"/>
                <a:cs typeface="Courier New"/>
              </a:rPr>
              <a:t>5</a:t>
            </a:r>
            <a:endParaRPr lang="en-US" sz="800"/>
          </a:p>
        </p:txBody>
      </p:sp>
      <p:sp>
        <p:nvSpPr>
          <p:cNvPr id="369497833" name="Shape 18"/>
          <p:cNvSpPr/>
          <p:nvPr/>
        </p:nvSpPr>
        <p:spPr bwMode="auto">
          <a:xfrm>
            <a:off x="749808" y="2051304"/>
            <a:ext cx="5010912" cy="249936"/>
          </a:xfrm>
          <a:prstGeom prst="rect">
            <a:avLst/>
          </a:prstGeom>
          <a:solidFill>
            <a:srgbClr val="1A4A3A"/>
          </a:solidFill>
          <a:ln/>
        </p:spPr>
      </p:sp>
      <p:sp>
        <p:nvSpPr>
          <p:cNvPr id="277035093" name="Text 19"/>
          <p:cNvSpPr/>
          <p:nvPr/>
        </p:nvSpPr>
        <p:spPr bwMode="auto">
          <a:xfrm>
            <a:off x="804672" y="2051304"/>
            <a:ext cx="4910328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00D4AA"/>
                </a:solidFill>
                <a:latin typeface="Courier New"/>
                <a:ea typeface="Courier New"/>
                <a:cs typeface="Courier New"/>
              </a:rPr>
              <a:t>);</a:t>
            </a:r>
            <a:endParaRPr lang="en-US" sz="950"/>
          </a:p>
        </p:txBody>
      </p:sp>
      <p:sp>
        <p:nvSpPr>
          <p:cNvPr id="1949618756" name="Text 20"/>
          <p:cNvSpPr/>
          <p:nvPr/>
        </p:nvSpPr>
        <p:spPr bwMode="auto">
          <a:xfrm>
            <a:off x="457200" y="2301240"/>
            <a:ext cx="292608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3A5A7A"/>
                </a:solidFill>
                <a:latin typeface="Courier New"/>
                <a:ea typeface="Courier New"/>
                <a:cs typeface="Courier New"/>
              </a:rPr>
              <a:t>6</a:t>
            </a:r>
            <a:endParaRPr lang="en-US" sz="800"/>
          </a:p>
        </p:txBody>
      </p:sp>
      <p:sp>
        <p:nvSpPr>
          <p:cNvPr id="1566912020" name="Text 21"/>
          <p:cNvSpPr/>
          <p:nvPr/>
        </p:nvSpPr>
        <p:spPr bwMode="auto">
          <a:xfrm>
            <a:off x="804672" y="2301240"/>
            <a:ext cx="4910328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endParaRPr lang="en-US" sz="950"/>
          </a:p>
        </p:txBody>
      </p:sp>
      <p:sp>
        <p:nvSpPr>
          <p:cNvPr id="1358440935" name="Text 22"/>
          <p:cNvSpPr/>
          <p:nvPr/>
        </p:nvSpPr>
        <p:spPr bwMode="auto">
          <a:xfrm>
            <a:off x="457200" y="2551176"/>
            <a:ext cx="292608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3A5A7A"/>
                </a:solidFill>
                <a:latin typeface="Courier New"/>
                <a:ea typeface="Courier New"/>
                <a:cs typeface="Courier New"/>
              </a:rPr>
              <a:t>7</a:t>
            </a:r>
            <a:endParaRPr lang="en-US" sz="800"/>
          </a:p>
        </p:txBody>
      </p:sp>
      <p:sp>
        <p:nvSpPr>
          <p:cNvPr id="1756886203" name="Text 23"/>
          <p:cNvSpPr/>
          <p:nvPr/>
        </p:nvSpPr>
        <p:spPr bwMode="auto">
          <a:xfrm>
            <a:off x="804672" y="2551176"/>
            <a:ext cx="4910328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A8D8EA"/>
                </a:solidFill>
                <a:latin typeface="Courier New"/>
                <a:ea typeface="Courier New"/>
                <a:cs typeface="Courier New"/>
              </a:rPr>
              <a:t>-- 2. lépés: manuális betöltés </a:t>
            </a:r>
            <a:endParaRPr lang="en-US" sz="950"/>
          </a:p>
        </p:txBody>
      </p:sp>
      <p:sp>
        <p:nvSpPr>
          <p:cNvPr id="1963152983" name="Text 24"/>
          <p:cNvSpPr/>
          <p:nvPr/>
        </p:nvSpPr>
        <p:spPr bwMode="auto">
          <a:xfrm>
            <a:off x="457200" y="2801112"/>
            <a:ext cx="292608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3A5A7A"/>
                </a:solidFill>
                <a:latin typeface="Courier New"/>
                <a:ea typeface="Courier New"/>
                <a:cs typeface="Courier New"/>
              </a:rPr>
              <a:t>8</a:t>
            </a:r>
            <a:endParaRPr lang="en-US" sz="800"/>
          </a:p>
        </p:txBody>
      </p:sp>
      <p:sp>
        <p:nvSpPr>
          <p:cNvPr id="1327223999" name="Text 25"/>
          <p:cNvSpPr/>
          <p:nvPr/>
        </p:nvSpPr>
        <p:spPr bwMode="auto">
          <a:xfrm>
            <a:off x="804672" y="2801112"/>
            <a:ext cx="4910328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A8D8EA"/>
                </a:solidFill>
                <a:latin typeface="Courier New"/>
                <a:ea typeface="Courier New"/>
                <a:cs typeface="Courier New"/>
              </a:rPr>
              <a:t>INSERT INTO vendeglatas_xml (adat) VALUES (</a:t>
            </a:r>
            <a:endParaRPr lang="en-US" sz="950"/>
          </a:p>
        </p:txBody>
      </p:sp>
      <p:sp>
        <p:nvSpPr>
          <p:cNvPr id="385578642" name="Text 26"/>
          <p:cNvSpPr/>
          <p:nvPr/>
        </p:nvSpPr>
        <p:spPr bwMode="auto">
          <a:xfrm>
            <a:off x="457200" y="3051048"/>
            <a:ext cx="292608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3A5A7A"/>
                </a:solidFill>
                <a:latin typeface="Courier New"/>
                <a:ea typeface="Courier New"/>
                <a:cs typeface="Courier New"/>
              </a:rPr>
              <a:t>9</a:t>
            </a:r>
            <a:endParaRPr lang="en-US" sz="800"/>
          </a:p>
        </p:txBody>
      </p:sp>
      <p:sp>
        <p:nvSpPr>
          <p:cNvPr id="449946029" name="Text 27"/>
          <p:cNvSpPr/>
          <p:nvPr/>
        </p:nvSpPr>
        <p:spPr bwMode="auto">
          <a:xfrm>
            <a:off x="804672" y="3051048"/>
            <a:ext cx="4910328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A8D8EA"/>
                </a:solidFill>
                <a:latin typeface="Courier New"/>
                <a:ea typeface="Courier New"/>
                <a:cs typeface="Courier New"/>
              </a:rPr>
              <a:t>  XMLType('&lt;?xml version="1.0"?&gt;</a:t>
            </a:r>
            <a:endParaRPr lang="en-US" sz="950"/>
          </a:p>
        </p:txBody>
      </p:sp>
      <p:sp>
        <p:nvSpPr>
          <p:cNvPr id="1636055847" name="Text 28"/>
          <p:cNvSpPr/>
          <p:nvPr/>
        </p:nvSpPr>
        <p:spPr bwMode="auto">
          <a:xfrm>
            <a:off x="457200" y="3300984"/>
            <a:ext cx="292608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3A5A7A"/>
                </a:solidFill>
                <a:latin typeface="Courier New"/>
                <a:ea typeface="Courier New"/>
                <a:cs typeface="Courier New"/>
              </a:rPr>
              <a:t>10</a:t>
            </a:r>
            <a:endParaRPr lang="en-US" sz="800"/>
          </a:p>
        </p:txBody>
      </p:sp>
      <p:sp>
        <p:nvSpPr>
          <p:cNvPr id="461542388" name="Text 29"/>
          <p:cNvSpPr/>
          <p:nvPr/>
        </p:nvSpPr>
        <p:spPr bwMode="auto">
          <a:xfrm>
            <a:off x="804672" y="3300984"/>
            <a:ext cx="4910328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A8D8EA"/>
                </a:solidFill>
                <a:latin typeface="Courier New"/>
                <a:ea typeface="Courier New"/>
                <a:cs typeface="Courier New"/>
              </a:rPr>
              <a:t>  &lt;vendeglatas&gt;</a:t>
            </a:r>
            <a:endParaRPr lang="en-US" sz="950"/>
          </a:p>
        </p:txBody>
      </p:sp>
      <p:sp>
        <p:nvSpPr>
          <p:cNvPr id="491848992" name="Text 30"/>
          <p:cNvSpPr/>
          <p:nvPr/>
        </p:nvSpPr>
        <p:spPr bwMode="auto">
          <a:xfrm>
            <a:off x="457200" y="3550920"/>
            <a:ext cx="292608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3A5A7A"/>
                </a:solidFill>
                <a:latin typeface="Courier New"/>
                <a:ea typeface="Courier New"/>
                <a:cs typeface="Courier New"/>
              </a:rPr>
              <a:t>11</a:t>
            </a:r>
            <a:endParaRPr lang="en-US" sz="800"/>
          </a:p>
        </p:txBody>
      </p:sp>
      <p:sp>
        <p:nvSpPr>
          <p:cNvPr id="1164153232" name="Text 31"/>
          <p:cNvSpPr/>
          <p:nvPr/>
        </p:nvSpPr>
        <p:spPr bwMode="auto">
          <a:xfrm>
            <a:off x="804672" y="3550920"/>
            <a:ext cx="4910328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A8D8EA"/>
                </a:solidFill>
                <a:latin typeface="Courier New"/>
                <a:ea typeface="Courier New"/>
                <a:cs typeface="Courier New"/>
              </a:rPr>
              <a:t>    &lt;etterem ekod="e1"&gt;...&lt;/etterem&gt;</a:t>
            </a:r>
            <a:endParaRPr lang="en-US" sz="950"/>
          </a:p>
        </p:txBody>
      </p:sp>
      <p:sp>
        <p:nvSpPr>
          <p:cNvPr id="1962159782" name="Text 32"/>
          <p:cNvSpPr/>
          <p:nvPr/>
        </p:nvSpPr>
        <p:spPr bwMode="auto">
          <a:xfrm>
            <a:off x="457200" y="3800856"/>
            <a:ext cx="292608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3A5A7A"/>
                </a:solidFill>
                <a:latin typeface="Courier New"/>
                <a:ea typeface="Courier New"/>
                <a:cs typeface="Courier New"/>
              </a:rPr>
              <a:t>12</a:t>
            </a:r>
            <a:endParaRPr lang="en-US" sz="800"/>
          </a:p>
        </p:txBody>
      </p:sp>
      <p:sp>
        <p:nvSpPr>
          <p:cNvPr id="821201076" name="Text 33"/>
          <p:cNvSpPr/>
          <p:nvPr/>
        </p:nvSpPr>
        <p:spPr bwMode="auto">
          <a:xfrm>
            <a:off x="804672" y="3800856"/>
            <a:ext cx="4910328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A8D8EA"/>
                </a:solidFill>
                <a:latin typeface="Courier New"/>
                <a:ea typeface="Courier New"/>
                <a:cs typeface="Courier New"/>
              </a:rPr>
              <a:t>    ...</a:t>
            </a:r>
            <a:endParaRPr lang="en-US" sz="950"/>
          </a:p>
        </p:txBody>
      </p:sp>
      <p:sp>
        <p:nvSpPr>
          <p:cNvPr id="1800917984" name="Text 34"/>
          <p:cNvSpPr/>
          <p:nvPr/>
        </p:nvSpPr>
        <p:spPr bwMode="auto">
          <a:xfrm>
            <a:off x="457200" y="4050792"/>
            <a:ext cx="292608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3A5A7A"/>
                </a:solidFill>
                <a:latin typeface="Courier New"/>
                <a:ea typeface="Courier New"/>
                <a:cs typeface="Courier New"/>
              </a:rPr>
              <a:t>13</a:t>
            </a:r>
            <a:endParaRPr lang="en-US" sz="800"/>
          </a:p>
        </p:txBody>
      </p:sp>
      <p:sp>
        <p:nvSpPr>
          <p:cNvPr id="992042859" name="Text 35"/>
          <p:cNvSpPr/>
          <p:nvPr/>
        </p:nvSpPr>
        <p:spPr bwMode="auto">
          <a:xfrm>
            <a:off x="804672" y="4050792"/>
            <a:ext cx="4910328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A8D8EA"/>
                </a:solidFill>
                <a:latin typeface="Courier New"/>
                <a:ea typeface="Courier New"/>
                <a:cs typeface="Courier New"/>
              </a:rPr>
              <a:t>  &lt;/vendeglatas&gt;')</a:t>
            </a:r>
            <a:endParaRPr lang="en-US" sz="950"/>
          </a:p>
        </p:txBody>
      </p:sp>
      <p:sp>
        <p:nvSpPr>
          <p:cNvPr id="677583633" name="Text 36"/>
          <p:cNvSpPr/>
          <p:nvPr/>
        </p:nvSpPr>
        <p:spPr bwMode="auto">
          <a:xfrm>
            <a:off x="457200" y="4300728"/>
            <a:ext cx="292608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3A5A7A"/>
                </a:solidFill>
                <a:latin typeface="Courier New"/>
                <a:ea typeface="Courier New"/>
                <a:cs typeface="Courier New"/>
              </a:rPr>
              <a:t>14</a:t>
            </a:r>
            <a:endParaRPr lang="en-US" sz="800"/>
          </a:p>
        </p:txBody>
      </p:sp>
      <p:sp>
        <p:nvSpPr>
          <p:cNvPr id="310580087" name="Text 37"/>
          <p:cNvSpPr/>
          <p:nvPr/>
        </p:nvSpPr>
        <p:spPr bwMode="auto">
          <a:xfrm>
            <a:off x="804672" y="4300728"/>
            <a:ext cx="4910328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A8D8EA"/>
                </a:solidFill>
                <a:latin typeface="Courier New"/>
                <a:ea typeface="Courier New"/>
                <a:cs typeface="Courier New"/>
              </a:rPr>
              <a:t>);</a:t>
            </a:r>
            <a:endParaRPr lang="en-US" sz="950"/>
          </a:p>
        </p:txBody>
      </p:sp>
      <p:sp>
        <p:nvSpPr>
          <p:cNvPr id="1842079179" name="Text 38"/>
          <p:cNvSpPr/>
          <p:nvPr/>
        </p:nvSpPr>
        <p:spPr bwMode="auto">
          <a:xfrm>
            <a:off x="457200" y="4550664"/>
            <a:ext cx="292608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3A5A7A"/>
                </a:solidFill>
                <a:latin typeface="Courier New"/>
                <a:ea typeface="Courier New"/>
                <a:cs typeface="Courier New"/>
              </a:rPr>
              <a:t>15</a:t>
            </a:r>
            <a:endParaRPr lang="en-US" sz="800"/>
          </a:p>
        </p:txBody>
      </p:sp>
      <p:sp>
        <p:nvSpPr>
          <p:cNvPr id="751590674" name="Text 39"/>
          <p:cNvSpPr/>
          <p:nvPr/>
        </p:nvSpPr>
        <p:spPr bwMode="auto">
          <a:xfrm>
            <a:off x="804672" y="4550664"/>
            <a:ext cx="4910328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A8D8EA"/>
                </a:solidFill>
                <a:latin typeface="Courier New"/>
                <a:ea typeface="Courier New"/>
                <a:cs typeface="Courier New"/>
              </a:rPr>
              <a:t>COMMIT;</a:t>
            </a:r>
            <a:endParaRPr lang="en-US" sz="950"/>
          </a:p>
        </p:txBody>
      </p:sp>
      <p:sp>
        <p:nvSpPr>
          <p:cNvPr id="1703184748" name="Shape 40"/>
          <p:cNvSpPr/>
          <p:nvPr/>
        </p:nvSpPr>
        <p:spPr bwMode="auto">
          <a:xfrm>
            <a:off x="5760720" y="1691640"/>
            <a:ext cx="365760" cy="0"/>
          </a:xfrm>
          <a:prstGeom prst="line">
            <a:avLst/>
          </a:prstGeom>
          <a:noFill/>
          <a:ln w="19050">
            <a:solidFill>
              <a:srgbClr val="00A8E8"/>
            </a:solidFill>
            <a:prstDash val="solid"/>
          </a:ln>
        </p:spPr>
      </p:sp>
      <p:sp>
        <p:nvSpPr>
          <p:cNvPr id="336461712" name="Shape 41"/>
          <p:cNvSpPr/>
          <p:nvPr/>
        </p:nvSpPr>
        <p:spPr bwMode="auto">
          <a:xfrm>
            <a:off x="6144768" y="1508759"/>
            <a:ext cx="2560320" cy="530352"/>
          </a:xfrm>
          <a:prstGeom prst="rect">
            <a:avLst/>
          </a:prstGeom>
          <a:solidFill>
            <a:srgbClr val="0D3B6E"/>
          </a:solidFill>
          <a:ln/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1043069871" name="Shape 42"/>
          <p:cNvSpPr/>
          <p:nvPr/>
        </p:nvSpPr>
        <p:spPr bwMode="auto">
          <a:xfrm>
            <a:off x="6144768" y="1508759"/>
            <a:ext cx="45720" cy="530352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862711504" name="Text 43"/>
          <p:cNvSpPr/>
          <p:nvPr/>
        </p:nvSpPr>
        <p:spPr bwMode="auto">
          <a:xfrm>
            <a:off x="6236208" y="1554480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00A8E8"/>
                </a:solidFill>
                <a:latin typeface="Calibri"/>
                <a:ea typeface="Calibri"/>
                <a:cs typeface="Calibri"/>
              </a:rPr>
              <a:t>Tábla XMLType</a:t>
            </a:r>
            <a:endParaRPr lang="en-US" sz="1050"/>
          </a:p>
          <a:p>
            <a:pPr marL="0" indent="0">
              <a:buNone/>
              <a:defRPr/>
            </a:pPr>
            <a:r>
              <a:rPr lang="en-US" sz="1050">
                <a:solidFill>
                  <a:srgbClr val="00A8E8"/>
                </a:solidFill>
                <a:latin typeface="Calibri"/>
                <a:ea typeface="Calibri"/>
                <a:cs typeface="Calibri"/>
              </a:rPr>
              <a:t>oszloppal</a:t>
            </a:r>
            <a:endParaRPr lang="en-US" sz="1050"/>
          </a:p>
        </p:txBody>
      </p:sp>
      <p:sp>
        <p:nvSpPr>
          <p:cNvPr id="520534801" name="Shape 44"/>
          <p:cNvSpPr/>
          <p:nvPr/>
        </p:nvSpPr>
        <p:spPr bwMode="auto">
          <a:xfrm>
            <a:off x="5760720" y="2395728"/>
            <a:ext cx="365760" cy="0"/>
          </a:xfrm>
          <a:prstGeom prst="line">
            <a:avLst/>
          </a:prstGeom>
          <a:noFill/>
          <a:ln w="19050">
            <a:solidFill>
              <a:srgbClr val="00D4AA"/>
            </a:solidFill>
            <a:prstDash val="solid"/>
          </a:ln>
        </p:spPr>
      </p:sp>
      <p:sp>
        <p:nvSpPr>
          <p:cNvPr id="1741862289" name="Shape 45"/>
          <p:cNvSpPr/>
          <p:nvPr/>
        </p:nvSpPr>
        <p:spPr bwMode="auto">
          <a:xfrm>
            <a:off x="6144768" y="2212848"/>
            <a:ext cx="2560320" cy="530352"/>
          </a:xfrm>
          <a:prstGeom prst="rect">
            <a:avLst/>
          </a:prstGeom>
          <a:solidFill>
            <a:srgbClr val="0D3B6E"/>
          </a:solidFill>
          <a:ln/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199139811" name="Shape 46"/>
          <p:cNvSpPr/>
          <p:nvPr/>
        </p:nvSpPr>
        <p:spPr bwMode="auto">
          <a:xfrm>
            <a:off x="6144768" y="2212848"/>
            <a:ext cx="45720" cy="53035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153169526" name="Text 47"/>
          <p:cNvSpPr/>
          <p:nvPr/>
        </p:nvSpPr>
        <p:spPr bwMode="auto">
          <a:xfrm>
            <a:off x="6236208" y="2258568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00D4AA"/>
                </a:solidFill>
                <a:latin typeface="Calibri"/>
                <a:ea typeface="Calibri"/>
                <a:cs typeface="Calibri"/>
              </a:rPr>
              <a:t>AUTO-INCREMENT</a:t>
            </a:r>
            <a:endParaRPr lang="en-US" sz="1050"/>
          </a:p>
          <a:p>
            <a:pPr marL="0" indent="0">
              <a:buNone/>
              <a:defRPr/>
            </a:pPr>
            <a:r>
              <a:rPr lang="en-US" sz="1050">
                <a:solidFill>
                  <a:srgbClr val="00D4AA"/>
                </a:solidFill>
                <a:latin typeface="Calibri"/>
                <a:ea typeface="Calibri"/>
                <a:cs typeface="Calibri"/>
              </a:rPr>
              <a:t>PRIMARY KEY</a:t>
            </a:r>
            <a:endParaRPr lang="en-US" sz="1050"/>
          </a:p>
        </p:txBody>
      </p:sp>
      <p:sp>
        <p:nvSpPr>
          <p:cNvPr id="989732975" name="Shape 48"/>
          <p:cNvSpPr/>
          <p:nvPr/>
        </p:nvSpPr>
        <p:spPr bwMode="auto">
          <a:xfrm>
            <a:off x="5760720" y="3035808"/>
            <a:ext cx="365760" cy="0"/>
          </a:xfrm>
          <a:prstGeom prst="line">
            <a:avLst/>
          </a:prstGeom>
          <a:noFill/>
          <a:ln w="19050">
            <a:solidFill>
              <a:srgbClr val="F4A261"/>
            </a:solidFill>
            <a:prstDash val="solid"/>
          </a:ln>
        </p:spPr>
      </p:sp>
      <p:sp>
        <p:nvSpPr>
          <p:cNvPr id="539208030" name="Shape 49"/>
          <p:cNvSpPr/>
          <p:nvPr/>
        </p:nvSpPr>
        <p:spPr bwMode="auto">
          <a:xfrm>
            <a:off x="6144768" y="2852928"/>
            <a:ext cx="2560320" cy="530352"/>
          </a:xfrm>
          <a:prstGeom prst="rect">
            <a:avLst/>
          </a:prstGeom>
          <a:solidFill>
            <a:srgbClr val="0D3B6E"/>
          </a:solidFill>
          <a:ln/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1032268679" name="Shape 50"/>
          <p:cNvSpPr/>
          <p:nvPr/>
        </p:nvSpPr>
        <p:spPr bwMode="auto">
          <a:xfrm>
            <a:off x="6144768" y="2852928"/>
            <a:ext cx="45720" cy="53035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525285825" name="Text 51"/>
          <p:cNvSpPr/>
          <p:nvPr/>
        </p:nvSpPr>
        <p:spPr bwMode="auto">
          <a:xfrm>
            <a:off x="6236208" y="2898648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F4A261"/>
                </a:solidFill>
                <a:latin typeface="Calibri"/>
                <a:ea typeface="Calibri"/>
                <a:cs typeface="Calibri"/>
              </a:rPr>
              <a:t>Az egész XML</a:t>
            </a:r>
            <a:endParaRPr lang="en-US" sz="1050"/>
          </a:p>
          <a:p>
            <a:pPr marL="0" indent="0">
              <a:buNone/>
              <a:defRPr/>
            </a:pPr>
            <a:r>
              <a:rPr lang="en-US" sz="1050">
                <a:solidFill>
                  <a:srgbClr val="F4A261"/>
                </a:solidFill>
                <a:latin typeface="Calibri"/>
                <a:ea typeface="Calibri"/>
                <a:cs typeface="Calibri"/>
              </a:rPr>
              <a:t>egyben tárolva</a:t>
            </a:r>
            <a:endParaRPr lang="en-US" sz="1050"/>
          </a:p>
        </p:txBody>
      </p:sp>
      <p:sp>
        <p:nvSpPr>
          <p:cNvPr id="898209620" name="Shape 59"/>
          <p:cNvSpPr/>
          <p:nvPr/>
        </p:nvSpPr>
        <p:spPr bwMode="auto">
          <a:xfrm>
            <a:off x="0" y="5065776"/>
            <a:ext cx="9144000" cy="73152"/>
          </a:xfrm>
          <a:prstGeom prst="rect">
            <a:avLst/>
          </a:prstGeom>
          <a:solidFill>
            <a:srgbClr val="00D4AA"/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bg>
      <p:bgPr shadeToTitle="0">
        <a:solidFill>
          <a:srgbClr val="0A162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2874560" name="Shape 0"/>
          <p:cNvSpPr/>
          <p:nvPr/>
        </p:nvSpPr>
        <p:spPr bwMode="auto">
          <a:xfrm>
            <a:off x="0" y="0"/>
            <a:ext cx="9144000" cy="73152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1434919518" name="Text 1"/>
          <p:cNvSpPr/>
          <p:nvPr/>
        </p:nvSpPr>
        <p:spPr bwMode="auto">
          <a:xfrm>
            <a:off x="457200" y="1097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3. XMLTABLE – hogyan működik?</a:t>
            </a:r>
            <a:endParaRPr lang="en-US" sz="2600"/>
          </a:p>
        </p:txBody>
      </p:sp>
      <p:sp>
        <p:nvSpPr>
          <p:cNvPr id="1577077242" name="Shape 2"/>
          <p:cNvSpPr/>
          <p:nvPr/>
        </p:nvSpPr>
        <p:spPr bwMode="auto">
          <a:xfrm>
            <a:off x="320040" y="749808"/>
            <a:ext cx="8503920" cy="3584448"/>
          </a:xfrm>
          <a:prstGeom prst="rect">
            <a:avLst/>
          </a:prstGeom>
          <a:solidFill>
            <a:srgbClr val="1E2D3D"/>
          </a:solidFill>
          <a:ln/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1162931146" name="Shape 3"/>
          <p:cNvSpPr/>
          <p:nvPr/>
        </p:nvSpPr>
        <p:spPr bwMode="auto">
          <a:xfrm>
            <a:off x="320040" y="749808"/>
            <a:ext cx="292608" cy="3584448"/>
          </a:xfrm>
          <a:prstGeom prst="rect">
            <a:avLst/>
          </a:prstGeom>
          <a:solidFill>
            <a:srgbClr val="0D2233"/>
          </a:solidFill>
          <a:ln/>
        </p:spPr>
      </p:sp>
      <p:sp>
        <p:nvSpPr>
          <p:cNvPr id="1788156997" name="Text 4"/>
          <p:cNvSpPr/>
          <p:nvPr/>
        </p:nvSpPr>
        <p:spPr bwMode="auto">
          <a:xfrm>
            <a:off x="320040" y="749808"/>
            <a:ext cx="292608" cy="325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3A5A7A"/>
                </a:solidFill>
                <a:latin typeface="Courier New"/>
                <a:ea typeface="Courier New"/>
                <a:cs typeface="Courier New"/>
              </a:rPr>
              <a:t>1</a:t>
            </a:r>
            <a:endParaRPr lang="en-US" sz="800"/>
          </a:p>
        </p:txBody>
      </p:sp>
      <p:sp>
        <p:nvSpPr>
          <p:cNvPr id="1279697198" name="Text 5"/>
          <p:cNvSpPr/>
          <p:nvPr/>
        </p:nvSpPr>
        <p:spPr bwMode="auto">
          <a:xfrm>
            <a:off x="667512" y="749808"/>
            <a:ext cx="8110728" cy="325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A8D8EA"/>
                </a:solidFill>
                <a:latin typeface="Courier New"/>
                <a:ea typeface="Courier New"/>
                <a:cs typeface="Courier New"/>
              </a:rPr>
              <a:t>SELECT x.ekod, x.nev, x.varos, x.csillag</a:t>
            </a:r>
            <a:endParaRPr lang="en-US" sz="950"/>
          </a:p>
        </p:txBody>
      </p:sp>
      <p:sp>
        <p:nvSpPr>
          <p:cNvPr id="1484302823" name="Text 6"/>
          <p:cNvSpPr/>
          <p:nvPr/>
        </p:nvSpPr>
        <p:spPr bwMode="auto">
          <a:xfrm>
            <a:off x="320040" y="1075667"/>
            <a:ext cx="292608" cy="325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3A5A7A"/>
                </a:solidFill>
                <a:latin typeface="Courier New"/>
                <a:ea typeface="Courier New"/>
                <a:cs typeface="Courier New"/>
              </a:rPr>
              <a:t>2</a:t>
            </a:r>
            <a:endParaRPr lang="en-US" sz="800"/>
          </a:p>
        </p:txBody>
      </p:sp>
      <p:sp>
        <p:nvSpPr>
          <p:cNvPr id="207742264" name="Text 7"/>
          <p:cNvSpPr/>
          <p:nvPr/>
        </p:nvSpPr>
        <p:spPr bwMode="auto">
          <a:xfrm>
            <a:off x="667512" y="1075667"/>
            <a:ext cx="8110728" cy="325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A8D8EA"/>
                </a:solidFill>
                <a:latin typeface="Courier New"/>
                <a:ea typeface="Courier New"/>
                <a:cs typeface="Courier New"/>
              </a:rPr>
              <a:t>  FROM vendeglatas_xml v,</a:t>
            </a:r>
            <a:endParaRPr lang="en-US" sz="950"/>
          </a:p>
        </p:txBody>
      </p:sp>
      <p:sp>
        <p:nvSpPr>
          <p:cNvPr id="106799898" name="Text 8"/>
          <p:cNvSpPr/>
          <p:nvPr/>
        </p:nvSpPr>
        <p:spPr bwMode="auto">
          <a:xfrm>
            <a:off x="320040" y="1401526"/>
            <a:ext cx="292608" cy="325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3A5A7A"/>
                </a:solidFill>
                <a:latin typeface="Courier New"/>
                <a:ea typeface="Courier New"/>
                <a:cs typeface="Courier New"/>
              </a:rPr>
              <a:t>3</a:t>
            </a:r>
            <a:endParaRPr lang="en-US" sz="800"/>
          </a:p>
        </p:txBody>
      </p:sp>
      <p:sp>
        <p:nvSpPr>
          <p:cNvPr id="1860814379" name="Shape 9"/>
          <p:cNvSpPr/>
          <p:nvPr/>
        </p:nvSpPr>
        <p:spPr bwMode="auto">
          <a:xfrm>
            <a:off x="612648" y="1401526"/>
            <a:ext cx="8211312" cy="325859"/>
          </a:xfrm>
          <a:prstGeom prst="rect">
            <a:avLst/>
          </a:prstGeom>
          <a:solidFill>
            <a:srgbClr val="1A4A3A"/>
          </a:solidFill>
          <a:ln/>
        </p:spPr>
      </p:sp>
      <p:sp>
        <p:nvSpPr>
          <p:cNvPr id="1726682998" name="Text 10"/>
          <p:cNvSpPr/>
          <p:nvPr/>
        </p:nvSpPr>
        <p:spPr bwMode="auto">
          <a:xfrm>
            <a:off x="667512" y="1401526"/>
            <a:ext cx="8110728" cy="325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00D4AA"/>
                </a:solidFill>
                <a:latin typeface="Courier New"/>
                <a:ea typeface="Courier New"/>
                <a:cs typeface="Courier New"/>
              </a:rPr>
              <a:t>       XMLTABLE(                              -- ① relációvá alakít</a:t>
            </a:r>
            <a:endParaRPr lang="en-US" sz="950"/>
          </a:p>
        </p:txBody>
      </p:sp>
      <p:sp>
        <p:nvSpPr>
          <p:cNvPr id="35687002" name="Text 11"/>
          <p:cNvSpPr/>
          <p:nvPr/>
        </p:nvSpPr>
        <p:spPr bwMode="auto">
          <a:xfrm>
            <a:off x="320040" y="1727385"/>
            <a:ext cx="292608" cy="325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3A5A7A"/>
                </a:solidFill>
                <a:latin typeface="Courier New"/>
                <a:ea typeface="Courier New"/>
                <a:cs typeface="Courier New"/>
              </a:rPr>
              <a:t>4</a:t>
            </a:r>
            <a:endParaRPr lang="en-US" sz="800"/>
          </a:p>
        </p:txBody>
      </p:sp>
      <p:sp>
        <p:nvSpPr>
          <p:cNvPr id="270061966" name="Shape 12"/>
          <p:cNvSpPr/>
          <p:nvPr/>
        </p:nvSpPr>
        <p:spPr bwMode="auto">
          <a:xfrm>
            <a:off x="612648" y="1727385"/>
            <a:ext cx="8211312" cy="325859"/>
          </a:xfrm>
          <a:prstGeom prst="rect">
            <a:avLst/>
          </a:prstGeom>
          <a:solidFill>
            <a:srgbClr val="1A4A3A"/>
          </a:solidFill>
          <a:ln/>
        </p:spPr>
      </p:sp>
      <p:sp>
        <p:nvSpPr>
          <p:cNvPr id="809788535" name="Text 13"/>
          <p:cNvSpPr/>
          <p:nvPr/>
        </p:nvSpPr>
        <p:spPr bwMode="auto">
          <a:xfrm>
            <a:off x="667512" y="1727385"/>
            <a:ext cx="8110728" cy="325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00D4AA"/>
                </a:solidFill>
                <a:latin typeface="Courier New"/>
                <a:ea typeface="Courier New"/>
                <a:cs typeface="Courier New"/>
              </a:rPr>
              <a:t>         '/vendeglatas/etterem'               -- ② XPath: melyik csomópont</a:t>
            </a:r>
            <a:endParaRPr lang="en-US" sz="950"/>
          </a:p>
        </p:txBody>
      </p:sp>
      <p:sp>
        <p:nvSpPr>
          <p:cNvPr id="438307395" name="Text 14"/>
          <p:cNvSpPr/>
          <p:nvPr/>
        </p:nvSpPr>
        <p:spPr bwMode="auto">
          <a:xfrm>
            <a:off x="320040" y="2053244"/>
            <a:ext cx="292608" cy="325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3A5A7A"/>
                </a:solidFill>
                <a:latin typeface="Courier New"/>
                <a:ea typeface="Courier New"/>
                <a:cs typeface="Courier New"/>
              </a:rPr>
              <a:t>5</a:t>
            </a:r>
            <a:endParaRPr lang="en-US" sz="800"/>
          </a:p>
        </p:txBody>
      </p:sp>
      <p:sp>
        <p:nvSpPr>
          <p:cNvPr id="1019522162" name="Shape 15"/>
          <p:cNvSpPr/>
          <p:nvPr/>
        </p:nvSpPr>
        <p:spPr bwMode="auto">
          <a:xfrm>
            <a:off x="612648" y="2053244"/>
            <a:ext cx="8211312" cy="325859"/>
          </a:xfrm>
          <a:prstGeom prst="rect">
            <a:avLst/>
          </a:prstGeom>
          <a:solidFill>
            <a:srgbClr val="1A4A3A"/>
          </a:solidFill>
          <a:ln/>
        </p:spPr>
      </p:sp>
      <p:sp>
        <p:nvSpPr>
          <p:cNvPr id="320236649" name="Text 16"/>
          <p:cNvSpPr/>
          <p:nvPr/>
        </p:nvSpPr>
        <p:spPr bwMode="auto">
          <a:xfrm>
            <a:off x="667512" y="2053244"/>
            <a:ext cx="8110728" cy="325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00D4AA"/>
                </a:solidFill>
                <a:latin typeface="Courier New"/>
                <a:ea typeface="Courier New"/>
                <a:cs typeface="Courier New"/>
              </a:rPr>
              <a:t>         PASSING v.adat                       -- ③ melyik XMLType oszlop</a:t>
            </a:r>
            <a:endParaRPr lang="en-US" sz="950"/>
          </a:p>
        </p:txBody>
      </p:sp>
      <p:sp>
        <p:nvSpPr>
          <p:cNvPr id="1396351995" name="Text 17"/>
          <p:cNvSpPr/>
          <p:nvPr/>
        </p:nvSpPr>
        <p:spPr bwMode="auto">
          <a:xfrm>
            <a:off x="320040" y="2379103"/>
            <a:ext cx="292608" cy="325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3A5A7A"/>
                </a:solidFill>
                <a:latin typeface="Courier New"/>
                <a:ea typeface="Courier New"/>
                <a:cs typeface="Courier New"/>
              </a:rPr>
              <a:t>6</a:t>
            </a:r>
            <a:endParaRPr lang="en-US" sz="800"/>
          </a:p>
        </p:txBody>
      </p:sp>
      <p:sp>
        <p:nvSpPr>
          <p:cNvPr id="1130100667" name="Shape 18"/>
          <p:cNvSpPr/>
          <p:nvPr/>
        </p:nvSpPr>
        <p:spPr bwMode="auto">
          <a:xfrm>
            <a:off x="612648" y="2379103"/>
            <a:ext cx="8211312" cy="325859"/>
          </a:xfrm>
          <a:prstGeom prst="rect">
            <a:avLst/>
          </a:prstGeom>
          <a:solidFill>
            <a:srgbClr val="1A4A3A"/>
          </a:solidFill>
          <a:ln/>
        </p:spPr>
      </p:sp>
      <p:sp>
        <p:nvSpPr>
          <p:cNvPr id="1012716395" name="Text 19"/>
          <p:cNvSpPr/>
          <p:nvPr/>
        </p:nvSpPr>
        <p:spPr bwMode="auto">
          <a:xfrm>
            <a:off x="667512" y="2379103"/>
            <a:ext cx="8110728" cy="325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00D4AA"/>
                </a:solidFill>
                <a:latin typeface="Courier New"/>
                <a:ea typeface="Courier New"/>
                <a:cs typeface="Courier New"/>
              </a:rPr>
              <a:t>         COLUMNS                              -- ④ oszlopdefiníciók</a:t>
            </a:r>
            <a:endParaRPr lang="en-US" sz="950"/>
          </a:p>
        </p:txBody>
      </p:sp>
      <p:sp>
        <p:nvSpPr>
          <p:cNvPr id="376113169" name="Text 20"/>
          <p:cNvSpPr/>
          <p:nvPr/>
        </p:nvSpPr>
        <p:spPr bwMode="auto">
          <a:xfrm>
            <a:off x="320040" y="2704961"/>
            <a:ext cx="292608" cy="325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3A5A7A"/>
                </a:solidFill>
                <a:latin typeface="Courier New"/>
                <a:ea typeface="Courier New"/>
                <a:cs typeface="Courier New"/>
              </a:rPr>
              <a:t>7</a:t>
            </a:r>
            <a:endParaRPr lang="en-US" sz="800"/>
          </a:p>
        </p:txBody>
      </p:sp>
      <p:sp>
        <p:nvSpPr>
          <p:cNvPr id="1424049456" name="Shape 21"/>
          <p:cNvSpPr/>
          <p:nvPr/>
        </p:nvSpPr>
        <p:spPr bwMode="auto">
          <a:xfrm>
            <a:off x="612648" y="2704961"/>
            <a:ext cx="8211312" cy="325859"/>
          </a:xfrm>
          <a:prstGeom prst="rect">
            <a:avLst/>
          </a:prstGeom>
          <a:solidFill>
            <a:srgbClr val="1A4A3A"/>
          </a:solidFill>
          <a:ln/>
        </p:spPr>
      </p:sp>
      <p:sp>
        <p:nvSpPr>
          <p:cNvPr id="1899777861" name="Text 22"/>
          <p:cNvSpPr/>
          <p:nvPr/>
        </p:nvSpPr>
        <p:spPr bwMode="auto">
          <a:xfrm>
            <a:off x="667512" y="2704961"/>
            <a:ext cx="8110728" cy="325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00D4AA"/>
                </a:solidFill>
                <a:latin typeface="Courier New"/>
                <a:ea typeface="Courier New"/>
                <a:cs typeface="Courier New"/>
              </a:rPr>
              <a:t>           ekod    VARCHAR2(10)  PATH '@ekod',-- ⑤ @ = attribútum</a:t>
            </a:r>
            <a:endParaRPr lang="en-US" sz="950"/>
          </a:p>
        </p:txBody>
      </p:sp>
      <p:sp>
        <p:nvSpPr>
          <p:cNvPr id="261786614" name="Text 23"/>
          <p:cNvSpPr/>
          <p:nvPr/>
        </p:nvSpPr>
        <p:spPr bwMode="auto">
          <a:xfrm>
            <a:off x="320040" y="3030820"/>
            <a:ext cx="292608" cy="325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3A5A7A"/>
                </a:solidFill>
                <a:latin typeface="Courier New"/>
                <a:ea typeface="Courier New"/>
                <a:cs typeface="Courier New"/>
              </a:rPr>
              <a:t>8</a:t>
            </a:r>
            <a:endParaRPr lang="en-US" sz="800"/>
          </a:p>
        </p:txBody>
      </p:sp>
      <p:sp>
        <p:nvSpPr>
          <p:cNvPr id="2016173242" name="Shape 24"/>
          <p:cNvSpPr/>
          <p:nvPr/>
        </p:nvSpPr>
        <p:spPr bwMode="auto">
          <a:xfrm>
            <a:off x="612648" y="3030820"/>
            <a:ext cx="8211312" cy="325859"/>
          </a:xfrm>
          <a:prstGeom prst="rect">
            <a:avLst/>
          </a:prstGeom>
          <a:solidFill>
            <a:srgbClr val="1A4A3A"/>
          </a:solidFill>
          <a:ln/>
        </p:spPr>
      </p:sp>
      <p:sp>
        <p:nvSpPr>
          <p:cNvPr id="1920818208" name="Text 25"/>
          <p:cNvSpPr/>
          <p:nvPr/>
        </p:nvSpPr>
        <p:spPr bwMode="auto">
          <a:xfrm>
            <a:off x="667512" y="3030820"/>
            <a:ext cx="8110728" cy="325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00D4AA"/>
                </a:solidFill>
                <a:latin typeface="Courier New"/>
                <a:ea typeface="Courier New"/>
                <a:cs typeface="Courier New"/>
              </a:rPr>
              <a:t>           nev     VARCHAR2(200) PATH 'nev',  -- ⑥ gyerekelem neve</a:t>
            </a:r>
            <a:endParaRPr lang="en-US" sz="950"/>
          </a:p>
        </p:txBody>
      </p:sp>
      <p:sp>
        <p:nvSpPr>
          <p:cNvPr id="51495852" name="Text 26"/>
          <p:cNvSpPr/>
          <p:nvPr/>
        </p:nvSpPr>
        <p:spPr bwMode="auto">
          <a:xfrm>
            <a:off x="320040" y="3356679"/>
            <a:ext cx="292608" cy="325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3A5A7A"/>
                </a:solidFill>
                <a:latin typeface="Courier New"/>
                <a:ea typeface="Courier New"/>
                <a:cs typeface="Courier New"/>
              </a:rPr>
              <a:t>9</a:t>
            </a:r>
            <a:endParaRPr lang="en-US" sz="800"/>
          </a:p>
        </p:txBody>
      </p:sp>
      <p:sp>
        <p:nvSpPr>
          <p:cNvPr id="54195366" name="Shape 27"/>
          <p:cNvSpPr/>
          <p:nvPr/>
        </p:nvSpPr>
        <p:spPr bwMode="auto">
          <a:xfrm>
            <a:off x="612648" y="3356679"/>
            <a:ext cx="8211312" cy="325859"/>
          </a:xfrm>
          <a:prstGeom prst="rect">
            <a:avLst/>
          </a:prstGeom>
          <a:solidFill>
            <a:srgbClr val="1A4A3A"/>
          </a:solidFill>
          <a:ln/>
        </p:spPr>
      </p:sp>
      <p:sp>
        <p:nvSpPr>
          <p:cNvPr id="1566635565" name="Text 28"/>
          <p:cNvSpPr/>
          <p:nvPr/>
        </p:nvSpPr>
        <p:spPr bwMode="auto">
          <a:xfrm>
            <a:off x="667512" y="3356679"/>
            <a:ext cx="8110728" cy="325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00D4AA"/>
                </a:solidFill>
                <a:latin typeface="Courier New"/>
                <a:ea typeface="Courier New"/>
                <a:cs typeface="Courier New"/>
              </a:rPr>
              <a:t>           varos   VARCHAR2(100) PATH 'cim/varos', -- ⑦ beágyazott</a:t>
            </a:r>
            <a:endParaRPr lang="en-US" sz="950"/>
          </a:p>
        </p:txBody>
      </p:sp>
      <p:sp>
        <p:nvSpPr>
          <p:cNvPr id="1757325358" name="Text 29"/>
          <p:cNvSpPr/>
          <p:nvPr/>
        </p:nvSpPr>
        <p:spPr bwMode="auto">
          <a:xfrm>
            <a:off x="320040" y="3682538"/>
            <a:ext cx="292608" cy="325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3A5A7A"/>
                </a:solidFill>
                <a:latin typeface="Courier New"/>
                <a:ea typeface="Courier New"/>
                <a:cs typeface="Courier New"/>
              </a:rPr>
              <a:t>10</a:t>
            </a:r>
            <a:endParaRPr lang="en-US" sz="800"/>
          </a:p>
        </p:txBody>
      </p:sp>
      <p:sp>
        <p:nvSpPr>
          <p:cNvPr id="1825582149" name="Text 30"/>
          <p:cNvSpPr/>
          <p:nvPr/>
        </p:nvSpPr>
        <p:spPr bwMode="auto">
          <a:xfrm>
            <a:off x="667512" y="3682538"/>
            <a:ext cx="8110728" cy="325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A8D8EA"/>
                </a:solidFill>
                <a:latin typeface="Courier New"/>
                <a:ea typeface="Courier New"/>
                <a:cs typeface="Courier New"/>
              </a:rPr>
              <a:t>           csillag NUMBER        PATH 'csillag'</a:t>
            </a:r>
            <a:endParaRPr lang="en-US" sz="950"/>
          </a:p>
        </p:txBody>
      </p:sp>
      <p:sp>
        <p:nvSpPr>
          <p:cNvPr id="1099969858" name="Text 31"/>
          <p:cNvSpPr/>
          <p:nvPr/>
        </p:nvSpPr>
        <p:spPr bwMode="auto">
          <a:xfrm>
            <a:off x="320040" y="4008397"/>
            <a:ext cx="292608" cy="325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3A5A7A"/>
                </a:solidFill>
                <a:latin typeface="Courier New"/>
                <a:ea typeface="Courier New"/>
                <a:cs typeface="Courier New"/>
              </a:rPr>
              <a:t>11</a:t>
            </a:r>
            <a:endParaRPr lang="en-US" sz="800"/>
          </a:p>
        </p:txBody>
      </p:sp>
      <p:sp>
        <p:nvSpPr>
          <p:cNvPr id="823770526" name="Text 32"/>
          <p:cNvSpPr/>
          <p:nvPr/>
        </p:nvSpPr>
        <p:spPr bwMode="auto">
          <a:xfrm>
            <a:off x="667512" y="4008397"/>
            <a:ext cx="8110728" cy="325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A8D8EA"/>
                </a:solidFill>
                <a:latin typeface="Courier New"/>
                <a:ea typeface="Courier New"/>
                <a:cs typeface="Courier New"/>
              </a:rPr>
              <a:t>       ) x;                                  -- ⑧ alias a virtuális táblának</a:t>
            </a:r>
            <a:endParaRPr lang="en-US" sz="950"/>
          </a:p>
        </p:txBody>
      </p:sp>
      <p:sp>
        <p:nvSpPr>
          <p:cNvPr id="2081040746" name="Shape 45"/>
          <p:cNvSpPr/>
          <p:nvPr/>
        </p:nvSpPr>
        <p:spPr bwMode="auto">
          <a:xfrm>
            <a:off x="0" y="5065776"/>
            <a:ext cx="9144000" cy="73152"/>
          </a:xfrm>
          <a:prstGeom prst="rect">
            <a:avLst/>
          </a:prstGeom>
          <a:solidFill>
            <a:srgbClr val="00D4AA"/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6">
    <p:bg>
      <p:bgPr shadeToTitle="0">
        <a:solidFill>
          <a:srgbClr val="0A162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6626659" name="Shape 0"/>
          <p:cNvSpPr/>
          <p:nvPr/>
        </p:nvSpPr>
        <p:spPr bwMode="auto">
          <a:xfrm>
            <a:off x="0" y="0"/>
            <a:ext cx="9144000" cy="73152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1416238997" name="Text 1"/>
          <p:cNvSpPr/>
          <p:nvPr/>
        </p:nvSpPr>
        <p:spPr bwMode="auto">
          <a:xfrm>
            <a:off x="457200" y="1097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3b. Szűrés és JOIN XMLTABLE-lel</a:t>
            </a:r>
            <a:endParaRPr lang="en-US" sz="2600"/>
          </a:p>
        </p:txBody>
      </p:sp>
      <p:sp>
        <p:nvSpPr>
          <p:cNvPr id="341108733" name="Text 2"/>
          <p:cNvSpPr/>
          <p:nvPr/>
        </p:nvSpPr>
        <p:spPr bwMode="auto">
          <a:xfrm>
            <a:off x="320040" y="71323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00A8E8"/>
                </a:solidFill>
                <a:latin typeface="Trebuchet MS"/>
                <a:ea typeface="Trebuchet MS"/>
                <a:cs typeface="Trebuchet MS"/>
              </a:rPr>
              <a:t>Szűrés </a:t>
            </a:r>
            <a:endParaRPr lang="en-US" sz="1300"/>
          </a:p>
        </p:txBody>
      </p:sp>
      <p:sp>
        <p:nvSpPr>
          <p:cNvPr id="223000227" name="Shape 3"/>
          <p:cNvSpPr/>
          <p:nvPr/>
        </p:nvSpPr>
        <p:spPr bwMode="auto">
          <a:xfrm>
            <a:off x="320040" y="1024128"/>
            <a:ext cx="4114800" cy="3840480"/>
          </a:xfrm>
          <a:prstGeom prst="rect">
            <a:avLst/>
          </a:prstGeom>
          <a:solidFill>
            <a:srgbClr val="1E2D3D"/>
          </a:solidFill>
          <a:ln/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921538324" name="Shape 4"/>
          <p:cNvSpPr/>
          <p:nvPr/>
        </p:nvSpPr>
        <p:spPr bwMode="auto">
          <a:xfrm>
            <a:off x="320040" y="1024128"/>
            <a:ext cx="292608" cy="3840480"/>
          </a:xfrm>
          <a:prstGeom prst="rect">
            <a:avLst/>
          </a:prstGeom>
          <a:solidFill>
            <a:srgbClr val="0D2233"/>
          </a:solidFill>
          <a:ln/>
        </p:spPr>
      </p:sp>
      <p:sp>
        <p:nvSpPr>
          <p:cNvPr id="1339544949" name="Text 5"/>
          <p:cNvSpPr/>
          <p:nvPr/>
        </p:nvSpPr>
        <p:spPr bwMode="auto">
          <a:xfrm>
            <a:off x="320040" y="1024128"/>
            <a:ext cx="29260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3A5A7A"/>
                </a:solidFill>
                <a:latin typeface="Courier New"/>
                <a:ea typeface="Courier New"/>
                <a:cs typeface="Courier New"/>
              </a:rPr>
              <a:t>1</a:t>
            </a:r>
            <a:endParaRPr lang="en-US" sz="800"/>
          </a:p>
        </p:txBody>
      </p:sp>
      <p:sp>
        <p:nvSpPr>
          <p:cNvPr id="953786323" name="Text 6"/>
          <p:cNvSpPr/>
          <p:nvPr/>
        </p:nvSpPr>
        <p:spPr bwMode="auto">
          <a:xfrm>
            <a:off x="667512" y="1024128"/>
            <a:ext cx="372160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A8D8EA"/>
                </a:solidFill>
                <a:latin typeface="Courier New"/>
                <a:ea typeface="Courier New"/>
                <a:cs typeface="Courier New"/>
              </a:rPr>
              <a:t>SELECT x.ekod,</a:t>
            </a:r>
            <a:endParaRPr lang="en-US" sz="950"/>
          </a:p>
        </p:txBody>
      </p:sp>
      <p:sp>
        <p:nvSpPr>
          <p:cNvPr id="805147798" name="Text 7"/>
          <p:cNvSpPr/>
          <p:nvPr/>
        </p:nvSpPr>
        <p:spPr bwMode="auto">
          <a:xfrm>
            <a:off x="320040" y="1264158"/>
            <a:ext cx="29260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3A5A7A"/>
                </a:solidFill>
                <a:latin typeface="Courier New"/>
                <a:ea typeface="Courier New"/>
                <a:cs typeface="Courier New"/>
              </a:rPr>
              <a:t>2</a:t>
            </a:r>
            <a:endParaRPr lang="en-US" sz="800"/>
          </a:p>
        </p:txBody>
      </p:sp>
      <p:sp>
        <p:nvSpPr>
          <p:cNvPr id="2081386386" name="Text 8"/>
          <p:cNvSpPr/>
          <p:nvPr/>
        </p:nvSpPr>
        <p:spPr bwMode="auto">
          <a:xfrm>
            <a:off x="667512" y="1264158"/>
            <a:ext cx="372160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A8D8EA"/>
                </a:solidFill>
                <a:latin typeface="Courier New"/>
                <a:ea typeface="Courier New"/>
                <a:cs typeface="Courier New"/>
              </a:rPr>
              <a:t>       x.nev,</a:t>
            </a:r>
            <a:endParaRPr lang="en-US" sz="950"/>
          </a:p>
        </p:txBody>
      </p:sp>
      <p:sp>
        <p:nvSpPr>
          <p:cNvPr id="1200919026" name="Text 9"/>
          <p:cNvSpPr/>
          <p:nvPr/>
        </p:nvSpPr>
        <p:spPr bwMode="auto">
          <a:xfrm>
            <a:off x="320040" y="1504188"/>
            <a:ext cx="29260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3A5A7A"/>
                </a:solidFill>
                <a:latin typeface="Courier New"/>
                <a:ea typeface="Courier New"/>
                <a:cs typeface="Courier New"/>
              </a:rPr>
              <a:t>3</a:t>
            </a:r>
            <a:endParaRPr lang="en-US" sz="800"/>
          </a:p>
        </p:txBody>
      </p:sp>
      <p:sp>
        <p:nvSpPr>
          <p:cNvPr id="1216820119" name="Text 10"/>
          <p:cNvSpPr/>
          <p:nvPr/>
        </p:nvSpPr>
        <p:spPr bwMode="auto">
          <a:xfrm>
            <a:off x="667512" y="1504188"/>
            <a:ext cx="372160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A8D8EA"/>
                </a:solidFill>
                <a:latin typeface="Courier New"/>
                <a:ea typeface="Courier New"/>
                <a:cs typeface="Courier New"/>
              </a:rPr>
              <a:t>       x.csillag</a:t>
            </a:r>
            <a:endParaRPr lang="en-US" sz="950"/>
          </a:p>
        </p:txBody>
      </p:sp>
      <p:sp>
        <p:nvSpPr>
          <p:cNvPr id="1392993898" name="Text 11"/>
          <p:cNvSpPr/>
          <p:nvPr/>
        </p:nvSpPr>
        <p:spPr bwMode="auto">
          <a:xfrm>
            <a:off x="320040" y="1744218"/>
            <a:ext cx="29260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3A5A7A"/>
                </a:solidFill>
                <a:latin typeface="Courier New"/>
                <a:ea typeface="Courier New"/>
                <a:cs typeface="Courier New"/>
              </a:rPr>
              <a:t>4</a:t>
            </a:r>
            <a:endParaRPr lang="en-US" sz="800"/>
          </a:p>
        </p:txBody>
      </p:sp>
      <p:sp>
        <p:nvSpPr>
          <p:cNvPr id="189574617" name="Text 12"/>
          <p:cNvSpPr/>
          <p:nvPr/>
        </p:nvSpPr>
        <p:spPr bwMode="auto">
          <a:xfrm>
            <a:off x="667512" y="1744218"/>
            <a:ext cx="372160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A8D8EA"/>
                </a:solidFill>
                <a:latin typeface="Courier New"/>
                <a:ea typeface="Courier New"/>
                <a:cs typeface="Courier New"/>
              </a:rPr>
              <a:t>  FROM vendeglatas_xml v,</a:t>
            </a:r>
            <a:endParaRPr lang="en-US" sz="950"/>
          </a:p>
        </p:txBody>
      </p:sp>
      <p:sp>
        <p:nvSpPr>
          <p:cNvPr id="1149785040" name="Text 13"/>
          <p:cNvSpPr/>
          <p:nvPr/>
        </p:nvSpPr>
        <p:spPr bwMode="auto">
          <a:xfrm>
            <a:off x="320040" y="1984248"/>
            <a:ext cx="29260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3A5A7A"/>
                </a:solidFill>
                <a:latin typeface="Courier New"/>
                <a:ea typeface="Courier New"/>
                <a:cs typeface="Courier New"/>
              </a:rPr>
              <a:t>5</a:t>
            </a:r>
            <a:endParaRPr lang="en-US" sz="800"/>
          </a:p>
        </p:txBody>
      </p:sp>
      <p:sp>
        <p:nvSpPr>
          <p:cNvPr id="2045913180" name="Text 14"/>
          <p:cNvSpPr/>
          <p:nvPr/>
        </p:nvSpPr>
        <p:spPr bwMode="auto">
          <a:xfrm>
            <a:off x="667512" y="1984248"/>
            <a:ext cx="372160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A8D8EA"/>
                </a:solidFill>
                <a:latin typeface="Courier New"/>
                <a:ea typeface="Courier New"/>
                <a:cs typeface="Courier New"/>
              </a:rPr>
              <a:t>  XMLTABLE(</a:t>
            </a:r>
            <a:endParaRPr lang="en-US" sz="950"/>
          </a:p>
        </p:txBody>
      </p:sp>
      <p:sp>
        <p:nvSpPr>
          <p:cNvPr id="1222401949" name="Text 15"/>
          <p:cNvSpPr/>
          <p:nvPr/>
        </p:nvSpPr>
        <p:spPr bwMode="auto">
          <a:xfrm>
            <a:off x="320040" y="2224278"/>
            <a:ext cx="29260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3A5A7A"/>
                </a:solidFill>
                <a:latin typeface="Courier New"/>
                <a:ea typeface="Courier New"/>
                <a:cs typeface="Courier New"/>
              </a:rPr>
              <a:t>6</a:t>
            </a:r>
            <a:endParaRPr lang="en-US" sz="800"/>
          </a:p>
        </p:txBody>
      </p:sp>
      <p:sp>
        <p:nvSpPr>
          <p:cNvPr id="885386290" name="Text 16"/>
          <p:cNvSpPr/>
          <p:nvPr/>
        </p:nvSpPr>
        <p:spPr bwMode="auto">
          <a:xfrm>
            <a:off x="667512" y="2224278"/>
            <a:ext cx="372160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A8D8EA"/>
                </a:solidFill>
                <a:latin typeface="Courier New"/>
                <a:ea typeface="Courier New"/>
                <a:cs typeface="Courier New"/>
              </a:rPr>
              <a:t>  '/vendeglatas/etterem'</a:t>
            </a:r>
            <a:endParaRPr lang="en-US" sz="950"/>
          </a:p>
        </p:txBody>
      </p:sp>
      <p:sp>
        <p:nvSpPr>
          <p:cNvPr id="2056425708" name="Text 17"/>
          <p:cNvSpPr/>
          <p:nvPr/>
        </p:nvSpPr>
        <p:spPr bwMode="auto">
          <a:xfrm>
            <a:off x="320040" y="2464308"/>
            <a:ext cx="29260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3A5A7A"/>
                </a:solidFill>
                <a:latin typeface="Courier New"/>
                <a:ea typeface="Courier New"/>
                <a:cs typeface="Courier New"/>
              </a:rPr>
              <a:t>7</a:t>
            </a:r>
            <a:endParaRPr lang="en-US" sz="800"/>
          </a:p>
        </p:txBody>
      </p:sp>
      <p:sp>
        <p:nvSpPr>
          <p:cNvPr id="1394217517" name="Text 18"/>
          <p:cNvSpPr/>
          <p:nvPr/>
        </p:nvSpPr>
        <p:spPr bwMode="auto">
          <a:xfrm>
            <a:off x="667512" y="2464308"/>
            <a:ext cx="372160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A8D8EA"/>
                </a:solidFill>
                <a:latin typeface="Courier New"/>
                <a:ea typeface="Courier New"/>
                <a:cs typeface="Courier New"/>
              </a:rPr>
              <a:t>   PASSING v.adat</a:t>
            </a:r>
            <a:endParaRPr lang="en-US" sz="950"/>
          </a:p>
        </p:txBody>
      </p:sp>
      <p:sp>
        <p:nvSpPr>
          <p:cNvPr id="1785501036" name="Text 19"/>
          <p:cNvSpPr/>
          <p:nvPr/>
        </p:nvSpPr>
        <p:spPr bwMode="auto">
          <a:xfrm>
            <a:off x="320040" y="2704338"/>
            <a:ext cx="29260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3A5A7A"/>
                </a:solidFill>
                <a:latin typeface="Courier New"/>
                <a:ea typeface="Courier New"/>
                <a:cs typeface="Courier New"/>
              </a:rPr>
              <a:t>8</a:t>
            </a:r>
            <a:endParaRPr lang="en-US" sz="800"/>
          </a:p>
        </p:txBody>
      </p:sp>
      <p:sp>
        <p:nvSpPr>
          <p:cNvPr id="336692265" name="Text 20"/>
          <p:cNvSpPr/>
          <p:nvPr/>
        </p:nvSpPr>
        <p:spPr bwMode="auto">
          <a:xfrm>
            <a:off x="667512" y="2704338"/>
            <a:ext cx="372160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A8D8EA"/>
                </a:solidFill>
                <a:latin typeface="Courier New"/>
                <a:ea typeface="Courier New"/>
                <a:cs typeface="Courier New"/>
              </a:rPr>
              <a:t>   COLUMNS</a:t>
            </a:r>
            <a:endParaRPr lang="en-US" sz="950"/>
          </a:p>
        </p:txBody>
      </p:sp>
      <p:sp>
        <p:nvSpPr>
          <p:cNvPr id="1044180826" name="Text 21"/>
          <p:cNvSpPr/>
          <p:nvPr/>
        </p:nvSpPr>
        <p:spPr bwMode="auto">
          <a:xfrm>
            <a:off x="320040" y="2944368"/>
            <a:ext cx="29260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3A5A7A"/>
                </a:solidFill>
                <a:latin typeface="Courier New"/>
                <a:ea typeface="Courier New"/>
                <a:cs typeface="Courier New"/>
              </a:rPr>
              <a:t>9</a:t>
            </a:r>
            <a:endParaRPr lang="en-US" sz="800"/>
          </a:p>
        </p:txBody>
      </p:sp>
      <p:sp>
        <p:nvSpPr>
          <p:cNvPr id="1681694983" name="Text 22"/>
          <p:cNvSpPr/>
          <p:nvPr/>
        </p:nvSpPr>
        <p:spPr bwMode="auto">
          <a:xfrm>
            <a:off x="667512" y="2944368"/>
            <a:ext cx="372160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A8D8EA"/>
                </a:solidFill>
                <a:latin typeface="Courier New"/>
                <a:ea typeface="Courier New"/>
                <a:cs typeface="Courier New"/>
              </a:rPr>
              <a:t>     ekod    VARCHAR2(10)</a:t>
            </a:r>
            <a:endParaRPr lang="en-US" sz="950"/>
          </a:p>
        </p:txBody>
      </p:sp>
      <p:sp>
        <p:nvSpPr>
          <p:cNvPr id="1062737041" name="Text 23"/>
          <p:cNvSpPr/>
          <p:nvPr/>
        </p:nvSpPr>
        <p:spPr bwMode="auto">
          <a:xfrm>
            <a:off x="320040" y="3184398"/>
            <a:ext cx="29260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3A5A7A"/>
                </a:solidFill>
                <a:latin typeface="Courier New"/>
                <a:ea typeface="Courier New"/>
                <a:cs typeface="Courier New"/>
              </a:rPr>
              <a:t>10</a:t>
            </a:r>
            <a:endParaRPr lang="en-US" sz="800"/>
          </a:p>
        </p:txBody>
      </p:sp>
      <p:sp>
        <p:nvSpPr>
          <p:cNvPr id="1034690066" name="Text 24"/>
          <p:cNvSpPr/>
          <p:nvPr/>
        </p:nvSpPr>
        <p:spPr bwMode="auto">
          <a:xfrm>
            <a:off x="667512" y="3184398"/>
            <a:ext cx="372160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A8D8EA"/>
                </a:solidFill>
                <a:latin typeface="Courier New"/>
                <a:ea typeface="Courier New"/>
                <a:cs typeface="Courier New"/>
              </a:rPr>
              <a:t>              PATH '@ekod',</a:t>
            </a:r>
            <a:endParaRPr lang="en-US" sz="950"/>
          </a:p>
        </p:txBody>
      </p:sp>
      <p:sp>
        <p:nvSpPr>
          <p:cNvPr id="938806734" name="Text 25"/>
          <p:cNvSpPr/>
          <p:nvPr/>
        </p:nvSpPr>
        <p:spPr bwMode="auto">
          <a:xfrm>
            <a:off x="320040" y="3424428"/>
            <a:ext cx="29260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3A5A7A"/>
                </a:solidFill>
                <a:latin typeface="Courier New"/>
                <a:ea typeface="Courier New"/>
                <a:cs typeface="Courier New"/>
              </a:rPr>
              <a:t>11</a:t>
            </a:r>
            <a:endParaRPr lang="en-US" sz="800"/>
          </a:p>
        </p:txBody>
      </p:sp>
      <p:sp>
        <p:nvSpPr>
          <p:cNvPr id="2116502804" name="Text 26"/>
          <p:cNvSpPr/>
          <p:nvPr/>
        </p:nvSpPr>
        <p:spPr bwMode="auto">
          <a:xfrm>
            <a:off x="667512" y="3424428"/>
            <a:ext cx="372160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A8D8EA"/>
                </a:solidFill>
                <a:latin typeface="Courier New"/>
                <a:ea typeface="Courier New"/>
                <a:cs typeface="Courier New"/>
              </a:rPr>
              <a:t>     nev     VARCHAR2(200)</a:t>
            </a:r>
            <a:endParaRPr lang="en-US" sz="950"/>
          </a:p>
        </p:txBody>
      </p:sp>
      <p:sp>
        <p:nvSpPr>
          <p:cNvPr id="819352379" name="Text 27"/>
          <p:cNvSpPr/>
          <p:nvPr/>
        </p:nvSpPr>
        <p:spPr bwMode="auto">
          <a:xfrm>
            <a:off x="320040" y="3664458"/>
            <a:ext cx="29260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3A5A7A"/>
                </a:solidFill>
                <a:latin typeface="Courier New"/>
                <a:ea typeface="Courier New"/>
                <a:cs typeface="Courier New"/>
              </a:rPr>
              <a:t>12</a:t>
            </a:r>
            <a:endParaRPr lang="en-US" sz="800"/>
          </a:p>
        </p:txBody>
      </p:sp>
      <p:sp>
        <p:nvSpPr>
          <p:cNvPr id="1195255989" name="Text 28"/>
          <p:cNvSpPr/>
          <p:nvPr/>
        </p:nvSpPr>
        <p:spPr bwMode="auto">
          <a:xfrm>
            <a:off x="667512" y="3664458"/>
            <a:ext cx="372160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A8D8EA"/>
                </a:solidFill>
                <a:latin typeface="Courier New"/>
                <a:ea typeface="Courier New"/>
                <a:cs typeface="Courier New"/>
              </a:rPr>
              <a:t>              PATH 'nev',</a:t>
            </a:r>
            <a:endParaRPr lang="en-US" sz="950"/>
          </a:p>
        </p:txBody>
      </p:sp>
      <p:sp>
        <p:nvSpPr>
          <p:cNvPr id="1642378725" name="Text 29"/>
          <p:cNvSpPr/>
          <p:nvPr/>
        </p:nvSpPr>
        <p:spPr bwMode="auto">
          <a:xfrm>
            <a:off x="320040" y="3904488"/>
            <a:ext cx="29260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3A5A7A"/>
                </a:solidFill>
                <a:latin typeface="Courier New"/>
                <a:ea typeface="Courier New"/>
                <a:cs typeface="Courier New"/>
              </a:rPr>
              <a:t>13</a:t>
            </a:r>
            <a:endParaRPr lang="en-US" sz="800"/>
          </a:p>
        </p:txBody>
      </p:sp>
      <p:sp>
        <p:nvSpPr>
          <p:cNvPr id="373891272" name="Text 30"/>
          <p:cNvSpPr/>
          <p:nvPr/>
        </p:nvSpPr>
        <p:spPr bwMode="auto">
          <a:xfrm>
            <a:off x="667512" y="3904488"/>
            <a:ext cx="372160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A8D8EA"/>
                </a:solidFill>
                <a:latin typeface="Courier New"/>
                <a:ea typeface="Courier New"/>
                <a:cs typeface="Courier New"/>
              </a:rPr>
              <a:t>     csillag NUMBER</a:t>
            </a:r>
            <a:endParaRPr lang="en-US" sz="950"/>
          </a:p>
        </p:txBody>
      </p:sp>
      <p:sp>
        <p:nvSpPr>
          <p:cNvPr id="422837459" name="Text 31"/>
          <p:cNvSpPr/>
          <p:nvPr/>
        </p:nvSpPr>
        <p:spPr bwMode="auto">
          <a:xfrm>
            <a:off x="320040" y="4144518"/>
            <a:ext cx="29260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3A5A7A"/>
                </a:solidFill>
                <a:latin typeface="Courier New"/>
                <a:ea typeface="Courier New"/>
                <a:cs typeface="Courier New"/>
              </a:rPr>
              <a:t>14</a:t>
            </a:r>
            <a:endParaRPr lang="en-US" sz="800"/>
          </a:p>
        </p:txBody>
      </p:sp>
      <p:sp>
        <p:nvSpPr>
          <p:cNvPr id="551860310" name="Text 32"/>
          <p:cNvSpPr/>
          <p:nvPr/>
        </p:nvSpPr>
        <p:spPr bwMode="auto">
          <a:xfrm>
            <a:off x="667512" y="4144518"/>
            <a:ext cx="372160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A8D8EA"/>
                </a:solidFill>
                <a:latin typeface="Courier New"/>
                <a:ea typeface="Courier New"/>
                <a:cs typeface="Courier New"/>
              </a:rPr>
              <a:t>              PATH 'csillag'</a:t>
            </a:r>
            <a:endParaRPr lang="en-US" sz="950"/>
          </a:p>
        </p:txBody>
      </p:sp>
      <p:sp>
        <p:nvSpPr>
          <p:cNvPr id="16759863" name="Text 33"/>
          <p:cNvSpPr/>
          <p:nvPr/>
        </p:nvSpPr>
        <p:spPr bwMode="auto">
          <a:xfrm>
            <a:off x="320040" y="4384548"/>
            <a:ext cx="29260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3A5A7A"/>
                </a:solidFill>
                <a:latin typeface="Courier New"/>
                <a:ea typeface="Courier New"/>
                <a:cs typeface="Courier New"/>
              </a:rPr>
              <a:t>15</a:t>
            </a:r>
            <a:endParaRPr lang="en-US" sz="800"/>
          </a:p>
        </p:txBody>
      </p:sp>
      <p:sp>
        <p:nvSpPr>
          <p:cNvPr id="1509377473" name="Text 34"/>
          <p:cNvSpPr/>
          <p:nvPr/>
        </p:nvSpPr>
        <p:spPr bwMode="auto">
          <a:xfrm>
            <a:off x="667512" y="4384548"/>
            <a:ext cx="372160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A8D8EA"/>
                </a:solidFill>
                <a:latin typeface="Courier New"/>
                <a:ea typeface="Courier New"/>
                <a:cs typeface="Courier New"/>
              </a:rPr>
              <a:t>  ) x</a:t>
            </a:r>
            <a:endParaRPr lang="en-US" sz="950"/>
          </a:p>
        </p:txBody>
      </p:sp>
      <p:sp>
        <p:nvSpPr>
          <p:cNvPr id="407033021" name="Text 35"/>
          <p:cNvSpPr/>
          <p:nvPr/>
        </p:nvSpPr>
        <p:spPr bwMode="auto">
          <a:xfrm>
            <a:off x="320040" y="4624578"/>
            <a:ext cx="29260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3A5A7A"/>
                </a:solidFill>
                <a:latin typeface="Courier New"/>
                <a:ea typeface="Courier New"/>
                <a:cs typeface="Courier New"/>
              </a:rPr>
              <a:t>16</a:t>
            </a:r>
            <a:endParaRPr lang="en-US" sz="800"/>
          </a:p>
        </p:txBody>
      </p:sp>
      <p:sp>
        <p:nvSpPr>
          <p:cNvPr id="2021900327" name="Shape 36"/>
          <p:cNvSpPr/>
          <p:nvPr/>
        </p:nvSpPr>
        <p:spPr bwMode="auto">
          <a:xfrm>
            <a:off x="612648" y="4624578"/>
            <a:ext cx="3822192" cy="240030"/>
          </a:xfrm>
          <a:prstGeom prst="rect">
            <a:avLst/>
          </a:prstGeom>
          <a:solidFill>
            <a:srgbClr val="1A4A3A"/>
          </a:solidFill>
          <a:ln/>
        </p:spPr>
      </p:sp>
      <p:sp>
        <p:nvSpPr>
          <p:cNvPr id="2033289260" name="Text 37"/>
          <p:cNvSpPr/>
          <p:nvPr/>
        </p:nvSpPr>
        <p:spPr bwMode="auto">
          <a:xfrm>
            <a:off x="667512" y="4624578"/>
            <a:ext cx="372160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00D4AA"/>
                </a:solidFill>
                <a:latin typeface="Courier New"/>
                <a:ea typeface="Courier New"/>
                <a:cs typeface="Courier New"/>
              </a:rPr>
              <a:t> WHERE x.csillag = 5; -- ← szűrés!</a:t>
            </a:r>
            <a:endParaRPr lang="en-US" sz="950"/>
          </a:p>
        </p:txBody>
      </p:sp>
      <p:sp>
        <p:nvSpPr>
          <p:cNvPr id="3916591" name="Text 38"/>
          <p:cNvSpPr/>
          <p:nvPr/>
        </p:nvSpPr>
        <p:spPr bwMode="auto">
          <a:xfrm>
            <a:off x="4709160" y="71323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00D4AA"/>
                </a:solidFill>
                <a:latin typeface="Trebuchet MS"/>
                <a:ea typeface="Trebuchet MS"/>
                <a:cs typeface="Trebuchet MS"/>
              </a:rPr>
              <a:t>JOIN</a:t>
            </a:r>
            <a:endParaRPr lang="en-US" sz="1300"/>
          </a:p>
        </p:txBody>
      </p:sp>
      <p:sp>
        <p:nvSpPr>
          <p:cNvPr id="757060020" name="Shape 39"/>
          <p:cNvSpPr/>
          <p:nvPr/>
        </p:nvSpPr>
        <p:spPr bwMode="auto">
          <a:xfrm>
            <a:off x="4709160" y="1024128"/>
            <a:ext cx="4114800" cy="3840480"/>
          </a:xfrm>
          <a:prstGeom prst="rect">
            <a:avLst/>
          </a:prstGeom>
          <a:solidFill>
            <a:srgbClr val="1E2D3D"/>
          </a:solidFill>
          <a:ln/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1737088970" name="Shape 40"/>
          <p:cNvSpPr/>
          <p:nvPr/>
        </p:nvSpPr>
        <p:spPr bwMode="auto">
          <a:xfrm>
            <a:off x="4709160" y="1024128"/>
            <a:ext cx="292608" cy="3840480"/>
          </a:xfrm>
          <a:prstGeom prst="rect">
            <a:avLst/>
          </a:prstGeom>
          <a:solidFill>
            <a:srgbClr val="0D2233"/>
          </a:solidFill>
          <a:ln/>
        </p:spPr>
      </p:sp>
      <p:sp>
        <p:nvSpPr>
          <p:cNvPr id="69940758" name="Text 41"/>
          <p:cNvSpPr/>
          <p:nvPr/>
        </p:nvSpPr>
        <p:spPr bwMode="auto">
          <a:xfrm>
            <a:off x="4709160" y="1024128"/>
            <a:ext cx="29260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3A5A7A"/>
                </a:solidFill>
                <a:latin typeface="Courier New"/>
                <a:ea typeface="Courier New"/>
                <a:cs typeface="Courier New"/>
              </a:rPr>
              <a:t>1</a:t>
            </a:r>
            <a:endParaRPr lang="en-US" sz="800"/>
          </a:p>
        </p:txBody>
      </p:sp>
      <p:sp>
        <p:nvSpPr>
          <p:cNvPr id="746691295" name="Text 42"/>
          <p:cNvSpPr/>
          <p:nvPr/>
        </p:nvSpPr>
        <p:spPr bwMode="auto">
          <a:xfrm>
            <a:off x="5056632" y="1024128"/>
            <a:ext cx="372160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A8D8EA"/>
                </a:solidFill>
                <a:latin typeface="Courier New"/>
                <a:ea typeface="Courier New"/>
                <a:cs typeface="Courier New"/>
              </a:rPr>
              <a:t>SELECT sz.nev,</a:t>
            </a:r>
            <a:endParaRPr lang="en-US" sz="950"/>
          </a:p>
        </p:txBody>
      </p:sp>
      <p:sp>
        <p:nvSpPr>
          <p:cNvPr id="417820363" name="Text 43"/>
          <p:cNvSpPr/>
          <p:nvPr/>
        </p:nvSpPr>
        <p:spPr bwMode="auto">
          <a:xfrm>
            <a:off x="4709160" y="1264158"/>
            <a:ext cx="29260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3A5A7A"/>
                </a:solidFill>
                <a:latin typeface="Courier New"/>
                <a:ea typeface="Courier New"/>
                <a:cs typeface="Courier New"/>
              </a:rPr>
              <a:t>2</a:t>
            </a:r>
            <a:endParaRPr lang="en-US" sz="800"/>
          </a:p>
        </p:txBody>
      </p:sp>
      <p:sp>
        <p:nvSpPr>
          <p:cNvPr id="1073863438" name="Text 44"/>
          <p:cNvSpPr/>
          <p:nvPr/>
        </p:nvSpPr>
        <p:spPr bwMode="auto">
          <a:xfrm>
            <a:off x="5056632" y="1264158"/>
            <a:ext cx="372160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A8D8EA"/>
                </a:solidFill>
                <a:latin typeface="Courier New"/>
                <a:ea typeface="Courier New"/>
                <a:cs typeface="Courier New"/>
              </a:rPr>
              <a:t>       e.nev AS etterem</a:t>
            </a:r>
            <a:endParaRPr lang="en-US" sz="950"/>
          </a:p>
        </p:txBody>
      </p:sp>
      <p:sp>
        <p:nvSpPr>
          <p:cNvPr id="1106966160" name="Text 45"/>
          <p:cNvSpPr/>
          <p:nvPr/>
        </p:nvSpPr>
        <p:spPr bwMode="auto">
          <a:xfrm>
            <a:off x="4709160" y="1504188"/>
            <a:ext cx="29260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3A5A7A"/>
                </a:solidFill>
                <a:latin typeface="Courier New"/>
                <a:ea typeface="Courier New"/>
                <a:cs typeface="Courier New"/>
              </a:rPr>
              <a:t>3</a:t>
            </a:r>
            <a:endParaRPr lang="en-US" sz="800"/>
          </a:p>
        </p:txBody>
      </p:sp>
      <p:sp>
        <p:nvSpPr>
          <p:cNvPr id="647816928" name="Text 46"/>
          <p:cNvSpPr/>
          <p:nvPr/>
        </p:nvSpPr>
        <p:spPr bwMode="auto">
          <a:xfrm>
            <a:off x="5056632" y="1504188"/>
            <a:ext cx="372160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A8D8EA"/>
                </a:solidFill>
                <a:latin typeface="Courier New"/>
                <a:ea typeface="Courier New"/>
                <a:cs typeface="Courier New"/>
              </a:rPr>
              <a:t>  FROM vendeglatas_xml v,</a:t>
            </a:r>
            <a:endParaRPr lang="en-US" sz="950"/>
          </a:p>
        </p:txBody>
      </p:sp>
      <p:sp>
        <p:nvSpPr>
          <p:cNvPr id="543590480" name="Text 47"/>
          <p:cNvSpPr/>
          <p:nvPr/>
        </p:nvSpPr>
        <p:spPr bwMode="auto">
          <a:xfrm>
            <a:off x="4709160" y="1744218"/>
            <a:ext cx="29260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3A5A7A"/>
                </a:solidFill>
                <a:latin typeface="Courier New"/>
                <a:ea typeface="Courier New"/>
                <a:cs typeface="Courier New"/>
              </a:rPr>
              <a:t>4</a:t>
            </a:r>
            <a:endParaRPr lang="en-US" sz="800"/>
          </a:p>
        </p:txBody>
      </p:sp>
      <p:sp>
        <p:nvSpPr>
          <p:cNvPr id="1292138752" name="Text 48"/>
          <p:cNvSpPr/>
          <p:nvPr/>
        </p:nvSpPr>
        <p:spPr bwMode="auto">
          <a:xfrm>
            <a:off x="5056632" y="1744218"/>
            <a:ext cx="372160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A8D8EA"/>
                </a:solidFill>
                <a:latin typeface="Courier New"/>
                <a:ea typeface="Courier New"/>
                <a:cs typeface="Courier New"/>
              </a:rPr>
              <a:t>  XMLTABLE('/vendeglatas/szakacs'</a:t>
            </a:r>
            <a:endParaRPr lang="en-US" sz="950"/>
          </a:p>
        </p:txBody>
      </p:sp>
      <p:sp>
        <p:nvSpPr>
          <p:cNvPr id="237063064" name="Text 49"/>
          <p:cNvSpPr/>
          <p:nvPr/>
        </p:nvSpPr>
        <p:spPr bwMode="auto">
          <a:xfrm>
            <a:off x="4709160" y="1984248"/>
            <a:ext cx="29260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3A5A7A"/>
                </a:solidFill>
                <a:latin typeface="Courier New"/>
                <a:ea typeface="Courier New"/>
                <a:cs typeface="Courier New"/>
              </a:rPr>
              <a:t>5</a:t>
            </a:r>
            <a:endParaRPr lang="en-US" sz="800"/>
          </a:p>
        </p:txBody>
      </p:sp>
      <p:sp>
        <p:nvSpPr>
          <p:cNvPr id="143704870" name="Text 50"/>
          <p:cNvSpPr/>
          <p:nvPr/>
        </p:nvSpPr>
        <p:spPr bwMode="auto">
          <a:xfrm>
            <a:off x="5056632" y="1984248"/>
            <a:ext cx="372160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A8D8EA"/>
                </a:solidFill>
                <a:latin typeface="Courier New"/>
                <a:ea typeface="Courier New"/>
                <a:cs typeface="Courier New"/>
              </a:rPr>
              <a:t>    PASSING v.adat</a:t>
            </a:r>
            <a:endParaRPr lang="en-US" sz="950"/>
          </a:p>
        </p:txBody>
      </p:sp>
      <p:sp>
        <p:nvSpPr>
          <p:cNvPr id="1246482832" name="Text 51"/>
          <p:cNvSpPr/>
          <p:nvPr/>
        </p:nvSpPr>
        <p:spPr bwMode="auto">
          <a:xfrm>
            <a:off x="4709160" y="2224278"/>
            <a:ext cx="29260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3A5A7A"/>
                </a:solidFill>
                <a:latin typeface="Courier New"/>
                <a:ea typeface="Courier New"/>
                <a:cs typeface="Courier New"/>
              </a:rPr>
              <a:t>6</a:t>
            </a:r>
            <a:endParaRPr lang="en-US" sz="800"/>
          </a:p>
        </p:txBody>
      </p:sp>
      <p:sp>
        <p:nvSpPr>
          <p:cNvPr id="1759580549" name="Text 52"/>
          <p:cNvSpPr/>
          <p:nvPr/>
        </p:nvSpPr>
        <p:spPr bwMode="auto">
          <a:xfrm>
            <a:off x="5056632" y="2224278"/>
            <a:ext cx="372160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A8D8EA"/>
                </a:solidFill>
                <a:latin typeface="Courier New"/>
                <a:ea typeface="Courier New"/>
                <a:cs typeface="Courier New"/>
              </a:rPr>
              <a:t>    COLUMNS</a:t>
            </a:r>
            <a:endParaRPr lang="en-US" sz="950"/>
          </a:p>
        </p:txBody>
      </p:sp>
      <p:sp>
        <p:nvSpPr>
          <p:cNvPr id="1377433263" name="Text 53"/>
          <p:cNvSpPr/>
          <p:nvPr/>
        </p:nvSpPr>
        <p:spPr bwMode="auto">
          <a:xfrm>
            <a:off x="4709160" y="2464308"/>
            <a:ext cx="29260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3A5A7A"/>
                </a:solidFill>
                <a:latin typeface="Courier New"/>
                <a:ea typeface="Courier New"/>
                <a:cs typeface="Courier New"/>
              </a:rPr>
              <a:t>7</a:t>
            </a:r>
            <a:endParaRPr lang="en-US" sz="800"/>
          </a:p>
        </p:txBody>
      </p:sp>
      <p:sp>
        <p:nvSpPr>
          <p:cNvPr id="942386295" name="Text 54"/>
          <p:cNvSpPr/>
          <p:nvPr/>
        </p:nvSpPr>
        <p:spPr bwMode="auto">
          <a:xfrm>
            <a:off x="5056632" y="2464308"/>
            <a:ext cx="372160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A8D8EA"/>
                </a:solidFill>
                <a:latin typeface="Courier New"/>
                <a:ea typeface="Courier New"/>
                <a:cs typeface="Courier New"/>
              </a:rPr>
              <a:t>      nev  VARCHAR2(200) PATH 'nev',</a:t>
            </a:r>
            <a:endParaRPr lang="en-US" sz="950"/>
          </a:p>
        </p:txBody>
      </p:sp>
      <p:sp>
        <p:nvSpPr>
          <p:cNvPr id="1786912808" name="Text 55"/>
          <p:cNvSpPr/>
          <p:nvPr/>
        </p:nvSpPr>
        <p:spPr bwMode="auto">
          <a:xfrm>
            <a:off x="4709160" y="2704338"/>
            <a:ext cx="29260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3A5A7A"/>
                </a:solidFill>
                <a:latin typeface="Courier New"/>
                <a:ea typeface="Courier New"/>
                <a:cs typeface="Courier New"/>
              </a:rPr>
              <a:t>8</a:t>
            </a:r>
            <a:endParaRPr lang="en-US" sz="800"/>
          </a:p>
        </p:txBody>
      </p:sp>
      <p:sp>
        <p:nvSpPr>
          <p:cNvPr id="311978095" name="Text 56"/>
          <p:cNvSpPr/>
          <p:nvPr/>
        </p:nvSpPr>
        <p:spPr bwMode="auto">
          <a:xfrm>
            <a:off x="5056632" y="2704338"/>
            <a:ext cx="372160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A8D8EA"/>
                </a:solidFill>
                <a:latin typeface="Courier New"/>
                <a:ea typeface="Courier New"/>
                <a:cs typeface="Courier New"/>
              </a:rPr>
              <a:t>      e_sz VARCHAR2(10) PATH '@e_sz'</a:t>
            </a:r>
            <a:endParaRPr lang="en-US" sz="950"/>
          </a:p>
        </p:txBody>
      </p:sp>
      <p:sp>
        <p:nvSpPr>
          <p:cNvPr id="854556801" name="Text 57"/>
          <p:cNvSpPr/>
          <p:nvPr/>
        </p:nvSpPr>
        <p:spPr bwMode="auto">
          <a:xfrm>
            <a:off x="4709160" y="2944368"/>
            <a:ext cx="29260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3A5A7A"/>
                </a:solidFill>
                <a:latin typeface="Courier New"/>
                <a:ea typeface="Courier New"/>
                <a:cs typeface="Courier New"/>
              </a:rPr>
              <a:t>9</a:t>
            </a:r>
            <a:endParaRPr lang="en-US" sz="800"/>
          </a:p>
        </p:txBody>
      </p:sp>
      <p:sp>
        <p:nvSpPr>
          <p:cNvPr id="1798198076" name="Text 58"/>
          <p:cNvSpPr/>
          <p:nvPr/>
        </p:nvSpPr>
        <p:spPr bwMode="auto">
          <a:xfrm>
            <a:off x="5056632" y="2944368"/>
            <a:ext cx="372160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A8D8EA"/>
                </a:solidFill>
                <a:latin typeface="Courier New"/>
                <a:ea typeface="Courier New"/>
                <a:cs typeface="Courier New"/>
              </a:rPr>
              <a:t>  ) sz,</a:t>
            </a:r>
            <a:endParaRPr lang="en-US" sz="950"/>
          </a:p>
        </p:txBody>
      </p:sp>
      <p:sp>
        <p:nvSpPr>
          <p:cNvPr id="1363621399" name="Text 59"/>
          <p:cNvSpPr/>
          <p:nvPr/>
        </p:nvSpPr>
        <p:spPr bwMode="auto">
          <a:xfrm>
            <a:off x="4709160" y="3184398"/>
            <a:ext cx="29260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3A5A7A"/>
                </a:solidFill>
                <a:latin typeface="Courier New"/>
                <a:ea typeface="Courier New"/>
                <a:cs typeface="Courier New"/>
              </a:rPr>
              <a:t>10</a:t>
            </a:r>
            <a:endParaRPr lang="en-US" sz="800"/>
          </a:p>
        </p:txBody>
      </p:sp>
      <p:sp>
        <p:nvSpPr>
          <p:cNvPr id="148572648" name="Text 60"/>
          <p:cNvSpPr/>
          <p:nvPr/>
        </p:nvSpPr>
        <p:spPr bwMode="auto">
          <a:xfrm>
            <a:off x="5056632" y="3184398"/>
            <a:ext cx="372160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A8D8EA"/>
                </a:solidFill>
                <a:latin typeface="Courier New"/>
                <a:ea typeface="Courier New"/>
                <a:cs typeface="Courier New"/>
              </a:rPr>
              <a:t>  XMLTABLE('/vendeglatas/etterem'</a:t>
            </a:r>
            <a:endParaRPr lang="en-US" sz="950"/>
          </a:p>
        </p:txBody>
      </p:sp>
      <p:sp>
        <p:nvSpPr>
          <p:cNvPr id="1233991287" name="Text 61"/>
          <p:cNvSpPr/>
          <p:nvPr/>
        </p:nvSpPr>
        <p:spPr bwMode="auto">
          <a:xfrm>
            <a:off x="4709160" y="3424428"/>
            <a:ext cx="29260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3A5A7A"/>
                </a:solidFill>
                <a:latin typeface="Courier New"/>
                <a:ea typeface="Courier New"/>
                <a:cs typeface="Courier New"/>
              </a:rPr>
              <a:t>11</a:t>
            </a:r>
            <a:endParaRPr lang="en-US" sz="800"/>
          </a:p>
        </p:txBody>
      </p:sp>
      <p:sp>
        <p:nvSpPr>
          <p:cNvPr id="776249214" name="Text 62"/>
          <p:cNvSpPr/>
          <p:nvPr/>
        </p:nvSpPr>
        <p:spPr bwMode="auto">
          <a:xfrm>
            <a:off x="5056632" y="3424428"/>
            <a:ext cx="372160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A8D8EA"/>
                </a:solidFill>
                <a:latin typeface="Courier New"/>
                <a:ea typeface="Courier New"/>
                <a:cs typeface="Courier New"/>
              </a:rPr>
              <a:t>    PASSING v.adat</a:t>
            </a:r>
            <a:endParaRPr lang="en-US" sz="950"/>
          </a:p>
        </p:txBody>
      </p:sp>
      <p:sp>
        <p:nvSpPr>
          <p:cNvPr id="1848947514" name="Text 63"/>
          <p:cNvSpPr/>
          <p:nvPr/>
        </p:nvSpPr>
        <p:spPr bwMode="auto">
          <a:xfrm>
            <a:off x="4709160" y="3664458"/>
            <a:ext cx="29260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3A5A7A"/>
                </a:solidFill>
                <a:latin typeface="Courier New"/>
                <a:ea typeface="Courier New"/>
                <a:cs typeface="Courier New"/>
              </a:rPr>
              <a:t>12</a:t>
            </a:r>
            <a:endParaRPr lang="en-US" sz="800"/>
          </a:p>
        </p:txBody>
      </p:sp>
      <p:sp>
        <p:nvSpPr>
          <p:cNvPr id="1776096743" name="Text 64"/>
          <p:cNvSpPr/>
          <p:nvPr/>
        </p:nvSpPr>
        <p:spPr bwMode="auto">
          <a:xfrm>
            <a:off x="5056632" y="3664458"/>
            <a:ext cx="372160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A8D8EA"/>
                </a:solidFill>
                <a:latin typeface="Courier New"/>
                <a:ea typeface="Courier New"/>
                <a:cs typeface="Courier New"/>
              </a:rPr>
              <a:t>    COLUMNS</a:t>
            </a:r>
            <a:endParaRPr lang="en-US" sz="950"/>
          </a:p>
        </p:txBody>
      </p:sp>
      <p:sp>
        <p:nvSpPr>
          <p:cNvPr id="769534380" name="Text 65"/>
          <p:cNvSpPr/>
          <p:nvPr/>
        </p:nvSpPr>
        <p:spPr bwMode="auto">
          <a:xfrm>
            <a:off x="4709160" y="3904488"/>
            <a:ext cx="29260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3A5A7A"/>
                </a:solidFill>
                <a:latin typeface="Courier New"/>
                <a:ea typeface="Courier New"/>
                <a:cs typeface="Courier New"/>
              </a:rPr>
              <a:t>13</a:t>
            </a:r>
            <a:endParaRPr lang="en-US" sz="800"/>
          </a:p>
        </p:txBody>
      </p:sp>
      <p:sp>
        <p:nvSpPr>
          <p:cNvPr id="1447795201" name="Text 66"/>
          <p:cNvSpPr/>
          <p:nvPr/>
        </p:nvSpPr>
        <p:spPr bwMode="auto">
          <a:xfrm>
            <a:off x="5056632" y="3904488"/>
            <a:ext cx="372160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A8D8EA"/>
                </a:solidFill>
                <a:latin typeface="Courier New"/>
                <a:ea typeface="Courier New"/>
                <a:cs typeface="Courier New"/>
              </a:rPr>
              <a:t>      ekod VARCHAR2(10) PATH '@ekod',</a:t>
            </a:r>
            <a:endParaRPr lang="en-US" sz="950"/>
          </a:p>
        </p:txBody>
      </p:sp>
      <p:sp>
        <p:nvSpPr>
          <p:cNvPr id="2124528412" name="Text 67"/>
          <p:cNvSpPr/>
          <p:nvPr/>
        </p:nvSpPr>
        <p:spPr bwMode="auto">
          <a:xfrm>
            <a:off x="4709160" y="4144518"/>
            <a:ext cx="29260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3A5A7A"/>
                </a:solidFill>
                <a:latin typeface="Courier New"/>
                <a:ea typeface="Courier New"/>
                <a:cs typeface="Courier New"/>
              </a:rPr>
              <a:t>14</a:t>
            </a:r>
            <a:endParaRPr lang="en-US" sz="800"/>
          </a:p>
        </p:txBody>
      </p:sp>
      <p:sp>
        <p:nvSpPr>
          <p:cNvPr id="1897792334" name="Text 68"/>
          <p:cNvSpPr/>
          <p:nvPr/>
        </p:nvSpPr>
        <p:spPr bwMode="auto">
          <a:xfrm>
            <a:off x="5056632" y="4144518"/>
            <a:ext cx="372160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A8D8EA"/>
                </a:solidFill>
                <a:latin typeface="Courier New"/>
                <a:ea typeface="Courier New"/>
                <a:cs typeface="Courier New"/>
              </a:rPr>
              <a:t>      nev VARCHAR2(200) PATH 'nev'</a:t>
            </a:r>
            <a:endParaRPr lang="en-US" sz="950"/>
          </a:p>
        </p:txBody>
      </p:sp>
      <p:sp>
        <p:nvSpPr>
          <p:cNvPr id="1821803951" name="Text 69"/>
          <p:cNvSpPr/>
          <p:nvPr/>
        </p:nvSpPr>
        <p:spPr bwMode="auto">
          <a:xfrm>
            <a:off x="4709160" y="4384548"/>
            <a:ext cx="29260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3A5A7A"/>
                </a:solidFill>
                <a:latin typeface="Courier New"/>
                <a:ea typeface="Courier New"/>
                <a:cs typeface="Courier New"/>
              </a:rPr>
              <a:t>15</a:t>
            </a:r>
            <a:endParaRPr lang="en-US" sz="800"/>
          </a:p>
        </p:txBody>
      </p:sp>
      <p:sp>
        <p:nvSpPr>
          <p:cNvPr id="532230827" name="Text 70"/>
          <p:cNvSpPr/>
          <p:nvPr/>
        </p:nvSpPr>
        <p:spPr bwMode="auto">
          <a:xfrm>
            <a:off x="5056632" y="4384548"/>
            <a:ext cx="372160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A8D8EA"/>
                </a:solidFill>
                <a:latin typeface="Courier New"/>
                <a:ea typeface="Courier New"/>
                <a:cs typeface="Courier New"/>
              </a:rPr>
              <a:t>  ) e</a:t>
            </a:r>
            <a:endParaRPr lang="en-US" sz="950"/>
          </a:p>
        </p:txBody>
      </p:sp>
      <p:sp>
        <p:nvSpPr>
          <p:cNvPr id="403438523" name="Text 71"/>
          <p:cNvSpPr/>
          <p:nvPr/>
        </p:nvSpPr>
        <p:spPr bwMode="auto">
          <a:xfrm>
            <a:off x="4709160" y="4624578"/>
            <a:ext cx="29260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3A5A7A"/>
                </a:solidFill>
                <a:latin typeface="Courier New"/>
                <a:ea typeface="Courier New"/>
                <a:cs typeface="Courier New"/>
              </a:rPr>
              <a:t>16</a:t>
            </a:r>
            <a:endParaRPr lang="en-US" sz="800"/>
          </a:p>
        </p:txBody>
      </p:sp>
      <p:sp>
        <p:nvSpPr>
          <p:cNvPr id="1532989772" name="Shape 72"/>
          <p:cNvSpPr/>
          <p:nvPr/>
        </p:nvSpPr>
        <p:spPr bwMode="auto">
          <a:xfrm>
            <a:off x="5001768" y="4624578"/>
            <a:ext cx="3822192" cy="240030"/>
          </a:xfrm>
          <a:prstGeom prst="rect">
            <a:avLst/>
          </a:prstGeom>
          <a:solidFill>
            <a:srgbClr val="1A4A3A"/>
          </a:solidFill>
          <a:ln/>
        </p:spPr>
      </p:sp>
      <p:sp>
        <p:nvSpPr>
          <p:cNvPr id="1708362871" name="Text 73"/>
          <p:cNvSpPr/>
          <p:nvPr/>
        </p:nvSpPr>
        <p:spPr bwMode="auto">
          <a:xfrm>
            <a:off x="5056632" y="4624578"/>
            <a:ext cx="372160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00D4AA"/>
                </a:solidFill>
                <a:latin typeface="Courier New"/>
                <a:ea typeface="Courier New"/>
                <a:cs typeface="Courier New"/>
              </a:rPr>
              <a:t> WHERE sz.e_sz = e.ekod; -- JOIN!</a:t>
            </a:r>
            <a:endParaRPr lang="en-US" sz="950"/>
          </a:p>
        </p:txBody>
      </p:sp>
      <p:sp>
        <p:nvSpPr>
          <p:cNvPr id="354550100" name="Shape 74"/>
          <p:cNvSpPr/>
          <p:nvPr/>
        </p:nvSpPr>
        <p:spPr bwMode="auto">
          <a:xfrm>
            <a:off x="0" y="5065776"/>
            <a:ext cx="9144000" cy="73152"/>
          </a:xfrm>
          <a:prstGeom prst="rect">
            <a:avLst/>
          </a:prstGeom>
          <a:solidFill>
            <a:srgbClr val="00D4AA"/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7">
    <p:bg>
      <p:bgPr shadeToTitle="0">
        <a:solidFill>
          <a:srgbClr val="E8F4FD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7739200" name="Shape 0"/>
          <p:cNvSpPr/>
          <p:nvPr/>
        </p:nvSpPr>
        <p:spPr bwMode="auto">
          <a:xfrm>
            <a:off x="0" y="0"/>
            <a:ext cx="9144000" cy="73152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2076939176" name="Shape 1"/>
          <p:cNvSpPr/>
          <p:nvPr/>
        </p:nvSpPr>
        <p:spPr bwMode="auto">
          <a:xfrm>
            <a:off x="0" y="73152"/>
            <a:ext cx="9144000" cy="65836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670241103" name="Text 2"/>
          <p:cNvSpPr/>
          <p:nvPr/>
        </p:nvSpPr>
        <p:spPr bwMode="auto"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4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4. UDT – Felhasználói típus (User-Defined Type)</a:t>
            </a:r>
            <a:endParaRPr lang="en-US" sz="2400"/>
          </a:p>
        </p:txBody>
      </p:sp>
      <p:sp>
        <p:nvSpPr>
          <p:cNvPr id="746175293" name="Shape 3"/>
          <p:cNvSpPr/>
          <p:nvPr/>
        </p:nvSpPr>
        <p:spPr bwMode="auto">
          <a:xfrm>
            <a:off x="274320" y="822960"/>
            <a:ext cx="8595360" cy="384048"/>
          </a:xfrm>
          <a:prstGeom prst="rect">
            <a:avLst/>
          </a:prstGeom>
          <a:solidFill>
            <a:srgbClr val="0D3B6E"/>
          </a:solidFill>
          <a:ln/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520932571" name="Text 4"/>
          <p:cNvSpPr/>
          <p:nvPr/>
        </p:nvSpPr>
        <p:spPr bwMode="auto">
          <a:xfrm>
            <a:off x="365760" y="82296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i="1">
                <a:solidFill>
                  <a:srgbClr val="00A8E8"/>
                </a:solidFill>
                <a:latin typeface="Calibri"/>
                <a:ea typeface="Calibri"/>
                <a:cs typeface="Calibri"/>
              </a:rPr>
              <a:t>Az Oracle UDT olyan mint egy OOP osztály: attribútumok (mezők) + metódusok (tagfüggvények) – de SQL-ben!</a:t>
            </a:r>
            <a:endParaRPr lang="en-US" sz="1200"/>
          </a:p>
        </p:txBody>
      </p:sp>
      <p:sp>
        <p:nvSpPr>
          <p:cNvPr id="428865804" name="Shape 5"/>
          <p:cNvSpPr/>
          <p:nvPr/>
        </p:nvSpPr>
        <p:spPr bwMode="auto">
          <a:xfrm>
            <a:off x="274320" y="1298448"/>
            <a:ext cx="2788920" cy="347472"/>
          </a:xfrm>
          <a:prstGeom prst="rect">
            <a:avLst/>
          </a:prstGeom>
          <a:solidFill>
            <a:srgbClr val="3A5A7A"/>
          </a:solidFill>
          <a:ln/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1608025379" name="Text 6"/>
          <p:cNvSpPr/>
          <p:nvPr/>
        </p:nvSpPr>
        <p:spPr bwMode="auto">
          <a:xfrm>
            <a:off x="274320" y="1298448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Java / C# osztály</a:t>
            </a:r>
            <a:endParaRPr lang="en-US" sz="1100"/>
          </a:p>
        </p:txBody>
      </p:sp>
      <p:sp>
        <p:nvSpPr>
          <p:cNvPr id="1151319138" name="Shape 7"/>
          <p:cNvSpPr/>
          <p:nvPr/>
        </p:nvSpPr>
        <p:spPr bwMode="auto">
          <a:xfrm>
            <a:off x="274320" y="1645920"/>
            <a:ext cx="2788920" cy="3017519"/>
          </a:xfrm>
          <a:prstGeom prst="rect">
            <a:avLst/>
          </a:prstGeom>
          <a:solidFill>
            <a:srgbClr val="1E2D3D"/>
          </a:solidFill>
          <a:ln/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1191419080" name="Text 8"/>
          <p:cNvSpPr/>
          <p:nvPr/>
        </p:nvSpPr>
        <p:spPr bwMode="auto">
          <a:xfrm>
            <a:off x="365760" y="169164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A0B0C0"/>
                </a:solidFill>
                <a:latin typeface="Courier New"/>
                <a:ea typeface="Courier New"/>
                <a:cs typeface="Courier New"/>
              </a:rPr>
              <a:t>class Etterem {</a:t>
            </a:r>
            <a:endParaRPr lang="en-US" sz="950"/>
          </a:p>
        </p:txBody>
      </p:sp>
      <p:sp>
        <p:nvSpPr>
          <p:cNvPr id="197315079" name="Text 9"/>
          <p:cNvSpPr/>
          <p:nvPr/>
        </p:nvSpPr>
        <p:spPr bwMode="auto">
          <a:xfrm>
            <a:off x="365760" y="202996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A0B0C0"/>
                </a:solidFill>
                <a:latin typeface="Courier New"/>
                <a:ea typeface="Courier New"/>
                <a:cs typeface="Courier New"/>
              </a:rPr>
              <a:t>  String ekod;</a:t>
            </a:r>
            <a:endParaRPr lang="en-US" sz="950"/>
          </a:p>
        </p:txBody>
      </p:sp>
      <p:sp>
        <p:nvSpPr>
          <p:cNvPr id="1327453834" name="Text 10"/>
          <p:cNvSpPr/>
          <p:nvPr/>
        </p:nvSpPr>
        <p:spPr bwMode="auto">
          <a:xfrm>
            <a:off x="365760" y="2368296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A0B0C0"/>
                </a:solidFill>
                <a:latin typeface="Courier New"/>
                <a:ea typeface="Courier New"/>
                <a:cs typeface="Courier New"/>
              </a:rPr>
              <a:t>  String nev;</a:t>
            </a:r>
            <a:endParaRPr lang="en-US" sz="950"/>
          </a:p>
        </p:txBody>
      </p:sp>
      <p:sp>
        <p:nvSpPr>
          <p:cNvPr id="1108991946" name="Text 11"/>
          <p:cNvSpPr/>
          <p:nvPr/>
        </p:nvSpPr>
        <p:spPr bwMode="auto">
          <a:xfrm>
            <a:off x="365760" y="2706624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A0B0C0"/>
                </a:solidFill>
                <a:latin typeface="Courier New"/>
                <a:ea typeface="Courier New"/>
                <a:cs typeface="Courier New"/>
              </a:rPr>
              <a:t>  int csillag;</a:t>
            </a:r>
            <a:endParaRPr lang="en-US" sz="950"/>
          </a:p>
        </p:txBody>
      </p:sp>
      <p:sp>
        <p:nvSpPr>
          <p:cNvPr id="1208773936" name="Text 12"/>
          <p:cNvSpPr/>
          <p:nvPr/>
        </p:nvSpPr>
        <p:spPr bwMode="auto">
          <a:xfrm>
            <a:off x="365760" y="304495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A0B0C0"/>
                </a:solidFill>
                <a:latin typeface="Courier New"/>
                <a:ea typeface="Courier New"/>
                <a:cs typeface="Courier New"/>
              </a:rPr>
              <a:t>  Cim cim;    // beágyazott</a:t>
            </a:r>
            <a:endParaRPr lang="en-US" sz="950"/>
          </a:p>
        </p:txBody>
      </p:sp>
      <p:sp>
        <p:nvSpPr>
          <p:cNvPr id="1629302845" name="Text 13"/>
          <p:cNvSpPr/>
          <p:nvPr/>
        </p:nvSpPr>
        <p:spPr bwMode="auto">
          <a:xfrm>
            <a:off x="365760" y="338328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A0B0C0"/>
                </a:solidFill>
                <a:latin typeface="Courier New"/>
                <a:ea typeface="Courier New"/>
                <a:cs typeface="Courier New"/>
              </a:rPr>
              <a:t>  String leiras() {</a:t>
            </a:r>
            <a:endParaRPr lang="en-US" sz="950"/>
          </a:p>
        </p:txBody>
      </p:sp>
      <p:sp>
        <p:nvSpPr>
          <p:cNvPr id="2043502588" name="Text 14"/>
          <p:cNvSpPr/>
          <p:nvPr/>
        </p:nvSpPr>
        <p:spPr bwMode="auto">
          <a:xfrm>
            <a:off x="365760" y="372160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A0B0C0"/>
                </a:solidFill>
                <a:latin typeface="Courier New"/>
                <a:ea typeface="Courier New"/>
                <a:cs typeface="Courier New"/>
              </a:rPr>
              <a:t>    return nev + ...; }</a:t>
            </a:r>
            <a:endParaRPr lang="en-US" sz="950"/>
          </a:p>
        </p:txBody>
      </p:sp>
      <p:sp>
        <p:nvSpPr>
          <p:cNvPr id="984029389" name="Text 15"/>
          <p:cNvSpPr/>
          <p:nvPr/>
        </p:nvSpPr>
        <p:spPr bwMode="auto">
          <a:xfrm>
            <a:off x="365760" y="4059936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A0B0C0"/>
                </a:solidFill>
                <a:latin typeface="Courier New"/>
                <a:ea typeface="Courier New"/>
                <a:cs typeface="Courier New"/>
              </a:rPr>
              <a:t>}</a:t>
            </a:r>
            <a:endParaRPr lang="en-US" sz="950"/>
          </a:p>
        </p:txBody>
      </p:sp>
      <p:sp>
        <p:nvSpPr>
          <p:cNvPr id="1051898771" name="Shape 16"/>
          <p:cNvSpPr/>
          <p:nvPr/>
        </p:nvSpPr>
        <p:spPr bwMode="auto">
          <a:xfrm>
            <a:off x="3154680" y="1298448"/>
            <a:ext cx="2788920" cy="347472"/>
          </a:xfrm>
          <a:prstGeom prst="rect">
            <a:avLst/>
          </a:prstGeom>
          <a:solidFill>
            <a:srgbClr val="00A8E8"/>
          </a:solidFill>
          <a:ln/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459606559" name="Text 17"/>
          <p:cNvSpPr/>
          <p:nvPr/>
        </p:nvSpPr>
        <p:spPr bwMode="auto">
          <a:xfrm>
            <a:off x="3154680" y="1298448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Oracle TYPE (deklaráció)</a:t>
            </a:r>
            <a:endParaRPr lang="en-US" sz="1100"/>
          </a:p>
        </p:txBody>
      </p:sp>
      <p:sp>
        <p:nvSpPr>
          <p:cNvPr id="2032008338" name="Shape 18"/>
          <p:cNvSpPr/>
          <p:nvPr/>
        </p:nvSpPr>
        <p:spPr bwMode="auto">
          <a:xfrm>
            <a:off x="3154680" y="1645920"/>
            <a:ext cx="2788920" cy="3017519"/>
          </a:xfrm>
          <a:prstGeom prst="rect">
            <a:avLst/>
          </a:prstGeom>
          <a:solidFill>
            <a:srgbClr val="1E2D3D"/>
          </a:solidFill>
          <a:ln/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696945958" name="Text 19"/>
          <p:cNvSpPr/>
          <p:nvPr/>
        </p:nvSpPr>
        <p:spPr bwMode="auto">
          <a:xfrm>
            <a:off x="3246120" y="169164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00A8E8"/>
                </a:solidFill>
                <a:latin typeface="Courier New"/>
                <a:ea typeface="Courier New"/>
                <a:cs typeface="Courier New"/>
              </a:rPr>
              <a:t>CREATE OR REPLACE TYPE</a:t>
            </a:r>
            <a:endParaRPr lang="en-US" sz="950"/>
          </a:p>
        </p:txBody>
      </p:sp>
      <p:sp>
        <p:nvSpPr>
          <p:cNvPr id="154071267" name="Text 20"/>
          <p:cNvSpPr/>
          <p:nvPr/>
        </p:nvSpPr>
        <p:spPr bwMode="auto">
          <a:xfrm>
            <a:off x="3246120" y="202996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00A8E8"/>
                </a:solidFill>
                <a:latin typeface="Courier New"/>
                <a:ea typeface="Courier New"/>
                <a:cs typeface="Courier New"/>
              </a:rPr>
              <a:t>  etterem_t AS OBJECT (</a:t>
            </a:r>
            <a:endParaRPr lang="en-US" sz="950"/>
          </a:p>
        </p:txBody>
      </p:sp>
      <p:sp>
        <p:nvSpPr>
          <p:cNvPr id="793945330" name="Text 21"/>
          <p:cNvSpPr/>
          <p:nvPr/>
        </p:nvSpPr>
        <p:spPr bwMode="auto">
          <a:xfrm>
            <a:off x="3246120" y="2368296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00A8E8"/>
                </a:solidFill>
                <a:latin typeface="Courier New"/>
                <a:ea typeface="Courier New"/>
                <a:cs typeface="Courier New"/>
              </a:rPr>
              <a:t>  ekod    VARCHAR2(10),</a:t>
            </a:r>
            <a:endParaRPr lang="en-US" sz="950"/>
          </a:p>
        </p:txBody>
      </p:sp>
      <p:sp>
        <p:nvSpPr>
          <p:cNvPr id="1881831327" name="Text 22"/>
          <p:cNvSpPr/>
          <p:nvPr/>
        </p:nvSpPr>
        <p:spPr bwMode="auto">
          <a:xfrm>
            <a:off x="3246120" y="2706624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00A8E8"/>
                </a:solidFill>
                <a:latin typeface="Courier New"/>
                <a:ea typeface="Courier New"/>
                <a:cs typeface="Courier New"/>
              </a:rPr>
              <a:t>  nev     VARCHAR2(200),</a:t>
            </a:r>
            <a:endParaRPr lang="en-US" sz="950"/>
          </a:p>
        </p:txBody>
      </p:sp>
      <p:sp>
        <p:nvSpPr>
          <p:cNvPr id="1203303423" name="Text 23"/>
          <p:cNvSpPr/>
          <p:nvPr/>
        </p:nvSpPr>
        <p:spPr bwMode="auto">
          <a:xfrm>
            <a:off x="3246120" y="304495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00A8E8"/>
                </a:solidFill>
                <a:latin typeface="Courier New"/>
                <a:ea typeface="Courier New"/>
                <a:cs typeface="Courier New"/>
              </a:rPr>
              <a:t>  csillag NUMBER(1),</a:t>
            </a:r>
            <a:endParaRPr lang="en-US" sz="950"/>
          </a:p>
        </p:txBody>
      </p:sp>
      <p:sp>
        <p:nvSpPr>
          <p:cNvPr id="1663268708" name="Text 24"/>
          <p:cNvSpPr/>
          <p:nvPr/>
        </p:nvSpPr>
        <p:spPr bwMode="auto">
          <a:xfrm>
            <a:off x="3246120" y="338328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00A8E8"/>
                </a:solidFill>
                <a:latin typeface="Courier New"/>
                <a:ea typeface="Courier New"/>
                <a:cs typeface="Courier New"/>
              </a:rPr>
              <a:t>  cim     cim_t, -- beágyazott!</a:t>
            </a:r>
            <a:endParaRPr lang="en-US" sz="950"/>
          </a:p>
        </p:txBody>
      </p:sp>
      <p:sp>
        <p:nvSpPr>
          <p:cNvPr id="1311729479" name="Text 25"/>
          <p:cNvSpPr/>
          <p:nvPr/>
        </p:nvSpPr>
        <p:spPr bwMode="auto">
          <a:xfrm>
            <a:off x="3246120" y="372160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00A8E8"/>
                </a:solidFill>
                <a:latin typeface="Courier New"/>
                <a:ea typeface="Courier New"/>
                <a:cs typeface="Courier New"/>
              </a:rPr>
              <a:t>  MEMBER FUNCTION</a:t>
            </a:r>
            <a:endParaRPr lang="en-US" sz="950"/>
          </a:p>
        </p:txBody>
      </p:sp>
      <p:sp>
        <p:nvSpPr>
          <p:cNvPr id="2080480346" name="Text 26"/>
          <p:cNvSpPr/>
          <p:nvPr/>
        </p:nvSpPr>
        <p:spPr bwMode="auto">
          <a:xfrm>
            <a:off x="3246120" y="4059936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00A8E8"/>
                </a:solidFill>
                <a:latin typeface="Courier New"/>
                <a:ea typeface="Courier New"/>
                <a:cs typeface="Courier New"/>
              </a:rPr>
              <a:t>    leiras RETURN VARCHAR2</a:t>
            </a:r>
            <a:endParaRPr lang="en-US" sz="950"/>
          </a:p>
        </p:txBody>
      </p:sp>
      <p:sp>
        <p:nvSpPr>
          <p:cNvPr id="1678658474" name="Text 27"/>
          <p:cNvSpPr/>
          <p:nvPr/>
        </p:nvSpPr>
        <p:spPr bwMode="auto">
          <a:xfrm>
            <a:off x="3246120" y="4398264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00A8E8"/>
                </a:solidFill>
                <a:latin typeface="Courier New"/>
                <a:ea typeface="Courier New"/>
                <a:cs typeface="Courier New"/>
              </a:rPr>
              <a:t>);</a:t>
            </a:r>
            <a:endParaRPr lang="en-US" sz="950"/>
          </a:p>
        </p:txBody>
      </p:sp>
      <p:sp>
        <p:nvSpPr>
          <p:cNvPr id="719566070" name="Shape 28"/>
          <p:cNvSpPr/>
          <p:nvPr/>
        </p:nvSpPr>
        <p:spPr bwMode="auto">
          <a:xfrm>
            <a:off x="6035039" y="1298448"/>
            <a:ext cx="2788920" cy="347472"/>
          </a:xfrm>
          <a:prstGeom prst="rect">
            <a:avLst/>
          </a:prstGeom>
          <a:solidFill>
            <a:srgbClr val="00D4AA"/>
          </a:solidFill>
          <a:ln/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1045193663" name="Text 29"/>
          <p:cNvSpPr/>
          <p:nvPr/>
        </p:nvSpPr>
        <p:spPr bwMode="auto">
          <a:xfrm>
            <a:off x="6035039" y="1298448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Oracle TYPE BODY (impl.)</a:t>
            </a:r>
            <a:endParaRPr lang="en-US" sz="1100"/>
          </a:p>
        </p:txBody>
      </p:sp>
      <p:sp>
        <p:nvSpPr>
          <p:cNvPr id="387714536" name="Shape 30"/>
          <p:cNvSpPr/>
          <p:nvPr/>
        </p:nvSpPr>
        <p:spPr bwMode="auto">
          <a:xfrm>
            <a:off x="6035039" y="1645920"/>
            <a:ext cx="2788920" cy="3017519"/>
          </a:xfrm>
          <a:prstGeom prst="rect">
            <a:avLst/>
          </a:prstGeom>
          <a:solidFill>
            <a:srgbClr val="1E2D3D"/>
          </a:solidFill>
          <a:ln/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555621323" name="Text 31"/>
          <p:cNvSpPr/>
          <p:nvPr/>
        </p:nvSpPr>
        <p:spPr bwMode="auto">
          <a:xfrm>
            <a:off x="6126480" y="169164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00D4AA"/>
                </a:solidFill>
                <a:latin typeface="Courier New"/>
                <a:ea typeface="Courier New"/>
                <a:cs typeface="Courier New"/>
              </a:rPr>
              <a:t>CREATE OR REPLACE TYPE BODY</a:t>
            </a:r>
            <a:endParaRPr lang="en-US" sz="950"/>
          </a:p>
        </p:txBody>
      </p:sp>
      <p:sp>
        <p:nvSpPr>
          <p:cNvPr id="1768364131" name="Text 32"/>
          <p:cNvSpPr/>
          <p:nvPr/>
        </p:nvSpPr>
        <p:spPr bwMode="auto">
          <a:xfrm>
            <a:off x="6126480" y="202996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00D4AA"/>
                </a:solidFill>
                <a:latin typeface="Courier New"/>
                <a:ea typeface="Courier New"/>
                <a:cs typeface="Courier New"/>
              </a:rPr>
              <a:t>  etterem_t AS</a:t>
            </a:r>
            <a:endParaRPr lang="en-US" sz="950"/>
          </a:p>
        </p:txBody>
      </p:sp>
      <p:sp>
        <p:nvSpPr>
          <p:cNvPr id="1776843236" name="Text 33"/>
          <p:cNvSpPr/>
          <p:nvPr/>
        </p:nvSpPr>
        <p:spPr bwMode="auto">
          <a:xfrm>
            <a:off x="6126480" y="2368296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00D4AA"/>
                </a:solidFill>
                <a:latin typeface="Courier New"/>
                <a:ea typeface="Courier New"/>
                <a:cs typeface="Courier New"/>
              </a:rPr>
              <a:t>  MEMBER FUNCTION leiras</a:t>
            </a:r>
            <a:endParaRPr lang="en-US" sz="950"/>
          </a:p>
        </p:txBody>
      </p:sp>
      <p:sp>
        <p:nvSpPr>
          <p:cNvPr id="1196635170" name="Text 34"/>
          <p:cNvSpPr/>
          <p:nvPr/>
        </p:nvSpPr>
        <p:spPr bwMode="auto">
          <a:xfrm>
            <a:off x="6126480" y="2706624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00D4AA"/>
                </a:solidFill>
                <a:latin typeface="Courier New"/>
                <a:ea typeface="Courier New"/>
                <a:cs typeface="Courier New"/>
              </a:rPr>
              <a:t>  RETURN VARCHAR2 IS</a:t>
            </a:r>
            <a:endParaRPr lang="en-US" sz="950"/>
          </a:p>
        </p:txBody>
      </p:sp>
      <p:sp>
        <p:nvSpPr>
          <p:cNvPr id="855537808" name="Text 35"/>
          <p:cNvSpPr/>
          <p:nvPr/>
        </p:nvSpPr>
        <p:spPr bwMode="auto">
          <a:xfrm>
            <a:off x="6126480" y="304495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00D4AA"/>
                </a:solidFill>
                <a:latin typeface="Courier New"/>
                <a:ea typeface="Courier New"/>
                <a:cs typeface="Courier New"/>
              </a:rPr>
              <a:t>  BEGIN</a:t>
            </a:r>
            <a:endParaRPr lang="en-US" sz="950"/>
          </a:p>
        </p:txBody>
      </p:sp>
      <p:sp>
        <p:nvSpPr>
          <p:cNvPr id="460931520" name="Text 36"/>
          <p:cNvSpPr/>
          <p:nvPr/>
        </p:nvSpPr>
        <p:spPr bwMode="auto">
          <a:xfrm>
            <a:off x="6126480" y="338328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00D4AA"/>
                </a:solidFill>
                <a:latin typeface="Courier New"/>
                <a:ea typeface="Courier New"/>
                <a:cs typeface="Courier New"/>
              </a:rPr>
              <a:t>    RETURN SELF.nev ||</a:t>
            </a:r>
            <a:endParaRPr lang="en-US" sz="950"/>
          </a:p>
        </p:txBody>
      </p:sp>
      <p:sp>
        <p:nvSpPr>
          <p:cNvPr id="1226836285" name="Text 37"/>
          <p:cNvSpPr/>
          <p:nvPr/>
        </p:nvSpPr>
        <p:spPr bwMode="auto">
          <a:xfrm>
            <a:off x="6126480" y="372160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00D4AA"/>
                </a:solidFill>
                <a:latin typeface="Courier New"/>
                <a:ea typeface="Courier New"/>
                <a:cs typeface="Courier New"/>
              </a:rPr>
              <a:t>      ' – ' || SELF.cim.varos;</a:t>
            </a:r>
            <a:endParaRPr lang="en-US" sz="950"/>
          </a:p>
        </p:txBody>
      </p:sp>
      <p:sp>
        <p:nvSpPr>
          <p:cNvPr id="1612492338" name="Text 38"/>
          <p:cNvSpPr/>
          <p:nvPr/>
        </p:nvSpPr>
        <p:spPr bwMode="auto">
          <a:xfrm>
            <a:off x="6126480" y="4059936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00D4AA"/>
                </a:solidFill>
                <a:latin typeface="Courier New"/>
                <a:ea typeface="Courier New"/>
                <a:cs typeface="Courier New"/>
              </a:rPr>
              <a:t>  END leiras;</a:t>
            </a:r>
            <a:endParaRPr lang="en-US" sz="950"/>
          </a:p>
        </p:txBody>
      </p:sp>
      <p:sp>
        <p:nvSpPr>
          <p:cNvPr id="847543493" name="Text 39"/>
          <p:cNvSpPr/>
          <p:nvPr/>
        </p:nvSpPr>
        <p:spPr bwMode="auto">
          <a:xfrm>
            <a:off x="6126480" y="4398264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00D4AA"/>
                </a:solidFill>
                <a:latin typeface="Courier New"/>
                <a:ea typeface="Courier New"/>
                <a:cs typeface="Courier New"/>
              </a:rPr>
              <a:t>END;</a:t>
            </a:r>
            <a:endParaRPr lang="en-US" sz="950"/>
          </a:p>
        </p:txBody>
      </p:sp>
      <p:sp>
        <p:nvSpPr>
          <p:cNvPr id="1411221009" name="Shape 40"/>
          <p:cNvSpPr/>
          <p:nvPr/>
        </p:nvSpPr>
        <p:spPr bwMode="auto">
          <a:xfrm>
            <a:off x="274320" y="4727448"/>
            <a:ext cx="8595360" cy="274320"/>
          </a:xfrm>
          <a:prstGeom prst="rect">
            <a:avLst/>
          </a:prstGeom>
          <a:solidFill>
            <a:srgbClr val="FFF0D0"/>
          </a:solidFill>
          <a:ln/>
        </p:spPr>
      </p:sp>
      <p:sp>
        <p:nvSpPr>
          <p:cNvPr id="1755637231" name="Shape 41"/>
          <p:cNvSpPr/>
          <p:nvPr/>
        </p:nvSpPr>
        <p:spPr bwMode="auto">
          <a:xfrm>
            <a:off x="274320" y="4727448"/>
            <a:ext cx="45720" cy="27432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516458751" name="Text 42"/>
          <p:cNvSpPr/>
          <p:nvPr/>
        </p:nvSpPr>
        <p:spPr bwMode="auto">
          <a:xfrm>
            <a:off x="384048" y="4727448"/>
            <a:ext cx="8366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7A5500"/>
                </a:solidFill>
                <a:latin typeface="Calibri"/>
                <a:ea typeface="Calibri"/>
                <a:cs typeface="Calibri"/>
              </a:rPr>
              <a:t>SELF = az aktuális objektum példányra mutat, ugyanaz mint a Java "this" vagy C# "this" kulcsszó</a:t>
            </a:r>
            <a:endParaRPr lang="en-US" sz="1100"/>
          </a:p>
        </p:txBody>
      </p:sp>
      <p:sp>
        <p:nvSpPr>
          <p:cNvPr id="2042854573" name="Shape 43"/>
          <p:cNvSpPr/>
          <p:nvPr/>
        </p:nvSpPr>
        <p:spPr bwMode="auto">
          <a:xfrm>
            <a:off x="0" y="5065776"/>
            <a:ext cx="9144000" cy="73152"/>
          </a:xfrm>
          <a:prstGeom prst="rect">
            <a:avLst/>
          </a:prstGeom>
          <a:solidFill>
            <a:srgbClr val="00D4AA"/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8">
    <p:bg>
      <p:bgPr shadeToTitle="0">
        <a:solidFill>
          <a:srgbClr val="0A162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7462698" name="Shape 0"/>
          <p:cNvSpPr/>
          <p:nvPr/>
        </p:nvSpPr>
        <p:spPr bwMode="auto">
          <a:xfrm>
            <a:off x="0" y="0"/>
            <a:ext cx="9144000" cy="73152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340632403" name="Text 1"/>
          <p:cNvSpPr/>
          <p:nvPr/>
        </p:nvSpPr>
        <p:spPr bwMode="auto">
          <a:xfrm>
            <a:off x="457200" y="1097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2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4b. gyakorlat.xml struktúra → Oracle UDT leképezés</a:t>
            </a:r>
            <a:endParaRPr lang="en-US" sz="2200"/>
          </a:p>
        </p:txBody>
      </p:sp>
      <p:sp>
        <p:nvSpPr>
          <p:cNvPr id="1592078751" name="Text 2"/>
          <p:cNvSpPr/>
          <p:nvPr/>
        </p:nvSpPr>
        <p:spPr bwMode="auto">
          <a:xfrm>
            <a:off x="320040" y="7132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00A8E8"/>
                </a:solidFill>
                <a:latin typeface="Trebuchet MS"/>
                <a:ea typeface="Trebuchet MS"/>
                <a:cs typeface="Trebuchet MS"/>
              </a:rPr>
              <a:t>XML struktúra</a:t>
            </a:r>
            <a:endParaRPr lang="en-US" sz="1200"/>
          </a:p>
        </p:txBody>
      </p:sp>
      <p:sp>
        <p:nvSpPr>
          <p:cNvPr id="873241105" name="Shape 3"/>
          <p:cNvSpPr/>
          <p:nvPr/>
        </p:nvSpPr>
        <p:spPr bwMode="auto">
          <a:xfrm>
            <a:off x="320040" y="1024128"/>
            <a:ext cx="3657600" cy="2926080"/>
          </a:xfrm>
          <a:prstGeom prst="rect">
            <a:avLst/>
          </a:prstGeom>
          <a:solidFill>
            <a:srgbClr val="1E2D3D"/>
          </a:solidFill>
          <a:ln/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1869623394" name="Shape 4"/>
          <p:cNvSpPr/>
          <p:nvPr/>
        </p:nvSpPr>
        <p:spPr bwMode="auto">
          <a:xfrm>
            <a:off x="320040" y="1024128"/>
            <a:ext cx="292608" cy="2926080"/>
          </a:xfrm>
          <a:prstGeom prst="rect">
            <a:avLst/>
          </a:prstGeom>
          <a:solidFill>
            <a:srgbClr val="0D2233"/>
          </a:solidFill>
          <a:ln/>
        </p:spPr>
      </p:sp>
      <p:sp>
        <p:nvSpPr>
          <p:cNvPr id="109265332" name="Text 5"/>
          <p:cNvSpPr/>
          <p:nvPr/>
        </p:nvSpPr>
        <p:spPr bwMode="auto">
          <a:xfrm>
            <a:off x="320040" y="1024128"/>
            <a:ext cx="292608" cy="325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3A5A7A"/>
                </a:solidFill>
                <a:latin typeface="Courier New"/>
                <a:ea typeface="Courier New"/>
                <a:cs typeface="Courier New"/>
              </a:rPr>
              <a:t>1</a:t>
            </a:r>
            <a:endParaRPr lang="en-US" sz="800"/>
          </a:p>
        </p:txBody>
      </p:sp>
      <p:sp>
        <p:nvSpPr>
          <p:cNvPr id="1893181538" name="Text 6"/>
          <p:cNvSpPr/>
          <p:nvPr/>
        </p:nvSpPr>
        <p:spPr bwMode="auto">
          <a:xfrm>
            <a:off x="667512" y="1024128"/>
            <a:ext cx="3264408" cy="325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A8D8EA"/>
                </a:solidFill>
                <a:latin typeface="Courier New"/>
                <a:ea typeface="Courier New"/>
                <a:cs typeface="Courier New"/>
              </a:rPr>
              <a:t>&lt;etterem ekod='e1'&gt;</a:t>
            </a:r>
            <a:endParaRPr lang="en-US" sz="950"/>
          </a:p>
        </p:txBody>
      </p:sp>
      <p:sp>
        <p:nvSpPr>
          <p:cNvPr id="818001393" name="Text 7"/>
          <p:cNvSpPr/>
          <p:nvPr/>
        </p:nvSpPr>
        <p:spPr bwMode="auto">
          <a:xfrm>
            <a:off x="320040" y="1349248"/>
            <a:ext cx="292608" cy="325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3A5A7A"/>
                </a:solidFill>
                <a:latin typeface="Courier New"/>
                <a:ea typeface="Courier New"/>
                <a:cs typeface="Courier New"/>
              </a:rPr>
              <a:t>2</a:t>
            </a:r>
            <a:endParaRPr lang="en-US" sz="800"/>
          </a:p>
        </p:txBody>
      </p:sp>
      <p:sp>
        <p:nvSpPr>
          <p:cNvPr id="1375350021" name="Text 8"/>
          <p:cNvSpPr/>
          <p:nvPr/>
        </p:nvSpPr>
        <p:spPr bwMode="auto">
          <a:xfrm>
            <a:off x="667512" y="1349248"/>
            <a:ext cx="3264408" cy="325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A8D8EA"/>
                </a:solidFill>
                <a:latin typeface="Courier New"/>
                <a:ea typeface="Courier New"/>
                <a:cs typeface="Courier New"/>
              </a:rPr>
              <a:t>  &lt;nev&gt;Trófea&lt;/nev&gt;</a:t>
            </a:r>
            <a:endParaRPr lang="en-US" sz="950"/>
          </a:p>
        </p:txBody>
      </p:sp>
      <p:sp>
        <p:nvSpPr>
          <p:cNvPr id="215437202" name="Text 9"/>
          <p:cNvSpPr/>
          <p:nvPr/>
        </p:nvSpPr>
        <p:spPr bwMode="auto">
          <a:xfrm>
            <a:off x="320040" y="1674368"/>
            <a:ext cx="292608" cy="325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3A5A7A"/>
                </a:solidFill>
                <a:latin typeface="Courier New"/>
                <a:ea typeface="Courier New"/>
                <a:cs typeface="Courier New"/>
              </a:rPr>
              <a:t>3</a:t>
            </a:r>
            <a:endParaRPr lang="en-US" sz="800"/>
          </a:p>
        </p:txBody>
      </p:sp>
      <p:sp>
        <p:nvSpPr>
          <p:cNvPr id="2118742592" name="Shape 10"/>
          <p:cNvSpPr/>
          <p:nvPr/>
        </p:nvSpPr>
        <p:spPr bwMode="auto">
          <a:xfrm>
            <a:off x="612648" y="1674368"/>
            <a:ext cx="3364992" cy="325120"/>
          </a:xfrm>
          <a:prstGeom prst="rect">
            <a:avLst/>
          </a:prstGeom>
          <a:solidFill>
            <a:srgbClr val="1A4A3A"/>
          </a:solidFill>
          <a:ln/>
        </p:spPr>
      </p:sp>
      <p:sp>
        <p:nvSpPr>
          <p:cNvPr id="1342122565" name="Text 11"/>
          <p:cNvSpPr/>
          <p:nvPr/>
        </p:nvSpPr>
        <p:spPr bwMode="auto">
          <a:xfrm>
            <a:off x="667512" y="1674368"/>
            <a:ext cx="3264408" cy="325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00D4AA"/>
                </a:solidFill>
                <a:latin typeface="Courier New"/>
                <a:ea typeface="Courier New"/>
                <a:cs typeface="Courier New"/>
              </a:rPr>
              <a:t>  &lt;cim&gt;</a:t>
            </a:r>
            <a:endParaRPr lang="en-US" sz="950"/>
          </a:p>
        </p:txBody>
      </p:sp>
      <p:sp>
        <p:nvSpPr>
          <p:cNvPr id="32873395" name="Text 12"/>
          <p:cNvSpPr/>
          <p:nvPr/>
        </p:nvSpPr>
        <p:spPr bwMode="auto">
          <a:xfrm>
            <a:off x="320040" y="1999488"/>
            <a:ext cx="292608" cy="325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3A5A7A"/>
                </a:solidFill>
                <a:latin typeface="Courier New"/>
                <a:ea typeface="Courier New"/>
                <a:cs typeface="Courier New"/>
              </a:rPr>
              <a:t>4</a:t>
            </a:r>
            <a:endParaRPr lang="en-US" sz="800"/>
          </a:p>
        </p:txBody>
      </p:sp>
      <p:sp>
        <p:nvSpPr>
          <p:cNvPr id="546061376" name="Shape 13"/>
          <p:cNvSpPr/>
          <p:nvPr/>
        </p:nvSpPr>
        <p:spPr bwMode="auto">
          <a:xfrm>
            <a:off x="612648" y="1999488"/>
            <a:ext cx="3364992" cy="325120"/>
          </a:xfrm>
          <a:prstGeom prst="rect">
            <a:avLst/>
          </a:prstGeom>
          <a:solidFill>
            <a:srgbClr val="1A4A3A"/>
          </a:solidFill>
          <a:ln/>
        </p:spPr>
      </p:sp>
      <p:sp>
        <p:nvSpPr>
          <p:cNvPr id="911498970" name="Text 14"/>
          <p:cNvSpPr/>
          <p:nvPr/>
        </p:nvSpPr>
        <p:spPr bwMode="auto">
          <a:xfrm>
            <a:off x="667512" y="1999488"/>
            <a:ext cx="3264408" cy="325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00D4AA"/>
                </a:solidFill>
                <a:latin typeface="Courier New"/>
                <a:ea typeface="Courier New"/>
                <a:cs typeface="Courier New"/>
              </a:rPr>
              <a:t>    &lt;varos&gt;Budapest&lt;/varos&gt;</a:t>
            </a:r>
            <a:endParaRPr lang="en-US" sz="950"/>
          </a:p>
        </p:txBody>
      </p:sp>
      <p:sp>
        <p:nvSpPr>
          <p:cNvPr id="1624264150" name="Text 15"/>
          <p:cNvSpPr/>
          <p:nvPr/>
        </p:nvSpPr>
        <p:spPr bwMode="auto">
          <a:xfrm>
            <a:off x="320040" y="2324608"/>
            <a:ext cx="292608" cy="325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3A5A7A"/>
                </a:solidFill>
                <a:latin typeface="Courier New"/>
                <a:ea typeface="Courier New"/>
                <a:cs typeface="Courier New"/>
              </a:rPr>
              <a:t>5</a:t>
            </a:r>
            <a:endParaRPr lang="en-US" sz="800"/>
          </a:p>
        </p:txBody>
      </p:sp>
      <p:sp>
        <p:nvSpPr>
          <p:cNvPr id="177203940" name="Shape 16"/>
          <p:cNvSpPr/>
          <p:nvPr/>
        </p:nvSpPr>
        <p:spPr bwMode="auto">
          <a:xfrm>
            <a:off x="612648" y="2324608"/>
            <a:ext cx="3364992" cy="325120"/>
          </a:xfrm>
          <a:prstGeom prst="rect">
            <a:avLst/>
          </a:prstGeom>
          <a:solidFill>
            <a:srgbClr val="1A4A3A"/>
          </a:solidFill>
          <a:ln/>
        </p:spPr>
      </p:sp>
      <p:sp>
        <p:nvSpPr>
          <p:cNvPr id="441251216" name="Text 17"/>
          <p:cNvSpPr/>
          <p:nvPr/>
        </p:nvSpPr>
        <p:spPr bwMode="auto">
          <a:xfrm>
            <a:off x="667512" y="2324608"/>
            <a:ext cx="3264408" cy="325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00D4AA"/>
                </a:solidFill>
                <a:latin typeface="Courier New"/>
                <a:ea typeface="Courier New"/>
                <a:cs typeface="Courier New"/>
              </a:rPr>
              <a:t>    &lt;utca&gt;Visegrád&lt;/utca&gt;</a:t>
            </a:r>
            <a:endParaRPr lang="en-US" sz="950"/>
          </a:p>
        </p:txBody>
      </p:sp>
      <p:sp>
        <p:nvSpPr>
          <p:cNvPr id="448228285" name="Text 18"/>
          <p:cNvSpPr/>
          <p:nvPr/>
        </p:nvSpPr>
        <p:spPr bwMode="auto">
          <a:xfrm>
            <a:off x="320040" y="2649728"/>
            <a:ext cx="292608" cy="325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3A5A7A"/>
                </a:solidFill>
                <a:latin typeface="Courier New"/>
                <a:ea typeface="Courier New"/>
                <a:cs typeface="Courier New"/>
              </a:rPr>
              <a:t>6</a:t>
            </a:r>
            <a:endParaRPr lang="en-US" sz="800"/>
          </a:p>
        </p:txBody>
      </p:sp>
      <p:sp>
        <p:nvSpPr>
          <p:cNvPr id="1014379281" name="Shape 19"/>
          <p:cNvSpPr/>
          <p:nvPr/>
        </p:nvSpPr>
        <p:spPr bwMode="auto">
          <a:xfrm>
            <a:off x="612648" y="2649728"/>
            <a:ext cx="3364992" cy="325120"/>
          </a:xfrm>
          <a:prstGeom prst="rect">
            <a:avLst/>
          </a:prstGeom>
          <a:solidFill>
            <a:srgbClr val="1A4A3A"/>
          </a:solidFill>
          <a:ln/>
        </p:spPr>
      </p:sp>
      <p:sp>
        <p:nvSpPr>
          <p:cNvPr id="1315901392" name="Text 20"/>
          <p:cNvSpPr/>
          <p:nvPr/>
        </p:nvSpPr>
        <p:spPr bwMode="auto">
          <a:xfrm>
            <a:off x="667512" y="2649728"/>
            <a:ext cx="3264408" cy="325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00D4AA"/>
                </a:solidFill>
                <a:latin typeface="Courier New"/>
                <a:ea typeface="Courier New"/>
                <a:cs typeface="Courier New"/>
              </a:rPr>
              <a:t>    &lt;hazszam&gt;13&lt;/hazszam&gt;</a:t>
            </a:r>
            <a:endParaRPr lang="en-US" sz="950"/>
          </a:p>
        </p:txBody>
      </p:sp>
      <p:sp>
        <p:nvSpPr>
          <p:cNvPr id="1769877366" name="Text 21"/>
          <p:cNvSpPr/>
          <p:nvPr/>
        </p:nvSpPr>
        <p:spPr bwMode="auto">
          <a:xfrm>
            <a:off x="320040" y="2974848"/>
            <a:ext cx="292608" cy="325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3A5A7A"/>
                </a:solidFill>
                <a:latin typeface="Courier New"/>
                <a:ea typeface="Courier New"/>
                <a:cs typeface="Courier New"/>
              </a:rPr>
              <a:t>7</a:t>
            </a:r>
            <a:endParaRPr lang="en-US" sz="800"/>
          </a:p>
        </p:txBody>
      </p:sp>
      <p:sp>
        <p:nvSpPr>
          <p:cNvPr id="2035215744" name="Shape 22"/>
          <p:cNvSpPr/>
          <p:nvPr/>
        </p:nvSpPr>
        <p:spPr bwMode="auto">
          <a:xfrm>
            <a:off x="612648" y="2974848"/>
            <a:ext cx="3364992" cy="325120"/>
          </a:xfrm>
          <a:prstGeom prst="rect">
            <a:avLst/>
          </a:prstGeom>
          <a:solidFill>
            <a:srgbClr val="1A4A3A"/>
          </a:solidFill>
          <a:ln/>
        </p:spPr>
      </p:sp>
      <p:sp>
        <p:nvSpPr>
          <p:cNvPr id="785257409" name="Text 23"/>
          <p:cNvSpPr/>
          <p:nvPr/>
        </p:nvSpPr>
        <p:spPr bwMode="auto">
          <a:xfrm>
            <a:off x="667512" y="2974848"/>
            <a:ext cx="3264408" cy="325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00D4AA"/>
                </a:solidFill>
                <a:latin typeface="Courier New"/>
                <a:ea typeface="Courier New"/>
                <a:cs typeface="Courier New"/>
              </a:rPr>
              <a:t>  &lt;/cim&gt;</a:t>
            </a:r>
            <a:endParaRPr lang="en-US" sz="950"/>
          </a:p>
        </p:txBody>
      </p:sp>
      <p:sp>
        <p:nvSpPr>
          <p:cNvPr id="426750416" name="Text 24"/>
          <p:cNvSpPr/>
          <p:nvPr/>
        </p:nvSpPr>
        <p:spPr bwMode="auto">
          <a:xfrm>
            <a:off x="320040" y="3299968"/>
            <a:ext cx="292608" cy="325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3A5A7A"/>
                </a:solidFill>
                <a:latin typeface="Courier New"/>
                <a:ea typeface="Courier New"/>
                <a:cs typeface="Courier New"/>
              </a:rPr>
              <a:t>8</a:t>
            </a:r>
            <a:endParaRPr lang="en-US" sz="800"/>
          </a:p>
        </p:txBody>
      </p:sp>
      <p:sp>
        <p:nvSpPr>
          <p:cNvPr id="110701256" name="Text 25"/>
          <p:cNvSpPr/>
          <p:nvPr/>
        </p:nvSpPr>
        <p:spPr bwMode="auto">
          <a:xfrm>
            <a:off x="667512" y="3299968"/>
            <a:ext cx="3264408" cy="325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A8D8EA"/>
                </a:solidFill>
                <a:latin typeface="Courier New"/>
                <a:ea typeface="Courier New"/>
                <a:cs typeface="Courier New"/>
              </a:rPr>
              <a:t>  &lt;csillag&gt;4&lt;/csillag&gt;</a:t>
            </a:r>
            <a:endParaRPr lang="en-US" sz="950"/>
          </a:p>
        </p:txBody>
      </p:sp>
      <p:sp>
        <p:nvSpPr>
          <p:cNvPr id="840257329" name="Text 26"/>
          <p:cNvSpPr/>
          <p:nvPr/>
        </p:nvSpPr>
        <p:spPr bwMode="auto">
          <a:xfrm>
            <a:off x="320040" y="3625088"/>
            <a:ext cx="292608" cy="325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3A5A7A"/>
                </a:solidFill>
                <a:latin typeface="Courier New"/>
                <a:ea typeface="Courier New"/>
                <a:cs typeface="Courier New"/>
              </a:rPr>
              <a:t>9</a:t>
            </a:r>
            <a:endParaRPr lang="en-US" sz="800"/>
          </a:p>
        </p:txBody>
      </p:sp>
      <p:sp>
        <p:nvSpPr>
          <p:cNvPr id="1253760020" name="Text 27"/>
          <p:cNvSpPr/>
          <p:nvPr/>
        </p:nvSpPr>
        <p:spPr bwMode="auto">
          <a:xfrm>
            <a:off x="667512" y="3625088"/>
            <a:ext cx="3264408" cy="325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A8D8EA"/>
                </a:solidFill>
                <a:latin typeface="Courier New"/>
                <a:ea typeface="Courier New"/>
                <a:cs typeface="Courier New"/>
              </a:rPr>
              <a:t>&lt;/etterem&gt;</a:t>
            </a:r>
            <a:endParaRPr lang="en-US" sz="950"/>
          </a:p>
        </p:txBody>
      </p:sp>
      <p:sp>
        <p:nvSpPr>
          <p:cNvPr id="379205475" name="Text 28"/>
          <p:cNvSpPr/>
          <p:nvPr/>
        </p:nvSpPr>
        <p:spPr bwMode="auto">
          <a:xfrm>
            <a:off x="4069080" y="224028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3000">
                <a:solidFill>
                  <a:srgbClr val="00D4AA"/>
                </a:solidFill>
              </a:rPr>
              <a:t>→</a:t>
            </a:r>
            <a:endParaRPr lang="en-US" sz="3000"/>
          </a:p>
        </p:txBody>
      </p:sp>
      <p:sp>
        <p:nvSpPr>
          <p:cNvPr id="1280649624" name="Text 29"/>
          <p:cNvSpPr/>
          <p:nvPr/>
        </p:nvSpPr>
        <p:spPr bwMode="auto">
          <a:xfrm>
            <a:off x="4663440" y="713232"/>
            <a:ext cx="41605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00D4AA"/>
                </a:solidFill>
                <a:latin typeface="Trebuchet MS"/>
                <a:ea typeface="Trebuchet MS"/>
                <a:cs typeface="Trebuchet MS"/>
              </a:rPr>
              <a:t>Oracle UDT típusok</a:t>
            </a:r>
            <a:endParaRPr lang="en-US" sz="1200"/>
          </a:p>
        </p:txBody>
      </p:sp>
      <p:sp>
        <p:nvSpPr>
          <p:cNvPr id="1176593970" name="Shape 30"/>
          <p:cNvSpPr/>
          <p:nvPr/>
        </p:nvSpPr>
        <p:spPr bwMode="auto">
          <a:xfrm>
            <a:off x="4663440" y="1024128"/>
            <a:ext cx="4160519" cy="3840480"/>
          </a:xfrm>
          <a:prstGeom prst="rect">
            <a:avLst/>
          </a:prstGeom>
          <a:solidFill>
            <a:srgbClr val="1E2D3D"/>
          </a:solidFill>
          <a:ln/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1252375136" name="Shape 31"/>
          <p:cNvSpPr/>
          <p:nvPr/>
        </p:nvSpPr>
        <p:spPr bwMode="auto">
          <a:xfrm>
            <a:off x="4663440" y="1024128"/>
            <a:ext cx="292608" cy="3840480"/>
          </a:xfrm>
          <a:prstGeom prst="rect">
            <a:avLst/>
          </a:prstGeom>
          <a:solidFill>
            <a:srgbClr val="0D2233"/>
          </a:solidFill>
          <a:ln/>
        </p:spPr>
      </p:sp>
      <p:sp>
        <p:nvSpPr>
          <p:cNvPr id="1573489975" name="Text 32"/>
          <p:cNvSpPr/>
          <p:nvPr/>
        </p:nvSpPr>
        <p:spPr bwMode="auto">
          <a:xfrm>
            <a:off x="4663440" y="1024128"/>
            <a:ext cx="292608" cy="295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3A5A7A"/>
                </a:solidFill>
                <a:latin typeface="Courier New"/>
                <a:ea typeface="Courier New"/>
                <a:cs typeface="Courier New"/>
              </a:rPr>
              <a:t>1</a:t>
            </a:r>
            <a:endParaRPr lang="en-US" sz="800"/>
          </a:p>
        </p:txBody>
      </p:sp>
      <p:sp>
        <p:nvSpPr>
          <p:cNvPr id="1567980861" name="Shape 33"/>
          <p:cNvSpPr/>
          <p:nvPr/>
        </p:nvSpPr>
        <p:spPr bwMode="auto">
          <a:xfrm>
            <a:off x="4956048" y="1024128"/>
            <a:ext cx="3867911" cy="295422"/>
          </a:xfrm>
          <a:prstGeom prst="rect">
            <a:avLst/>
          </a:prstGeom>
          <a:solidFill>
            <a:srgbClr val="1A4A3A"/>
          </a:solidFill>
          <a:ln/>
        </p:spPr>
      </p:sp>
      <p:sp>
        <p:nvSpPr>
          <p:cNvPr id="1194563473" name="Text 34"/>
          <p:cNvSpPr/>
          <p:nvPr/>
        </p:nvSpPr>
        <p:spPr bwMode="auto">
          <a:xfrm>
            <a:off x="5010912" y="1024128"/>
            <a:ext cx="3767328" cy="295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00D4AA"/>
                </a:solidFill>
                <a:latin typeface="Courier New"/>
                <a:ea typeface="Courier New"/>
                <a:cs typeface="Courier New"/>
              </a:rPr>
              <a:t>-- &lt;cim&gt; elem → beágyazott típus</a:t>
            </a:r>
            <a:endParaRPr lang="en-US" sz="950"/>
          </a:p>
        </p:txBody>
      </p:sp>
      <p:sp>
        <p:nvSpPr>
          <p:cNvPr id="593686274" name="Text 35"/>
          <p:cNvSpPr/>
          <p:nvPr/>
        </p:nvSpPr>
        <p:spPr bwMode="auto">
          <a:xfrm>
            <a:off x="4663440" y="1319550"/>
            <a:ext cx="292608" cy="295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3A5A7A"/>
                </a:solidFill>
                <a:latin typeface="Courier New"/>
                <a:ea typeface="Courier New"/>
                <a:cs typeface="Courier New"/>
              </a:rPr>
              <a:t>2</a:t>
            </a:r>
            <a:endParaRPr lang="en-US" sz="800"/>
          </a:p>
        </p:txBody>
      </p:sp>
      <p:sp>
        <p:nvSpPr>
          <p:cNvPr id="2033983069" name="Text 36"/>
          <p:cNvSpPr/>
          <p:nvPr/>
        </p:nvSpPr>
        <p:spPr bwMode="auto">
          <a:xfrm>
            <a:off x="5010912" y="1319550"/>
            <a:ext cx="3767328" cy="295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A8D8EA"/>
                </a:solidFill>
                <a:latin typeface="Courier New"/>
                <a:ea typeface="Courier New"/>
                <a:cs typeface="Courier New"/>
              </a:rPr>
              <a:t>CREATE OR REPLACE TYPE cim_t AS OBJECT (</a:t>
            </a:r>
            <a:endParaRPr lang="en-US" sz="950"/>
          </a:p>
        </p:txBody>
      </p:sp>
      <p:sp>
        <p:nvSpPr>
          <p:cNvPr id="650210287" name="Text 37"/>
          <p:cNvSpPr/>
          <p:nvPr/>
        </p:nvSpPr>
        <p:spPr bwMode="auto">
          <a:xfrm>
            <a:off x="4663440" y="1614971"/>
            <a:ext cx="292608" cy="295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3A5A7A"/>
                </a:solidFill>
                <a:latin typeface="Courier New"/>
                <a:ea typeface="Courier New"/>
                <a:cs typeface="Courier New"/>
              </a:rPr>
              <a:t>3</a:t>
            </a:r>
            <a:endParaRPr lang="en-US" sz="800"/>
          </a:p>
        </p:txBody>
      </p:sp>
      <p:sp>
        <p:nvSpPr>
          <p:cNvPr id="1726323531" name="Text 38"/>
          <p:cNvSpPr/>
          <p:nvPr/>
        </p:nvSpPr>
        <p:spPr bwMode="auto">
          <a:xfrm>
            <a:off x="5010912" y="1614971"/>
            <a:ext cx="3767328" cy="295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A8D8EA"/>
                </a:solidFill>
                <a:latin typeface="Courier New"/>
                <a:ea typeface="Courier New"/>
                <a:cs typeface="Courier New"/>
              </a:rPr>
              <a:t>  varos   VARCHAR2(100),  -- &lt;varos&gt;</a:t>
            </a:r>
            <a:endParaRPr lang="en-US" sz="950"/>
          </a:p>
        </p:txBody>
      </p:sp>
      <p:sp>
        <p:nvSpPr>
          <p:cNvPr id="1793441558" name="Text 39"/>
          <p:cNvSpPr/>
          <p:nvPr/>
        </p:nvSpPr>
        <p:spPr bwMode="auto">
          <a:xfrm>
            <a:off x="4663440" y="1910393"/>
            <a:ext cx="292608" cy="295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3A5A7A"/>
                </a:solidFill>
                <a:latin typeface="Courier New"/>
                <a:ea typeface="Courier New"/>
                <a:cs typeface="Courier New"/>
              </a:rPr>
              <a:t>4</a:t>
            </a:r>
            <a:endParaRPr lang="en-US" sz="800"/>
          </a:p>
        </p:txBody>
      </p:sp>
      <p:sp>
        <p:nvSpPr>
          <p:cNvPr id="1933596250" name="Text 40"/>
          <p:cNvSpPr/>
          <p:nvPr/>
        </p:nvSpPr>
        <p:spPr bwMode="auto">
          <a:xfrm>
            <a:off x="5010912" y="1910393"/>
            <a:ext cx="3767328" cy="295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A8D8EA"/>
                </a:solidFill>
                <a:latin typeface="Courier New"/>
                <a:ea typeface="Courier New"/>
                <a:cs typeface="Courier New"/>
              </a:rPr>
              <a:t>  utca    VARCHAR2(200),  -- &lt;utca&gt;</a:t>
            </a:r>
            <a:endParaRPr lang="en-US" sz="950"/>
          </a:p>
        </p:txBody>
      </p:sp>
      <p:sp>
        <p:nvSpPr>
          <p:cNvPr id="1919503607" name="Text 41"/>
          <p:cNvSpPr/>
          <p:nvPr/>
        </p:nvSpPr>
        <p:spPr bwMode="auto">
          <a:xfrm>
            <a:off x="4663440" y="2205814"/>
            <a:ext cx="292608" cy="295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3A5A7A"/>
                </a:solidFill>
                <a:latin typeface="Courier New"/>
                <a:ea typeface="Courier New"/>
                <a:cs typeface="Courier New"/>
              </a:rPr>
              <a:t>5</a:t>
            </a:r>
            <a:endParaRPr lang="en-US" sz="800"/>
          </a:p>
        </p:txBody>
      </p:sp>
      <p:sp>
        <p:nvSpPr>
          <p:cNvPr id="1638228270" name="Text 42"/>
          <p:cNvSpPr/>
          <p:nvPr/>
        </p:nvSpPr>
        <p:spPr bwMode="auto">
          <a:xfrm>
            <a:off x="5010912" y="2205814"/>
            <a:ext cx="3767328" cy="295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A8D8EA"/>
                </a:solidFill>
                <a:latin typeface="Courier New"/>
                <a:ea typeface="Courier New"/>
                <a:cs typeface="Courier New"/>
              </a:rPr>
              <a:t>  hazszam VARCHAR2(10)    -- &lt;hazszam&gt;</a:t>
            </a:r>
            <a:endParaRPr lang="en-US" sz="950"/>
          </a:p>
        </p:txBody>
      </p:sp>
      <p:sp>
        <p:nvSpPr>
          <p:cNvPr id="648110504" name="Text 43"/>
          <p:cNvSpPr/>
          <p:nvPr/>
        </p:nvSpPr>
        <p:spPr bwMode="auto">
          <a:xfrm>
            <a:off x="4663440" y="2501236"/>
            <a:ext cx="292608" cy="295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3A5A7A"/>
                </a:solidFill>
                <a:latin typeface="Courier New"/>
                <a:ea typeface="Courier New"/>
                <a:cs typeface="Courier New"/>
              </a:rPr>
              <a:t>6</a:t>
            </a:r>
            <a:endParaRPr lang="en-US" sz="800"/>
          </a:p>
        </p:txBody>
      </p:sp>
      <p:sp>
        <p:nvSpPr>
          <p:cNvPr id="663001917" name="Text 44"/>
          <p:cNvSpPr/>
          <p:nvPr/>
        </p:nvSpPr>
        <p:spPr bwMode="auto">
          <a:xfrm>
            <a:off x="5010912" y="2501236"/>
            <a:ext cx="3767328" cy="295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A8D8EA"/>
                </a:solidFill>
                <a:latin typeface="Courier New"/>
                <a:ea typeface="Courier New"/>
                <a:cs typeface="Courier New"/>
              </a:rPr>
              <a:t>);</a:t>
            </a:r>
            <a:endParaRPr lang="en-US" sz="950"/>
          </a:p>
        </p:txBody>
      </p:sp>
      <p:sp>
        <p:nvSpPr>
          <p:cNvPr id="393866158" name="Text 45"/>
          <p:cNvSpPr/>
          <p:nvPr/>
        </p:nvSpPr>
        <p:spPr bwMode="auto">
          <a:xfrm>
            <a:off x="4663440" y="2796657"/>
            <a:ext cx="292608" cy="295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3A5A7A"/>
                </a:solidFill>
                <a:latin typeface="Courier New"/>
                <a:ea typeface="Courier New"/>
                <a:cs typeface="Courier New"/>
              </a:rPr>
              <a:t>7</a:t>
            </a:r>
            <a:endParaRPr lang="en-US" sz="800"/>
          </a:p>
        </p:txBody>
      </p:sp>
      <p:sp>
        <p:nvSpPr>
          <p:cNvPr id="1546230043" name="Shape 46"/>
          <p:cNvSpPr/>
          <p:nvPr/>
        </p:nvSpPr>
        <p:spPr bwMode="auto">
          <a:xfrm>
            <a:off x="4956048" y="2796657"/>
            <a:ext cx="3867911" cy="295422"/>
          </a:xfrm>
          <a:prstGeom prst="rect">
            <a:avLst/>
          </a:prstGeom>
          <a:solidFill>
            <a:srgbClr val="1A4A3A"/>
          </a:solidFill>
          <a:ln/>
        </p:spPr>
      </p:sp>
      <p:sp>
        <p:nvSpPr>
          <p:cNvPr id="1713176883" name="Text 47"/>
          <p:cNvSpPr/>
          <p:nvPr/>
        </p:nvSpPr>
        <p:spPr bwMode="auto">
          <a:xfrm>
            <a:off x="5010912" y="2796657"/>
            <a:ext cx="3767328" cy="295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00D4AA"/>
                </a:solidFill>
                <a:latin typeface="Courier New"/>
                <a:ea typeface="Courier New"/>
                <a:cs typeface="Courier New"/>
              </a:rPr>
              <a:t>-- &lt;etterem&gt; elem → fő típus</a:t>
            </a:r>
            <a:endParaRPr lang="en-US" sz="950"/>
          </a:p>
        </p:txBody>
      </p:sp>
      <p:sp>
        <p:nvSpPr>
          <p:cNvPr id="2027876770" name="Text 48"/>
          <p:cNvSpPr/>
          <p:nvPr/>
        </p:nvSpPr>
        <p:spPr bwMode="auto">
          <a:xfrm>
            <a:off x="4663440" y="3092079"/>
            <a:ext cx="292608" cy="295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3A5A7A"/>
                </a:solidFill>
                <a:latin typeface="Courier New"/>
                <a:ea typeface="Courier New"/>
                <a:cs typeface="Courier New"/>
              </a:rPr>
              <a:t>8</a:t>
            </a:r>
            <a:endParaRPr lang="en-US" sz="800"/>
          </a:p>
        </p:txBody>
      </p:sp>
      <p:sp>
        <p:nvSpPr>
          <p:cNvPr id="1063264010" name="Text 49"/>
          <p:cNvSpPr/>
          <p:nvPr/>
        </p:nvSpPr>
        <p:spPr bwMode="auto">
          <a:xfrm>
            <a:off x="5010912" y="3092079"/>
            <a:ext cx="3767328" cy="295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A8D8EA"/>
                </a:solidFill>
                <a:latin typeface="Courier New"/>
                <a:ea typeface="Courier New"/>
                <a:cs typeface="Courier New"/>
              </a:rPr>
              <a:t>CREATE OR REPLACE TYPE etterem_t AS OBJECT (</a:t>
            </a:r>
            <a:endParaRPr lang="en-US" sz="950"/>
          </a:p>
        </p:txBody>
      </p:sp>
      <p:sp>
        <p:nvSpPr>
          <p:cNvPr id="801793587" name="Text 50"/>
          <p:cNvSpPr/>
          <p:nvPr/>
        </p:nvSpPr>
        <p:spPr bwMode="auto">
          <a:xfrm>
            <a:off x="4663440" y="3387500"/>
            <a:ext cx="292608" cy="295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3A5A7A"/>
                </a:solidFill>
                <a:latin typeface="Courier New"/>
                <a:ea typeface="Courier New"/>
                <a:cs typeface="Courier New"/>
              </a:rPr>
              <a:t>9</a:t>
            </a:r>
            <a:endParaRPr lang="en-US" sz="800"/>
          </a:p>
        </p:txBody>
      </p:sp>
      <p:sp>
        <p:nvSpPr>
          <p:cNvPr id="1687911141" name="Text 51"/>
          <p:cNvSpPr/>
          <p:nvPr/>
        </p:nvSpPr>
        <p:spPr bwMode="auto">
          <a:xfrm>
            <a:off x="5010912" y="3387500"/>
            <a:ext cx="3767328" cy="295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A8D8EA"/>
                </a:solidFill>
                <a:latin typeface="Courier New"/>
                <a:ea typeface="Courier New"/>
                <a:cs typeface="Courier New"/>
              </a:rPr>
              <a:t>  ekod    VARCHAR2(10),  -- @ekod attribútum</a:t>
            </a:r>
            <a:endParaRPr lang="en-US" sz="950"/>
          </a:p>
        </p:txBody>
      </p:sp>
      <p:sp>
        <p:nvSpPr>
          <p:cNvPr id="1871029649" name="Text 52"/>
          <p:cNvSpPr/>
          <p:nvPr/>
        </p:nvSpPr>
        <p:spPr bwMode="auto">
          <a:xfrm>
            <a:off x="4663440" y="3682922"/>
            <a:ext cx="292608" cy="295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3A5A7A"/>
                </a:solidFill>
                <a:latin typeface="Courier New"/>
                <a:ea typeface="Courier New"/>
                <a:cs typeface="Courier New"/>
              </a:rPr>
              <a:t>10</a:t>
            </a:r>
            <a:endParaRPr lang="en-US" sz="800"/>
          </a:p>
        </p:txBody>
      </p:sp>
      <p:sp>
        <p:nvSpPr>
          <p:cNvPr id="1405417075" name="Text 53"/>
          <p:cNvSpPr/>
          <p:nvPr/>
        </p:nvSpPr>
        <p:spPr bwMode="auto">
          <a:xfrm>
            <a:off x="5010912" y="3682922"/>
            <a:ext cx="3767328" cy="295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A8D8EA"/>
                </a:solidFill>
                <a:latin typeface="Courier New"/>
                <a:ea typeface="Courier New"/>
                <a:cs typeface="Courier New"/>
              </a:rPr>
              <a:t>  nev     VARCHAR2(200), -- &lt;nev&gt;</a:t>
            </a:r>
            <a:endParaRPr lang="en-US" sz="950"/>
          </a:p>
        </p:txBody>
      </p:sp>
      <p:sp>
        <p:nvSpPr>
          <p:cNvPr id="1001448916" name="Text 54"/>
          <p:cNvSpPr/>
          <p:nvPr/>
        </p:nvSpPr>
        <p:spPr bwMode="auto">
          <a:xfrm>
            <a:off x="4663440" y="3978343"/>
            <a:ext cx="292608" cy="295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3A5A7A"/>
                </a:solidFill>
                <a:latin typeface="Courier New"/>
                <a:ea typeface="Courier New"/>
                <a:cs typeface="Courier New"/>
              </a:rPr>
              <a:t>11</a:t>
            </a:r>
            <a:endParaRPr lang="en-US" sz="800"/>
          </a:p>
        </p:txBody>
      </p:sp>
      <p:sp>
        <p:nvSpPr>
          <p:cNvPr id="112659666" name="Text 55"/>
          <p:cNvSpPr/>
          <p:nvPr/>
        </p:nvSpPr>
        <p:spPr bwMode="auto">
          <a:xfrm>
            <a:off x="5010912" y="3978343"/>
            <a:ext cx="3767328" cy="295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A8D8EA"/>
                </a:solidFill>
                <a:latin typeface="Courier New"/>
                <a:ea typeface="Courier New"/>
                <a:cs typeface="Courier New"/>
              </a:rPr>
              <a:t>  csillag NUMBER(1),     -- &lt;csillag&gt;</a:t>
            </a:r>
            <a:endParaRPr lang="en-US" sz="950"/>
          </a:p>
        </p:txBody>
      </p:sp>
      <p:sp>
        <p:nvSpPr>
          <p:cNvPr id="742027309" name="Text 56"/>
          <p:cNvSpPr/>
          <p:nvPr/>
        </p:nvSpPr>
        <p:spPr bwMode="auto">
          <a:xfrm>
            <a:off x="4663440" y="4273765"/>
            <a:ext cx="292608" cy="295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3A5A7A"/>
                </a:solidFill>
                <a:latin typeface="Courier New"/>
                <a:ea typeface="Courier New"/>
                <a:cs typeface="Courier New"/>
              </a:rPr>
              <a:t>12</a:t>
            </a:r>
            <a:endParaRPr lang="en-US" sz="800"/>
          </a:p>
        </p:txBody>
      </p:sp>
      <p:sp>
        <p:nvSpPr>
          <p:cNvPr id="494372482" name="Shape 57"/>
          <p:cNvSpPr/>
          <p:nvPr/>
        </p:nvSpPr>
        <p:spPr bwMode="auto">
          <a:xfrm>
            <a:off x="4956048" y="4273765"/>
            <a:ext cx="3867911" cy="295422"/>
          </a:xfrm>
          <a:prstGeom prst="rect">
            <a:avLst/>
          </a:prstGeom>
          <a:solidFill>
            <a:srgbClr val="1A4A3A"/>
          </a:solidFill>
          <a:ln/>
        </p:spPr>
      </p:sp>
      <p:sp>
        <p:nvSpPr>
          <p:cNvPr id="271362382" name="Text 58"/>
          <p:cNvSpPr/>
          <p:nvPr/>
        </p:nvSpPr>
        <p:spPr bwMode="auto">
          <a:xfrm>
            <a:off x="5010912" y="4273765"/>
            <a:ext cx="3767328" cy="295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00D4AA"/>
                </a:solidFill>
                <a:latin typeface="Courier New"/>
                <a:ea typeface="Courier New"/>
                <a:cs typeface="Courier New"/>
              </a:rPr>
              <a:t>  cim     cim_t          -- ← beágyazott UDT!</a:t>
            </a:r>
            <a:endParaRPr lang="en-US" sz="950"/>
          </a:p>
        </p:txBody>
      </p:sp>
      <p:sp>
        <p:nvSpPr>
          <p:cNvPr id="613394109" name="Text 59"/>
          <p:cNvSpPr/>
          <p:nvPr/>
        </p:nvSpPr>
        <p:spPr bwMode="auto">
          <a:xfrm>
            <a:off x="4663440" y="4569186"/>
            <a:ext cx="292608" cy="295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3A5A7A"/>
                </a:solidFill>
                <a:latin typeface="Courier New"/>
                <a:ea typeface="Courier New"/>
                <a:cs typeface="Courier New"/>
              </a:rPr>
              <a:t>13</a:t>
            </a:r>
            <a:endParaRPr lang="en-US" sz="800"/>
          </a:p>
        </p:txBody>
      </p:sp>
      <p:sp>
        <p:nvSpPr>
          <p:cNvPr id="166741850" name="Text 60"/>
          <p:cNvSpPr/>
          <p:nvPr/>
        </p:nvSpPr>
        <p:spPr bwMode="auto">
          <a:xfrm>
            <a:off x="5010912" y="4569186"/>
            <a:ext cx="3767328" cy="295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A8D8EA"/>
                </a:solidFill>
                <a:latin typeface="Courier New"/>
                <a:ea typeface="Courier New"/>
                <a:cs typeface="Courier New"/>
              </a:rPr>
              <a:t>);</a:t>
            </a:r>
            <a:endParaRPr lang="en-US" sz="950"/>
          </a:p>
        </p:txBody>
      </p:sp>
      <p:sp>
        <p:nvSpPr>
          <p:cNvPr id="258997673" name="Shape 63"/>
          <p:cNvSpPr/>
          <p:nvPr/>
        </p:nvSpPr>
        <p:spPr bwMode="auto">
          <a:xfrm>
            <a:off x="0" y="5065776"/>
            <a:ext cx="9144000" cy="73152"/>
          </a:xfrm>
          <a:prstGeom prst="rect">
            <a:avLst/>
          </a:prstGeom>
          <a:solidFill>
            <a:srgbClr val="00D4AA"/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9">
    <p:bg>
      <p:bgPr shadeToTitle="0">
        <a:solidFill>
          <a:srgbClr val="0A162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3702276" name="Shape 0"/>
          <p:cNvSpPr/>
          <p:nvPr/>
        </p:nvSpPr>
        <p:spPr bwMode="auto">
          <a:xfrm>
            <a:off x="0" y="0"/>
            <a:ext cx="9144000" cy="73152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1587799908" name="Text 1"/>
          <p:cNvSpPr/>
          <p:nvPr/>
        </p:nvSpPr>
        <p:spPr bwMode="auto">
          <a:xfrm>
            <a:off x="457200" y="1097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2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5. XML → Object Table (INSERT … SELECT + XMLTABLE)</a:t>
            </a:r>
            <a:endParaRPr lang="en-US" sz="2200"/>
          </a:p>
        </p:txBody>
      </p:sp>
      <p:sp>
        <p:nvSpPr>
          <p:cNvPr id="1277447335" name="Shape 4"/>
          <p:cNvSpPr/>
          <p:nvPr/>
        </p:nvSpPr>
        <p:spPr bwMode="auto">
          <a:xfrm>
            <a:off x="320040" y="1051560"/>
            <a:ext cx="8503920" cy="3931920"/>
          </a:xfrm>
          <a:prstGeom prst="rect">
            <a:avLst/>
          </a:prstGeom>
          <a:solidFill>
            <a:srgbClr val="1E2D3D"/>
          </a:solidFill>
          <a:ln/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2016372986" name="Shape 5"/>
          <p:cNvSpPr/>
          <p:nvPr/>
        </p:nvSpPr>
        <p:spPr bwMode="auto">
          <a:xfrm>
            <a:off x="320040" y="1051560"/>
            <a:ext cx="292608" cy="3931920"/>
          </a:xfrm>
          <a:prstGeom prst="rect">
            <a:avLst/>
          </a:prstGeom>
          <a:solidFill>
            <a:srgbClr val="0D2233"/>
          </a:solidFill>
          <a:ln/>
        </p:spPr>
      </p:sp>
      <p:sp>
        <p:nvSpPr>
          <p:cNvPr id="2077716904" name="Text 6"/>
          <p:cNvSpPr/>
          <p:nvPr/>
        </p:nvSpPr>
        <p:spPr bwMode="auto">
          <a:xfrm>
            <a:off x="320040" y="1051560"/>
            <a:ext cx="292608" cy="1709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3A5A7A"/>
                </a:solidFill>
                <a:latin typeface="Courier New"/>
                <a:ea typeface="Courier New"/>
                <a:cs typeface="Courier New"/>
              </a:rPr>
              <a:t>1</a:t>
            </a:r>
            <a:endParaRPr lang="en-US" sz="800"/>
          </a:p>
        </p:txBody>
      </p:sp>
      <p:sp>
        <p:nvSpPr>
          <p:cNvPr id="809634740" name="Text 7"/>
          <p:cNvSpPr/>
          <p:nvPr/>
        </p:nvSpPr>
        <p:spPr bwMode="auto">
          <a:xfrm>
            <a:off x="667512" y="1051560"/>
            <a:ext cx="8110728" cy="1709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A8D8EA"/>
                </a:solidFill>
                <a:latin typeface="Courier New"/>
                <a:ea typeface="Courier New"/>
                <a:cs typeface="Courier New"/>
              </a:rPr>
              <a:t>-- Object Table létrehozása UDT alapján:</a:t>
            </a:r>
            <a:endParaRPr lang="en-US" sz="950"/>
          </a:p>
        </p:txBody>
      </p:sp>
      <p:sp>
        <p:nvSpPr>
          <p:cNvPr id="895670443" name="Text 8"/>
          <p:cNvSpPr/>
          <p:nvPr/>
        </p:nvSpPr>
        <p:spPr bwMode="auto">
          <a:xfrm>
            <a:off x="320040" y="1222513"/>
            <a:ext cx="292608" cy="1709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3A5A7A"/>
                </a:solidFill>
                <a:latin typeface="Courier New"/>
                <a:ea typeface="Courier New"/>
                <a:cs typeface="Courier New"/>
              </a:rPr>
              <a:t>2</a:t>
            </a:r>
            <a:endParaRPr lang="en-US" sz="800"/>
          </a:p>
        </p:txBody>
      </p:sp>
      <p:sp>
        <p:nvSpPr>
          <p:cNvPr id="588159439" name="Text 9"/>
          <p:cNvSpPr/>
          <p:nvPr/>
        </p:nvSpPr>
        <p:spPr bwMode="auto">
          <a:xfrm>
            <a:off x="667512" y="1222513"/>
            <a:ext cx="8110728" cy="1709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A8D8EA"/>
                </a:solidFill>
                <a:latin typeface="Courier New"/>
                <a:ea typeface="Courier New"/>
                <a:cs typeface="Courier New"/>
              </a:rPr>
              <a:t>CREATE TABLE ettermek OF etterem_t ( PRIMARY KEY (ekod) );</a:t>
            </a:r>
            <a:endParaRPr lang="en-US" sz="950"/>
          </a:p>
        </p:txBody>
      </p:sp>
      <p:sp>
        <p:nvSpPr>
          <p:cNvPr id="2013765290" name="Text 10"/>
          <p:cNvSpPr/>
          <p:nvPr/>
        </p:nvSpPr>
        <p:spPr bwMode="auto">
          <a:xfrm>
            <a:off x="320040" y="1393466"/>
            <a:ext cx="292608" cy="1709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3A5A7A"/>
                </a:solidFill>
                <a:latin typeface="Courier New"/>
                <a:ea typeface="Courier New"/>
                <a:cs typeface="Courier New"/>
              </a:rPr>
              <a:t>3</a:t>
            </a:r>
            <a:endParaRPr lang="en-US" sz="800"/>
          </a:p>
        </p:txBody>
      </p:sp>
      <p:sp>
        <p:nvSpPr>
          <p:cNvPr id="2094986743" name="Text 11"/>
          <p:cNvSpPr/>
          <p:nvPr/>
        </p:nvSpPr>
        <p:spPr bwMode="auto">
          <a:xfrm>
            <a:off x="667512" y="1393466"/>
            <a:ext cx="8110728" cy="1709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endParaRPr lang="en-US" sz="950"/>
          </a:p>
        </p:txBody>
      </p:sp>
      <p:sp>
        <p:nvSpPr>
          <p:cNvPr id="1489331370" name="Text 12"/>
          <p:cNvSpPr/>
          <p:nvPr/>
        </p:nvSpPr>
        <p:spPr bwMode="auto">
          <a:xfrm>
            <a:off x="320040" y="1564419"/>
            <a:ext cx="292608" cy="1709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3A5A7A"/>
                </a:solidFill>
                <a:latin typeface="Courier New"/>
                <a:ea typeface="Courier New"/>
                <a:cs typeface="Courier New"/>
              </a:rPr>
              <a:t>4</a:t>
            </a:r>
            <a:endParaRPr lang="en-US" sz="800"/>
          </a:p>
        </p:txBody>
      </p:sp>
      <p:sp>
        <p:nvSpPr>
          <p:cNvPr id="260717911" name="Text 13"/>
          <p:cNvSpPr/>
          <p:nvPr/>
        </p:nvSpPr>
        <p:spPr bwMode="auto">
          <a:xfrm>
            <a:off x="667512" y="1564419"/>
            <a:ext cx="8110728" cy="1709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A8D8EA"/>
                </a:solidFill>
                <a:latin typeface="Courier New"/>
                <a:ea typeface="Courier New"/>
                <a:cs typeface="Courier New"/>
              </a:rPr>
              <a:t>-- XML-ből közvetlen betöltés (INSERT + SELECT + XMLTABLE kombinálva):</a:t>
            </a:r>
            <a:endParaRPr lang="en-US" sz="950"/>
          </a:p>
        </p:txBody>
      </p:sp>
      <p:sp>
        <p:nvSpPr>
          <p:cNvPr id="918427018" name="Text 14"/>
          <p:cNvSpPr/>
          <p:nvPr/>
        </p:nvSpPr>
        <p:spPr bwMode="auto">
          <a:xfrm>
            <a:off x="320040" y="1735372"/>
            <a:ext cx="292608" cy="1709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3A5A7A"/>
                </a:solidFill>
                <a:latin typeface="Courier New"/>
                <a:ea typeface="Courier New"/>
                <a:cs typeface="Courier New"/>
              </a:rPr>
              <a:t>5</a:t>
            </a:r>
            <a:endParaRPr lang="en-US" sz="800"/>
          </a:p>
        </p:txBody>
      </p:sp>
      <p:sp>
        <p:nvSpPr>
          <p:cNvPr id="1242610265" name="Shape 15"/>
          <p:cNvSpPr/>
          <p:nvPr/>
        </p:nvSpPr>
        <p:spPr bwMode="auto">
          <a:xfrm>
            <a:off x="612648" y="1735372"/>
            <a:ext cx="8211312" cy="170953"/>
          </a:xfrm>
          <a:prstGeom prst="rect">
            <a:avLst/>
          </a:prstGeom>
          <a:solidFill>
            <a:srgbClr val="1A4A3A"/>
          </a:solidFill>
          <a:ln/>
        </p:spPr>
      </p:sp>
      <p:sp>
        <p:nvSpPr>
          <p:cNvPr id="1879198208" name="Text 16"/>
          <p:cNvSpPr/>
          <p:nvPr/>
        </p:nvSpPr>
        <p:spPr bwMode="auto">
          <a:xfrm>
            <a:off x="667512" y="1735372"/>
            <a:ext cx="8110728" cy="1709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00D4AA"/>
                </a:solidFill>
                <a:latin typeface="Courier New"/>
                <a:ea typeface="Courier New"/>
                <a:cs typeface="Courier New"/>
              </a:rPr>
              <a:t>INSERT INTO ettermek</a:t>
            </a:r>
            <a:endParaRPr lang="en-US" sz="950"/>
          </a:p>
        </p:txBody>
      </p:sp>
      <p:sp>
        <p:nvSpPr>
          <p:cNvPr id="565642137" name="Text 17"/>
          <p:cNvSpPr/>
          <p:nvPr/>
        </p:nvSpPr>
        <p:spPr bwMode="auto">
          <a:xfrm>
            <a:off x="320040" y="1906325"/>
            <a:ext cx="292608" cy="1709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3A5A7A"/>
                </a:solidFill>
                <a:latin typeface="Courier New"/>
                <a:ea typeface="Courier New"/>
                <a:cs typeface="Courier New"/>
              </a:rPr>
              <a:t>6</a:t>
            </a:r>
            <a:endParaRPr lang="en-US" sz="800"/>
          </a:p>
        </p:txBody>
      </p:sp>
      <p:sp>
        <p:nvSpPr>
          <p:cNvPr id="997786004" name="Shape 18"/>
          <p:cNvSpPr/>
          <p:nvPr/>
        </p:nvSpPr>
        <p:spPr bwMode="auto">
          <a:xfrm>
            <a:off x="612648" y="1906325"/>
            <a:ext cx="8211312" cy="170953"/>
          </a:xfrm>
          <a:prstGeom prst="rect">
            <a:avLst/>
          </a:prstGeom>
          <a:solidFill>
            <a:srgbClr val="1A4A3A"/>
          </a:solidFill>
          <a:ln/>
        </p:spPr>
      </p:sp>
      <p:sp>
        <p:nvSpPr>
          <p:cNvPr id="1617369004" name="Text 19"/>
          <p:cNvSpPr/>
          <p:nvPr/>
        </p:nvSpPr>
        <p:spPr bwMode="auto">
          <a:xfrm>
            <a:off x="667512" y="1906325"/>
            <a:ext cx="8110728" cy="1709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00D4AA"/>
                </a:solidFill>
                <a:latin typeface="Courier New"/>
                <a:ea typeface="Courier New"/>
                <a:cs typeface="Courier New"/>
              </a:rPr>
              <a:t>SELECT etterem_t(            -- ← UDT konstruktor hívása</a:t>
            </a:r>
            <a:endParaRPr lang="en-US" sz="950"/>
          </a:p>
        </p:txBody>
      </p:sp>
      <p:sp>
        <p:nvSpPr>
          <p:cNvPr id="1792074861" name="Text 20"/>
          <p:cNvSpPr/>
          <p:nvPr/>
        </p:nvSpPr>
        <p:spPr bwMode="auto">
          <a:xfrm>
            <a:off x="320040" y="2077277"/>
            <a:ext cx="292608" cy="1709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3A5A7A"/>
                </a:solidFill>
                <a:latin typeface="Courier New"/>
                <a:ea typeface="Courier New"/>
                <a:cs typeface="Courier New"/>
              </a:rPr>
              <a:t>7</a:t>
            </a:r>
            <a:endParaRPr lang="en-US" sz="800"/>
          </a:p>
        </p:txBody>
      </p:sp>
      <p:sp>
        <p:nvSpPr>
          <p:cNvPr id="822612990" name="Text 21"/>
          <p:cNvSpPr/>
          <p:nvPr/>
        </p:nvSpPr>
        <p:spPr bwMode="auto">
          <a:xfrm>
            <a:off x="667512" y="2077277"/>
            <a:ext cx="8110728" cy="1709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A8D8EA"/>
                </a:solidFill>
                <a:latin typeface="Courier New"/>
                <a:ea typeface="Courier New"/>
                <a:cs typeface="Courier New"/>
              </a:rPr>
              <a:t>         x.ekod,             -- mezők értékei az XMLTABLE-ből</a:t>
            </a:r>
            <a:endParaRPr lang="en-US" sz="950"/>
          </a:p>
        </p:txBody>
      </p:sp>
      <p:sp>
        <p:nvSpPr>
          <p:cNvPr id="247038059" name="Text 22"/>
          <p:cNvSpPr/>
          <p:nvPr/>
        </p:nvSpPr>
        <p:spPr bwMode="auto">
          <a:xfrm>
            <a:off x="320040" y="2248231"/>
            <a:ext cx="292608" cy="1709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3A5A7A"/>
                </a:solidFill>
                <a:latin typeface="Courier New"/>
                <a:ea typeface="Courier New"/>
                <a:cs typeface="Courier New"/>
              </a:rPr>
              <a:t>8</a:t>
            </a:r>
            <a:endParaRPr lang="en-US" sz="800"/>
          </a:p>
        </p:txBody>
      </p:sp>
      <p:sp>
        <p:nvSpPr>
          <p:cNvPr id="70326927" name="Text 23"/>
          <p:cNvSpPr/>
          <p:nvPr/>
        </p:nvSpPr>
        <p:spPr bwMode="auto">
          <a:xfrm>
            <a:off x="667512" y="2248231"/>
            <a:ext cx="8110728" cy="1709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A8D8EA"/>
                </a:solidFill>
                <a:latin typeface="Courier New"/>
                <a:ea typeface="Courier New"/>
                <a:cs typeface="Courier New"/>
              </a:rPr>
              <a:t>         x.nev,</a:t>
            </a:r>
            <a:endParaRPr lang="en-US" sz="950"/>
          </a:p>
        </p:txBody>
      </p:sp>
      <p:sp>
        <p:nvSpPr>
          <p:cNvPr id="1368740228" name="Text 24"/>
          <p:cNvSpPr/>
          <p:nvPr/>
        </p:nvSpPr>
        <p:spPr bwMode="auto">
          <a:xfrm>
            <a:off x="320040" y="2419184"/>
            <a:ext cx="292608" cy="1709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3A5A7A"/>
                </a:solidFill>
                <a:latin typeface="Courier New"/>
                <a:ea typeface="Courier New"/>
                <a:cs typeface="Courier New"/>
              </a:rPr>
              <a:t>9</a:t>
            </a:r>
            <a:endParaRPr lang="en-US" sz="800"/>
          </a:p>
        </p:txBody>
      </p:sp>
      <p:sp>
        <p:nvSpPr>
          <p:cNvPr id="618341760" name="Text 25"/>
          <p:cNvSpPr/>
          <p:nvPr/>
        </p:nvSpPr>
        <p:spPr bwMode="auto">
          <a:xfrm>
            <a:off x="667512" y="2419184"/>
            <a:ext cx="8110728" cy="1709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A8D8EA"/>
                </a:solidFill>
                <a:latin typeface="Courier New"/>
                <a:ea typeface="Courier New"/>
                <a:cs typeface="Courier New"/>
              </a:rPr>
              <a:t>         x.csillag,</a:t>
            </a:r>
            <a:endParaRPr lang="en-US" sz="950"/>
          </a:p>
        </p:txBody>
      </p:sp>
      <p:sp>
        <p:nvSpPr>
          <p:cNvPr id="1192633376" name="Text 26"/>
          <p:cNvSpPr/>
          <p:nvPr/>
        </p:nvSpPr>
        <p:spPr bwMode="auto">
          <a:xfrm>
            <a:off x="320040" y="2590137"/>
            <a:ext cx="292608" cy="1709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3A5A7A"/>
                </a:solidFill>
                <a:latin typeface="Courier New"/>
                <a:ea typeface="Courier New"/>
                <a:cs typeface="Courier New"/>
              </a:rPr>
              <a:t>10</a:t>
            </a:r>
            <a:endParaRPr lang="en-US" sz="800"/>
          </a:p>
        </p:txBody>
      </p:sp>
      <p:sp>
        <p:nvSpPr>
          <p:cNvPr id="1768282835" name="Shape 27"/>
          <p:cNvSpPr/>
          <p:nvPr/>
        </p:nvSpPr>
        <p:spPr bwMode="auto">
          <a:xfrm>
            <a:off x="612648" y="2590137"/>
            <a:ext cx="8211312" cy="170953"/>
          </a:xfrm>
          <a:prstGeom prst="rect">
            <a:avLst/>
          </a:prstGeom>
          <a:solidFill>
            <a:srgbClr val="1A4A3A"/>
          </a:solidFill>
          <a:ln/>
        </p:spPr>
      </p:sp>
      <p:sp>
        <p:nvSpPr>
          <p:cNvPr id="1275826652" name="Text 28"/>
          <p:cNvSpPr/>
          <p:nvPr/>
        </p:nvSpPr>
        <p:spPr bwMode="auto">
          <a:xfrm>
            <a:off x="667512" y="2590137"/>
            <a:ext cx="8110728" cy="1709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00D4AA"/>
                </a:solidFill>
                <a:latin typeface="Courier New"/>
                <a:ea typeface="Courier New"/>
                <a:cs typeface="Courier New"/>
              </a:rPr>
              <a:t>         cim_t(x.varos, x.utca, x.hazszam) -- ← beágyazott UDT</a:t>
            </a:r>
            <a:endParaRPr lang="en-US" sz="950"/>
          </a:p>
        </p:txBody>
      </p:sp>
      <p:sp>
        <p:nvSpPr>
          <p:cNvPr id="1874955127" name="Text 29"/>
          <p:cNvSpPr/>
          <p:nvPr/>
        </p:nvSpPr>
        <p:spPr bwMode="auto">
          <a:xfrm>
            <a:off x="320040" y="2761090"/>
            <a:ext cx="292608" cy="1709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3A5A7A"/>
                </a:solidFill>
                <a:latin typeface="Courier New"/>
                <a:ea typeface="Courier New"/>
                <a:cs typeface="Courier New"/>
              </a:rPr>
              <a:t>11</a:t>
            </a:r>
            <a:endParaRPr lang="en-US" sz="800"/>
          </a:p>
        </p:txBody>
      </p:sp>
      <p:sp>
        <p:nvSpPr>
          <p:cNvPr id="673682010" name="Text 30"/>
          <p:cNvSpPr/>
          <p:nvPr/>
        </p:nvSpPr>
        <p:spPr bwMode="auto">
          <a:xfrm>
            <a:off x="667512" y="2761090"/>
            <a:ext cx="8110728" cy="1709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A8D8EA"/>
                </a:solidFill>
                <a:latin typeface="Courier New"/>
                <a:ea typeface="Courier New"/>
                <a:cs typeface="Courier New"/>
              </a:rPr>
              <a:t>       )</a:t>
            </a:r>
            <a:endParaRPr lang="en-US" sz="950"/>
          </a:p>
        </p:txBody>
      </p:sp>
      <p:sp>
        <p:nvSpPr>
          <p:cNvPr id="464846519" name="Text 31"/>
          <p:cNvSpPr/>
          <p:nvPr/>
        </p:nvSpPr>
        <p:spPr bwMode="auto">
          <a:xfrm>
            <a:off x="320040" y="2932043"/>
            <a:ext cx="292608" cy="1709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3A5A7A"/>
                </a:solidFill>
                <a:latin typeface="Courier New"/>
                <a:ea typeface="Courier New"/>
                <a:cs typeface="Courier New"/>
              </a:rPr>
              <a:t>12</a:t>
            </a:r>
            <a:endParaRPr lang="en-US" sz="800"/>
          </a:p>
        </p:txBody>
      </p:sp>
      <p:sp>
        <p:nvSpPr>
          <p:cNvPr id="1954887001" name="Text 32"/>
          <p:cNvSpPr/>
          <p:nvPr/>
        </p:nvSpPr>
        <p:spPr bwMode="auto">
          <a:xfrm>
            <a:off x="667512" y="2932043"/>
            <a:ext cx="8110728" cy="1709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A8D8EA"/>
                </a:solidFill>
                <a:latin typeface="Courier New"/>
                <a:ea typeface="Courier New"/>
                <a:cs typeface="Courier New"/>
              </a:rPr>
              <a:t>  FROM vendeglatas_xml v,</a:t>
            </a:r>
            <a:endParaRPr lang="en-US" sz="950"/>
          </a:p>
        </p:txBody>
      </p:sp>
      <p:sp>
        <p:nvSpPr>
          <p:cNvPr id="373822438" name="Text 33"/>
          <p:cNvSpPr/>
          <p:nvPr/>
        </p:nvSpPr>
        <p:spPr bwMode="auto">
          <a:xfrm>
            <a:off x="320040" y="3102997"/>
            <a:ext cx="292608" cy="1709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3A5A7A"/>
                </a:solidFill>
                <a:latin typeface="Courier New"/>
                <a:ea typeface="Courier New"/>
                <a:cs typeface="Courier New"/>
              </a:rPr>
              <a:t>13</a:t>
            </a:r>
            <a:endParaRPr lang="en-US" sz="800"/>
          </a:p>
        </p:txBody>
      </p:sp>
      <p:sp>
        <p:nvSpPr>
          <p:cNvPr id="1682155408" name="Text 34"/>
          <p:cNvSpPr/>
          <p:nvPr/>
        </p:nvSpPr>
        <p:spPr bwMode="auto">
          <a:xfrm>
            <a:off x="667512" y="3102997"/>
            <a:ext cx="8110728" cy="1709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A8D8EA"/>
                </a:solidFill>
                <a:latin typeface="Courier New"/>
                <a:ea typeface="Courier New"/>
                <a:cs typeface="Courier New"/>
              </a:rPr>
              <a:t>       XMLTABLE('/vendeglatas/etterem'</a:t>
            </a:r>
            <a:endParaRPr lang="en-US" sz="950"/>
          </a:p>
        </p:txBody>
      </p:sp>
      <p:sp>
        <p:nvSpPr>
          <p:cNvPr id="1346078228" name="Text 35"/>
          <p:cNvSpPr/>
          <p:nvPr/>
        </p:nvSpPr>
        <p:spPr bwMode="auto">
          <a:xfrm>
            <a:off x="320040" y="3273950"/>
            <a:ext cx="292608" cy="1709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3A5A7A"/>
                </a:solidFill>
                <a:latin typeface="Courier New"/>
                <a:ea typeface="Courier New"/>
                <a:cs typeface="Courier New"/>
              </a:rPr>
              <a:t>14</a:t>
            </a:r>
            <a:endParaRPr lang="en-US" sz="800"/>
          </a:p>
        </p:txBody>
      </p:sp>
      <p:sp>
        <p:nvSpPr>
          <p:cNvPr id="1222066974" name="Text 36"/>
          <p:cNvSpPr/>
          <p:nvPr/>
        </p:nvSpPr>
        <p:spPr bwMode="auto">
          <a:xfrm>
            <a:off x="667512" y="3273950"/>
            <a:ext cx="8110728" cy="1709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A8D8EA"/>
                </a:solidFill>
                <a:latin typeface="Courier New"/>
                <a:ea typeface="Courier New"/>
                <a:cs typeface="Courier New"/>
              </a:rPr>
              <a:t>         PASSING v.adat</a:t>
            </a:r>
            <a:endParaRPr lang="en-US" sz="950"/>
          </a:p>
        </p:txBody>
      </p:sp>
      <p:sp>
        <p:nvSpPr>
          <p:cNvPr id="1529828442" name="Text 37"/>
          <p:cNvSpPr/>
          <p:nvPr/>
        </p:nvSpPr>
        <p:spPr bwMode="auto">
          <a:xfrm>
            <a:off x="320040" y="3444903"/>
            <a:ext cx="292608" cy="1709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3A5A7A"/>
                </a:solidFill>
                <a:latin typeface="Courier New"/>
                <a:ea typeface="Courier New"/>
                <a:cs typeface="Courier New"/>
              </a:rPr>
              <a:t>15</a:t>
            </a:r>
            <a:endParaRPr lang="en-US" sz="800"/>
          </a:p>
        </p:txBody>
      </p:sp>
      <p:sp>
        <p:nvSpPr>
          <p:cNvPr id="2045534773" name="Text 38"/>
          <p:cNvSpPr/>
          <p:nvPr/>
        </p:nvSpPr>
        <p:spPr bwMode="auto">
          <a:xfrm>
            <a:off x="667512" y="3444903"/>
            <a:ext cx="8110728" cy="1709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A8D8EA"/>
                </a:solidFill>
                <a:latin typeface="Courier New"/>
                <a:ea typeface="Courier New"/>
                <a:cs typeface="Courier New"/>
              </a:rPr>
              <a:t>         COLUMNS</a:t>
            </a:r>
            <a:endParaRPr lang="en-US" sz="950"/>
          </a:p>
        </p:txBody>
      </p:sp>
      <p:sp>
        <p:nvSpPr>
          <p:cNvPr id="1932589871" name="Text 39"/>
          <p:cNvSpPr/>
          <p:nvPr/>
        </p:nvSpPr>
        <p:spPr bwMode="auto">
          <a:xfrm>
            <a:off x="320040" y="3615856"/>
            <a:ext cx="292608" cy="1709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3A5A7A"/>
                </a:solidFill>
                <a:latin typeface="Courier New"/>
                <a:ea typeface="Courier New"/>
                <a:cs typeface="Courier New"/>
              </a:rPr>
              <a:t>16</a:t>
            </a:r>
            <a:endParaRPr lang="en-US" sz="800"/>
          </a:p>
        </p:txBody>
      </p:sp>
      <p:sp>
        <p:nvSpPr>
          <p:cNvPr id="1952403558" name="Text 40"/>
          <p:cNvSpPr/>
          <p:nvPr/>
        </p:nvSpPr>
        <p:spPr bwMode="auto">
          <a:xfrm>
            <a:off x="667512" y="3615856"/>
            <a:ext cx="8110728" cy="1709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A8D8EA"/>
                </a:solidFill>
                <a:latin typeface="Courier New"/>
                <a:ea typeface="Courier New"/>
                <a:cs typeface="Courier New"/>
              </a:rPr>
              <a:t>           ekod    VARCHAR2(10)  PATH '@ekod',</a:t>
            </a:r>
            <a:endParaRPr lang="en-US" sz="950"/>
          </a:p>
        </p:txBody>
      </p:sp>
      <p:sp>
        <p:nvSpPr>
          <p:cNvPr id="2006515968" name="Text 41"/>
          <p:cNvSpPr/>
          <p:nvPr/>
        </p:nvSpPr>
        <p:spPr bwMode="auto">
          <a:xfrm>
            <a:off x="320040" y="3786809"/>
            <a:ext cx="292608" cy="1709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3A5A7A"/>
                </a:solidFill>
                <a:latin typeface="Courier New"/>
                <a:ea typeface="Courier New"/>
                <a:cs typeface="Courier New"/>
              </a:rPr>
              <a:t>17</a:t>
            </a:r>
            <a:endParaRPr lang="en-US" sz="800"/>
          </a:p>
        </p:txBody>
      </p:sp>
      <p:sp>
        <p:nvSpPr>
          <p:cNvPr id="820104475" name="Text 42"/>
          <p:cNvSpPr/>
          <p:nvPr/>
        </p:nvSpPr>
        <p:spPr bwMode="auto">
          <a:xfrm>
            <a:off x="667512" y="3786809"/>
            <a:ext cx="8110728" cy="1709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A8D8EA"/>
                </a:solidFill>
                <a:latin typeface="Courier New"/>
                <a:ea typeface="Courier New"/>
                <a:cs typeface="Courier New"/>
              </a:rPr>
              <a:t>           nev     VARCHAR2(200) PATH 'nev',</a:t>
            </a:r>
            <a:endParaRPr lang="en-US" sz="950"/>
          </a:p>
        </p:txBody>
      </p:sp>
      <p:sp>
        <p:nvSpPr>
          <p:cNvPr id="1938166221" name="Text 43"/>
          <p:cNvSpPr/>
          <p:nvPr/>
        </p:nvSpPr>
        <p:spPr bwMode="auto">
          <a:xfrm>
            <a:off x="320040" y="3957762"/>
            <a:ext cx="292608" cy="1709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3A5A7A"/>
                </a:solidFill>
                <a:latin typeface="Courier New"/>
                <a:ea typeface="Courier New"/>
                <a:cs typeface="Courier New"/>
              </a:rPr>
              <a:t>18</a:t>
            </a:r>
            <a:endParaRPr lang="en-US" sz="800"/>
          </a:p>
        </p:txBody>
      </p:sp>
      <p:sp>
        <p:nvSpPr>
          <p:cNvPr id="157303390" name="Text 44"/>
          <p:cNvSpPr/>
          <p:nvPr/>
        </p:nvSpPr>
        <p:spPr bwMode="auto">
          <a:xfrm>
            <a:off x="667512" y="3957762"/>
            <a:ext cx="8110728" cy="1709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A8D8EA"/>
                </a:solidFill>
                <a:latin typeface="Courier New"/>
                <a:ea typeface="Courier New"/>
                <a:cs typeface="Courier New"/>
              </a:rPr>
              <a:t>           varos   VARCHAR2(100) PATH 'cim/varos',</a:t>
            </a:r>
            <a:endParaRPr lang="en-US" sz="950"/>
          </a:p>
        </p:txBody>
      </p:sp>
      <p:sp>
        <p:nvSpPr>
          <p:cNvPr id="1374630269" name="Text 45"/>
          <p:cNvSpPr/>
          <p:nvPr/>
        </p:nvSpPr>
        <p:spPr bwMode="auto">
          <a:xfrm>
            <a:off x="320040" y="4128715"/>
            <a:ext cx="292608" cy="1709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3A5A7A"/>
                </a:solidFill>
                <a:latin typeface="Courier New"/>
                <a:ea typeface="Courier New"/>
                <a:cs typeface="Courier New"/>
              </a:rPr>
              <a:t>19</a:t>
            </a:r>
            <a:endParaRPr lang="en-US" sz="800"/>
          </a:p>
        </p:txBody>
      </p:sp>
      <p:sp>
        <p:nvSpPr>
          <p:cNvPr id="764657689" name="Text 46"/>
          <p:cNvSpPr/>
          <p:nvPr/>
        </p:nvSpPr>
        <p:spPr bwMode="auto">
          <a:xfrm>
            <a:off x="667512" y="4128715"/>
            <a:ext cx="8110728" cy="1709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A8D8EA"/>
                </a:solidFill>
                <a:latin typeface="Courier New"/>
                <a:ea typeface="Courier New"/>
                <a:cs typeface="Courier New"/>
              </a:rPr>
              <a:t>           utca    VARCHAR2(200) PATH 'cim/utca',</a:t>
            </a:r>
            <a:endParaRPr lang="en-US" sz="950"/>
          </a:p>
        </p:txBody>
      </p:sp>
      <p:sp>
        <p:nvSpPr>
          <p:cNvPr id="1345578566" name="Text 47"/>
          <p:cNvSpPr/>
          <p:nvPr/>
        </p:nvSpPr>
        <p:spPr bwMode="auto">
          <a:xfrm>
            <a:off x="320040" y="4299668"/>
            <a:ext cx="292608" cy="1709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3A5A7A"/>
                </a:solidFill>
                <a:latin typeface="Courier New"/>
                <a:ea typeface="Courier New"/>
                <a:cs typeface="Courier New"/>
              </a:rPr>
              <a:t>20</a:t>
            </a:r>
            <a:endParaRPr lang="en-US" sz="800"/>
          </a:p>
        </p:txBody>
      </p:sp>
      <p:sp>
        <p:nvSpPr>
          <p:cNvPr id="934344346" name="Text 48"/>
          <p:cNvSpPr/>
          <p:nvPr/>
        </p:nvSpPr>
        <p:spPr bwMode="auto">
          <a:xfrm>
            <a:off x="667512" y="4299668"/>
            <a:ext cx="8110728" cy="1709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A8D8EA"/>
                </a:solidFill>
                <a:latin typeface="Courier New"/>
                <a:ea typeface="Courier New"/>
                <a:cs typeface="Courier New"/>
              </a:rPr>
              <a:t>           hazszam VARCHAR2(10)  PATH 'cim/hazszam',</a:t>
            </a:r>
            <a:endParaRPr lang="en-US" sz="950"/>
          </a:p>
        </p:txBody>
      </p:sp>
      <p:sp>
        <p:nvSpPr>
          <p:cNvPr id="352561262" name="Text 49"/>
          <p:cNvSpPr/>
          <p:nvPr/>
        </p:nvSpPr>
        <p:spPr bwMode="auto">
          <a:xfrm>
            <a:off x="320040" y="4470621"/>
            <a:ext cx="292608" cy="1709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3A5A7A"/>
                </a:solidFill>
                <a:latin typeface="Courier New"/>
                <a:ea typeface="Courier New"/>
                <a:cs typeface="Courier New"/>
              </a:rPr>
              <a:t>21</a:t>
            </a:r>
            <a:endParaRPr lang="en-US" sz="800"/>
          </a:p>
        </p:txBody>
      </p:sp>
      <p:sp>
        <p:nvSpPr>
          <p:cNvPr id="162888006" name="Text 50"/>
          <p:cNvSpPr/>
          <p:nvPr/>
        </p:nvSpPr>
        <p:spPr bwMode="auto">
          <a:xfrm>
            <a:off x="667512" y="4470621"/>
            <a:ext cx="8110728" cy="1709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A8D8EA"/>
                </a:solidFill>
                <a:latin typeface="Courier New"/>
                <a:ea typeface="Courier New"/>
                <a:cs typeface="Courier New"/>
              </a:rPr>
              <a:t>           csillag NUMBER        PATH 'csillag'</a:t>
            </a:r>
            <a:endParaRPr lang="en-US" sz="950"/>
          </a:p>
        </p:txBody>
      </p:sp>
      <p:sp>
        <p:nvSpPr>
          <p:cNvPr id="1239036622" name="Text 51"/>
          <p:cNvSpPr/>
          <p:nvPr/>
        </p:nvSpPr>
        <p:spPr bwMode="auto">
          <a:xfrm>
            <a:off x="320040" y="4641574"/>
            <a:ext cx="292608" cy="1709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3A5A7A"/>
                </a:solidFill>
                <a:latin typeface="Courier New"/>
                <a:ea typeface="Courier New"/>
                <a:cs typeface="Courier New"/>
              </a:rPr>
              <a:t>22</a:t>
            </a:r>
            <a:endParaRPr lang="en-US" sz="800"/>
          </a:p>
        </p:txBody>
      </p:sp>
      <p:sp>
        <p:nvSpPr>
          <p:cNvPr id="1982908052" name="Text 52"/>
          <p:cNvSpPr/>
          <p:nvPr/>
        </p:nvSpPr>
        <p:spPr bwMode="auto">
          <a:xfrm>
            <a:off x="667512" y="4641574"/>
            <a:ext cx="8110728" cy="1709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A8D8EA"/>
                </a:solidFill>
                <a:latin typeface="Courier New"/>
                <a:ea typeface="Courier New"/>
                <a:cs typeface="Courier New"/>
              </a:rPr>
              <a:t>       ) x;</a:t>
            </a:r>
            <a:endParaRPr lang="en-US" sz="950"/>
          </a:p>
        </p:txBody>
      </p:sp>
      <p:sp>
        <p:nvSpPr>
          <p:cNvPr id="1698702856" name="Text 53"/>
          <p:cNvSpPr/>
          <p:nvPr/>
        </p:nvSpPr>
        <p:spPr bwMode="auto">
          <a:xfrm>
            <a:off x="320040" y="4812527"/>
            <a:ext cx="292608" cy="1709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3A5A7A"/>
                </a:solidFill>
                <a:latin typeface="Courier New"/>
                <a:ea typeface="Courier New"/>
                <a:cs typeface="Courier New"/>
              </a:rPr>
              <a:t>23</a:t>
            </a:r>
            <a:endParaRPr lang="en-US" sz="800"/>
          </a:p>
        </p:txBody>
      </p:sp>
      <p:sp>
        <p:nvSpPr>
          <p:cNvPr id="988626279" name="Text 54"/>
          <p:cNvSpPr/>
          <p:nvPr/>
        </p:nvSpPr>
        <p:spPr bwMode="auto">
          <a:xfrm>
            <a:off x="667512" y="4812527"/>
            <a:ext cx="8110728" cy="1709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A8D8EA"/>
                </a:solidFill>
                <a:latin typeface="Courier New"/>
                <a:ea typeface="Courier New"/>
                <a:cs typeface="Courier New"/>
              </a:rPr>
              <a:t>COMMIT;</a:t>
            </a:r>
            <a:endParaRPr lang="en-US" sz="950"/>
          </a:p>
        </p:txBody>
      </p:sp>
      <p:sp>
        <p:nvSpPr>
          <p:cNvPr id="264776749" name="Shape 55"/>
          <p:cNvSpPr/>
          <p:nvPr/>
        </p:nvSpPr>
        <p:spPr bwMode="auto">
          <a:xfrm>
            <a:off x="320040" y="5029200"/>
            <a:ext cx="8503920" cy="4572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259289196" name="Shape 56"/>
          <p:cNvSpPr/>
          <p:nvPr/>
        </p:nvSpPr>
        <p:spPr bwMode="auto">
          <a:xfrm>
            <a:off x="0" y="5065776"/>
            <a:ext cx="9144000" cy="73152"/>
          </a:xfrm>
          <a:prstGeom prst="rect">
            <a:avLst/>
          </a:prstGeom>
          <a:solidFill>
            <a:srgbClr val="00D4AA"/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0">
    <p:bg>
      <p:bgPr shadeToTitle="0">
        <a:solidFill>
          <a:srgbClr val="E8F4FD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67821" name="Shape 0"/>
          <p:cNvSpPr/>
          <p:nvPr/>
        </p:nvSpPr>
        <p:spPr bwMode="auto">
          <a:xfrm>
            <a:off x="0" y="0"/>
            <a:ext cx="9144000" cy="73152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1925038499" name="Shape 1"/>
          <p:cNvSpPr/>
          <p:nvPr/>
        </p:nvSpPr>
        <p:spPr bwMode="auto">
          <a:xfrm>
            <a:off x="0" y="73152"/>
            <a:ext cx="9144000" cy="65836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319502463" name="Text 2"/>
          <p:cNvSpPr/>
          <p:nvPr/>
        </p:nvSpPr>
        <p:spPr bwMode="auto"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4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6. VARRAY – többértékű XML elemek tárolása</a:t>
            </a:r>
            <a:endParaRPr lang="en-US" sz="2400"/>
          </a:p>
        </p:txBody>
      </p:sp>
      <p:sp>
        <p:nvSpPr>
          <p:cNvPr id="2079628785" name="Shape 3"/>
          <p:cNvSpPr/>
          <p:nvPr/>
        </p:nvSpPr>
        <p:spPr bwMode="auto">
          <a:xfrm>
            <a:off x="274320" y="822960"/>
            <a:ext cx="4023360" cy="347472"/>
          </a:xfrm>
          <a:prstGeom prst="rect">
            <a:avLst/>
          </a:prstGeom>
          <a:solidFill>
            <a:srgbClr val="0A1628"/>
          </a:solidFill>
          <a:ln/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429693662" name="Text 4"/>
          <p:cNvSpPr/>
          <p:nvPr/>
        </p:nvSpPr>
        <p:spPr bwMode="auto">
          <a:xfrm>
            <a:off x="320040" y="8229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F4A261"/>
                </a:solidFill>
                <a:latin typeface="Calibri"/>
                <a:ea typeface="Calibri"/>
                <a:cs typeface="Calibri"/>
              </a:rPr>
              <a:t>A probléma: egy szakácsnak több végzettsége is lehet</a:t>
            </a:r>
            <a:endParaRPr lang="en-US" sz="1100"/>
          </a:p>
        </p:txBody>
      </p:sp>
      <p:sp>
        <p:nvSpPr>
          <p:cNvPr id="1175328691" name="Shape 5"/>
          <p:cNvSpPr/>
          <p:nvPr/>
        </p:nvSpPr>
        <p:spPr bwMode="auto">
          <a:xfrm>
            <a:off x="274320" y="1207008"/>
            <a:ext cx="4023360" cy="1920240"/>
          </a:xfrm>
          <a:prstGeom prst="rect">
            <a:avLst/>
          </a:prstGeom>
          <a:solidFill>
            <a:srgbClr val="1E2D3D"/>
          </a:solidFill>
          <a:ln/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1904071606" name="Shape 6"/>
          <p:cNvSpPr/>
          <p:nvPr/>
        </p:nvSpPr>
        <p:spPr bwMode="auto">
          <a:xfrm>
            <a:off x="274320" y="1207008"/>
            <a:ext cx="292608" cy="1920240"/>
          </a:xfrm>
          <a:prstGeom prst="rect">
            <a:avLst/>
          </a:prstGeom>
          <a:solidFill>
            <a:srgbClr val="0D2233"/>
          </a:solidFill>
          <a:ln/>
        </p:spPr>
      </p:sp>
      <p:sp>
        <p:nvSpPr>
          <p:cNvPr id="1584521256" name="Text 7"/>
          <p:cNvSpPr/>
          <p:nvPr/>
        </p:nvSpPr>
        <p:spPr bwMode="auto">
          <a:xfrm>
            <a:off x="274320" y="1207008"/>
            <a:ext cx="292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3A5A7A"/>
                </a:solidFill>
                <a:latin typeface="Courier New"/>
                <a:ea typeface="Courier New"/>
                <a:cs typeface="Courier New"/>
              </a:rPr>
              <a:t>1</a:t>
            </a:r>
            <a:endParaRPr lang="en-US" sz="800"/>
          </a:p>
        </p:txBody>
      </p:sp>
      <p:sp>
        <p:nvSpPr>
          <p:cNvPr id="329563002" name="Text 8"/>
          <p:cNvSpPr/>
          <p:nvPr/>
        </p:nvSpPr>
        <p:spPr bwMode="auto">
          <a:xfrm>
            <a:off x="621792" y="1207008"/>
            <a:ext cx="3630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A8D8EA"/>
                </a:solidFill>
                <a:latin typeface="Courier New"/>
                <a:ea typeface="Courier New"/>
                <a:cs typeface="Courier New"/>
              </a:rPr>
              <a:t>&lt;szakacs szkod='sz1'&gt;</a:t>
            </a:r>
            <a:endParaRPr lang="en-US" sz="950"/>
          </a:p>
        </p:txBody>
      </p:sp>
      <p:sp>
        <p:nvSpPr>
          <p:cNvPr id="1859427364" name="Text 9"/>
          <p:cNvSpPr/>
          <p:nvPr/>
        </p:nvSpPr>
        <p:spPr bwMode="auto">
          <a:xfrm>
            <a:off x="274320" y="1527048"/>
            <a:ext cx="292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3A5A7A"/>
                </a:solidFill>
                <a:latin typeface="Courier New"/>
                <a:ea typeface="Courier New"/>
                <a:cs typeface="Courier New"/>
              </a:rPr>
              <a:t>2</a:t>
            </a:r>
            <a:endParaRPr lang="en-US" sz="800"/>
          </a:p>
        </p:txBody>
      </p:sp>
      <p:sp>
        <p:nvSpPr>
          <p:cNvPr id="1687612034" name="Text 10"/>
          <p:cNvSpPr/>
          <p:nvPr/>
        </p:nvSpPr>
        <p:spPr bwMode="auto">
          <a:xfrm>
            <a:off x="621792" y="1527048"/>
            <a:ext cx="3630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A8D8EA"/>
                </a:solidFill>
                <a:latin typeface="Courier New"/>
                <a:ea typeface="Courier New"/>
                <a:cs typeface="Courier New"/>
              </a:rPr>
              <a:t>  &lt;nev&gt;Ötlet Elek&lt;/nev&gt;</a:t>
            </a:r>
            <a:endParaRPr lang="en-US" sz="950"/>
          </a:p>
        </p:txBody>
      </p:sp>
      <p:sp>
        <p:nvSpPr>
          <p:cNvPr id="908259097" name="Text 11"/>
          <p:cNvSpPr/>
          <p:nvPr/>
        </p:nvSpPr>
        <p:spPr bwMode="auto">
          <a:xfrm>
            <a:off x="274320" y="1847088"/>
            <a:ext cx="292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3A5A7A"/>
                </a:solidFill>
                <a:latin typeface="Courier New"/>
                <a:ea typeface="Courier New"/>
                <a:cs typeface="Courier New"/>
              </a:rPr>
              <a:t>3</a:t>
            </a:r>
            <a:endParaRPr lang="en-US" sz="800"/>
          </a:p>
        </p:txBody>
      </p:sp>
      <p:sp>
        <p:nvSpPr>
          <p:cNvPr id="1009967495" name="Shape 12"/>
          <p:cNvSpPr/>
          <p:nvPr/>
        </p:nvSpPr>
        <p:spPr bwMode="auto">
          <a:xfrm>
            <a:off x="566928" y="1847088"/>
            <a:ext cx="3730752" cy="320040"/>
          </a:xfrm>
          <a:prstGeom prst="rect">
            <a:avLst/>
          </a:prstGeom>
          <a:solidFill>
            <a:srgbClr val="1A4A3A"/>
          </a:solidFill>
          <a:ln/>
        </p:spPr>
      </p:sp>
      <p:sp>
        <p:nvSpPr>
          <p:cNvPr id="2059741833" name="Text 13"/>
          <p:cNvSpPr/>
          <p:nvPr/>
        </p:nvSpPr>
        <p:spPr bwMode="auto">
          <a:xfrm>
            <a:off x="621792" y="1847088"/>
            <a:ext cx="3630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00D4AA"/>
                </a:solidFill>
                <a:latin typeface="Courier New"/>
                <a:ea typeface="Courier New"/>
                <a:cs typeface="Courier New"/>
              </a:rPr>
              <a:t>  &lt;vegzettseg&gt;Szakközépiskola&lt;/vegzettseg&gt;</a:t>
            </a:r>
            <a:endParaRPr lang="en-US" sz="950"/>
          </a:p>
        </p:txBody>
      </p:sp>
      <p:sp>
        <p:nvSpPr>
          <p:cNvPr id="2122300540" name="Text 14"/>
          <p:cNvSpPr/>
          <p:nvPr/>
        </p:nvSpPr>
        <p:spPr bwMode="auto">
          <a:xfrm>
            <a:off x="274320" y="2167128"/>
            <a:ext cx="292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3A5A7A"/>
                </a:solidFill>
                <a:latin typeface="Courier New"/>
                <a:ea typeface="Courier New"/>
                <a:cs typeface="Courier New"/>
              </a:rPr>
              <a:t>4</a:t>
            </a:r>
            <a:endParaRPr lang="en-US" sz="800"/>
          </a:p>
        </p:txBody>
      </p:sp>
      <p:sp>
        <p:nvSpPr>
          <p:cNvPr id="916112729" name="Shape 15"/>
          <p:cNvSpPr/>
          <p:nvPr/>
        </p:nvSpPr>
        <p:spPr bwMode="auto">
          <a:xfrm>
            <a:off x="566928" y="2167128"/>
            <a:ext cx="3730752" cy="320040"/>
          </a:xfrm>
          <a:prstGeom prst="rect">
            <a:avLst/>
          </a:prstGeom>
          <a:solidFill>
            <a:srgbClr val="1A4A3A"/>
          </a:solidFill>
          <a:ln/>
        </p:spPr>
      </p:sp>
      <p:sp>
        <p:nvSpPr>
          <p:cNvPr id="2041617175" name="Text 16"/>
          <p:cNvSpPr/>
          <p:nvPr/>
        </p:nvSpPr>
        <p:spPr bwMode="auto">
          <a:xfrm>
            <a:off x="621792" y="2167128"/>
            <a:ext cx="3630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00D4AA"/>
                </a:solidFill>
                <a:latin typeface="Courier New"/>
                <a:ea typeface="Courier New"/>
                <a:cs typeface="Courier New"/>
              </a:rPr>
              <a:t>  &lt;vegzettseg&gt;Le Cordon Bleu&lt;/vegzettseg&gt;</a:t>
            </a:r>
            <a:endParaRPr lang="en-US" sz="950"/>
          </a:p>
        </p:txBody>
      </p:sp>
      <p:sp>
        <p:nvSpPr>
          <p:cNvPr id="579037448" name="Text 17"/>
          <p:cNvSpPr/>
          <p:nvPr/>
        </p:nvSpPr>
        <p:spPr bwMode="auto">
          <a:xfrm>
            <a:off x="274320" y="2487168"/>
            <a:ext cx="292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3A5A7A"/>
                </a:solidFill>
                <a:latin typeface="Courier New"/>
                <a:ea typeface="Courier New"/>
                <a:cs typeface="Courier New"/>
              </a:rPr>
              <a:t>5</a:t>
            </a:r>
            <a:endParaRPr lang="en-US" sz="800"/>
          </a:p>
        </p:txBody>
      </p:sp>
      <p:sp>
        <p:nvSpPr>
          <p:cNvPr id="1081271997" name="Shape 18"/>
          <p:cNvSpPr/>
          <p:nvPr/>
        </p:nvSpPr>
        <p:spPr bwMode="auto">
          <a:xfrm>
            <a:off x="566928" y="2487168"/>
            <a:ext cx="3730752" cy="320040"/>
          </a:xfrm>
          <a:prstGeom prst="rect">
            <a:avLst/>
          </a:prstGeom>
          <a:solidFill>
            <a:srgbClr val="1A4A3A"/>
          </a:solidFill>
          <a:ln/>
        </p:spPr>
      </p:sp>
      <p:sp>
        <p:nvSpPr>
          <p:cNvPr id="1270491317" name="Text 19"/>
          <p:cNvSpPr/>
          <p:nvPr/>
        </p:nvSpPr>
        <p:spPr bwMode="auto">
          <a:xfrm>
            <a:off x="621792" y="2487168"/>
            <a:ext cx="3630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00D4AA"/>
                </a:solidFill>
                <a:latin typeface="Courier New"/>
                <a:ea typeface="Courier New"/>
                <a:cs typeface="Courier New"/>
              </a:rPr>
              <a:t>  &lt;vegzettseg&gt;Paul Bocuse Inst.&lt;/vegzettseg&gt;</a:t>
            </a:r>
            <a:endParaRPr lang="en-US" sz="950"/>
          </a:p>
        </p:txBody>
      </p:sp>
      <p:sp>
        <p:nvSpPr>
          <p:cNvPr id="1471104617" name="Text 20"/>
          <p:cNvSpPr/>
          <p:nvPr/>
        </p:nvSpPr>
        <p:spPr bwMode="auto">
          <a:xfrm>
            <a:off x="274320" y="2807208"/>
            <a:ext cx="292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3A5A7A"/>
                </a:solidFill>
                <a:latin typeface="Courier New"/>
                <a:ea typeface="Courier New"/>
                <a:cs typeface="Courier New"/>
              </a:rPr>
              <a:t>6</a:t>
            </a:r>
            <a:endParaRPr lang="en-US" sz="800"/>
          </a:p>
        </p:txBody>
      </p:sp>
      <p:sp>
        <p:nvSpPr>
          <p:cNvPr id="534969125" name="Text 21"/>
          <p:cNvSpPr/>
          <p:nvPr/>
        </p:nvSpPr>
        <p:spPr bwMode="auto">
          <a:xfrm>
            <a:off x="621792" y="2807208"/>
            <a:ext cx="3630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A8D8EA"/>
                </a:solidFill>
                <a:latin typeface="Courier New"/>
                <a:ea typeface="Courier New"/>
                <a:cs typeface="Courier New"/>
              </a:rPr>
              <a:t>&lt;/szakacs&gt;</a:t>
            </a:r>
            <a:endParaRPr lang="en-US" sz="950"/>
          </a:p>
        </p:txBody>
      </p:sp>
      <p:sp>
        <p:nvSpPr>
          <p:cNvPr id="1087684265" name="Text 22"/>
          <p:cNvSpPr/>
          <p:nvPr/>
        </p:nvSpPr>
        <p:spPr bwMode="auto">
          <a:xfrm>
            <a:off x="4389120" y="19202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3000">
                <a:solidFill>
                  <a:srgbClr val="00D4AA"/>
                </a:solidFill>
              </a:rPr>
              <a:t>→</a:t>
            </a:r>
            <a:endParaRPr lang="en-US" sz="3000"/>
          </a:p>
        </p:txBody>
      </p:sp>
      <p:sp>
        <p:nvSpPr>
          <p:cNvPr id="402163422" name="Shape 23"/>
          <p:cNvSpPr/>
          <p:nvPr/>
        </p:nvSpPr>
        <p:spPr bwMode="auto">
          <a:xfrm>
            <a:off x="4846320" y="822960"/>
            <a:ext cx="4023360" cy="347472"/>
          </a:xfrm>
          <a:prstGeom prst="rect">
            <a:avLst/>
          </a:prstGeom>
          <a:solidFill>
            <a:srgbClr val="0A1628"/>
          </a:solidFill>
          <a:ln/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655798720" name="Text 24"/>
          <p:cNvSpPr/>
          <p:nvPr/>
        </p:nvSpPr>
        <p:spPr bwMode="auto">
          <a:xfrm>
            <a:off x="4892039" y="8229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00D4AA"/>
                </a:solidFill>
                <a:latin typeface="Calibri"/>
                <a:ea typeface="Calibri"/>
                <a:cs typeface="Calibri"/>
              </a:rPr>
              <a:t>A megoldás: VARRAY típus az UDT-ben</a:t>
            </a:r>
            <a:endParaRPr lang="en-US" sz="1100"/>
          </a:p>
        </p:txBody>
      </p:sp>
      <p:sp>
        <p:nvSpPr>
          <p:cNvPr id="1630691034" name="Shape 25"/>
          <p:cNvSpPr/>
          <p:nvPr/>
        </p:nvSpPr>
        <p:spPr bwMode="auto">
          <a:xfrm>
            <a:off x="4846320" y="1207008"/>
            <a:ext cx="4023360" cy="3017519"/>
          </a:xfrm>
          <a:prstGeom prst="rect">
            <a:avLst/>
          </a:prstGeom>
          <a:solidFill>
            <a:srgbClr val="1E2D3D"/>
          </a:solidFill>
          <a:ln/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1884077513" name="Shape 26"/>
          <p:cNvSpPr/>
          <p:nvPr/>
        </p:nvSpPr>
        <p:spPr bwMode="auto">
          <a:xfrm>
            <a:off x="4846320" y="1207008"/>
            <a:ext cx="292608" cy="3017519"/>
          </a:xfrm>
          <a:prstGeom prst="rect">
            <a:avLst/>
          </a:prstGeom>
          <a:solidFill>
            <a:srgbClr val="0D2233"/>
          </a:solidFill>
          <a:ln/>
        </p:spPr>
      </p:sp>
      <p:sp>
        <p:nvSpPr>
          <p:cNvPr id="1114489722" name="Text 27"/>
          <p:cNvSpPr/>
          <p:nvPr/>
        </p:nvSpPr>
        <p:spPr bwMode="auto">
          <a:xfrm>
            <a:off x="4846320" y="1207008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3A5A7A"/>
                </a:solidFill>
                <a:latin typeface="Courier New"/>
                <a:ea typeface="Courier New"/>
                <a:cs typeface="Courier New"/>
              </a:rPr>
              <a:t>1</a:t>
            </a:r>
            <a:endParaRPr lang="en-US" sz="800"/>
          </a:p>
        </p:txBody>
      </p:sp>
      <p:sp>
        <p:nvSpPr>
          <p:cNvPr id="267118072" name="Shape 28"/>
          <p:cNvSpPr/>
          <p:nvPr/>
        </p:nvSpPr>
        <p:spPr bwMode="auto">
          <a:xfrm>
            <a:off x="5138928" y="1207008"/>
            <a:ext cx="3730752" cy="274320"/>
          </a:xfrm>
          <a:prstGeom prst="rect">
            <a:avLst/>
          </a:prstGeom>
          <a:solidFill>
            <a:srgbClr val="1A4A3A"/>
          </a:solidFill>
          <a:ln/>
        </p:spPr>
      </p:sp>
      <p:sp>
        <p:nvSpPr>
          <p:cNvPr id="796667003" name="Text 29"/>
          <p:cNvSpPr/>
          <p:nvPr/>
        </p:nvSpPr>
        <p:spPr bwMode="auto">
          <a:xfrm>
            <a:off x="5193792" y="1207008"/>
            <a:ext cx="3630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00D4AA"/>
                </a:solidFill>
                <a:latin typeface="Courier New"/>
                <a:ea typeface="Courier New"/>
                <a:cs typeface="Courier New"/>
              </a:rPr>
              <a:t>-- VARRAY típus (max 5 elem):</a:t>
            </a:r>
            <a:endParaRPr lang="en-US" sz="950"/>
          </a:p>
        </p:txBody>
      </p:sp>
      <p:sp>
        <p:nvSpPr>
          <p:cNvPr id="442760149" name="Text 30"/>
          <p:cNvSpPr/>
          <p:nvPr/>
        </p:nvSpPr>
        <p:spPr bwMode="auto">
          <a:xfrm>
            <a:off x="4846320" y="1481328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3A5A7A"/>
                </a:solidFill>
                <a:latin typeface="Courier New"/>
                <a:ea typeface="Courier New"/>
                <a:cs typeface="Courier New"/>
              </a:rPr>
              <a:t>2</a:t>
            </a:r>
            <a:endParaRPr lang="en-US" sz="800"/>
          </a:p>
        </p:txBody>
      </p:sp>
      <p:sp>
        <p:nvSpPr>
          <p:cNvPr id="402021495" name="Shape 31"/>
          <p:cNvSpPr/>
          <p:nvPr/>
        </p:nvSpPr>
        <p:spPr bwMode="auto">
          <a:xfrm>
            <a:off x="5138928" y="1481328"/>
            <a:ext cx="3730752" cy="274320"/>
          </a:xfrm>
          <a:prstGeom prst="rect">
            <a:avLst/>
          </a:prstGeom>
          <a:solidFill>
            <a:srgbClr val="1A4A3A"/>
          </a:solidFill>
          <a:ln/>
        </p:spPr>
      </p:sp>
      <p:sp>
        <p:nvSpPr>
          <p:cNvPr id="1170073766" name="Text 32"/>
          <p:cNvSpPr/>
          <p:nvPr/>
        </p:nvSpPr>
        <p:spPr bwMode="auto">
          <a:xfrm>
            <a:off x="5193792" y="1481328"/>
            <a:ext cx="3630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00D4AA"/>
                </a:solidFill>
                <a:latin typeface="Courier New"/>
                <a:ea typeface="Courier New"/>
                <a:cs typeface="Courier New"/>
              </a:rPr>
              <a:t>CREATE OR REPLACE TYPE vegzettseg_va</a:t>
            </a:r>
            <a:endParaRPr lang="en-US" sz="950"/>
          </a:p>
        </p:txBody>
      </p:sp>
      <p:sp>
        <p:nvSpPr>
          <p:cNvPr id="717192904" name="Text 33"/>
          <p:cNvSpPr/>
          <p:nvPr/>
        </p:nvSpPr>
        <p:spPr bwMode="auto">
          <a:xfrm>
            <a:off x="4846320" y="1755648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3A5A7A"/>
                </a:solidFill>
                <a:latin typeface="Courier New"/>
                <a:ea typeface="Courier New"/>
                <a:cs typeface="Courier New"/>
              </a:rPr>
              <a:t>3</a:t>
            </a:r>
            <a:endParaRPr lang="en-US" sz="800"/>
          </a:p>
        </p:txBody>
      </p:sp>
      <p:sp>
        <p:nvSpPr>
          <p:cNvPr id="1186880735" name="Shape 34"/>
          <p:cNvSpPr/>
          <p:nvPr/>
        </p:nvSpPr>
        <p:spPr bwMode="auto">
          <a:xfrm>
            <a:off x="5138928" y="1755648"/>
            <a:ext cx="3730752" cy="274320"/>
          </a:xfrm>
          <a:prstGeom prst="rect">
            <a:avLst/>
          </a:prstGeom>
          <a:solidFill>
            <a:srgbClr val="1A4A3A"/>
          </a:solidFill>
          <a:ln/>
        </p:spPr>
      </p:sp>
      <p:sp>
        <p:nvSpPr>
          <p:cNvPr id="1393182834" name="Text 35"/>
          <p:cNvSpPr/>
          <p:nvPr/>
        </p:nvSpPr>
        <p:spPr bwMode="auto">
          <a:xfrm>
            <a:off x="5193792" y="1755648"/>
            <a:ext cx="3630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00D4AA"/>
                </a:solidFill>
                <a:latin typeface="Courier New"/>
                <a:ea typeface="Courier New"/>
                <a:cs typeface="Courier New"/>
              </a:rPr>
              <a:t>  AS VARRAY(5) OF VARCHAR2(200);</a:t>
            </a:r>
            <a:endParaRPr lang="en-US" sz="950"/>
          </a:p>
        </p:txBody>
      </p:sp>
      <p:sp>
        <p:nvSpPr>
          <p:cNvPr id="802519242" name="Text 36"/>
          <p:cNvSpPr/>
          <p:nvPr/>
        </p:nvSpPr>
        <p:spPr bwMode="auto">
          <a:xfrm>
            <a:off x="4846320" y="2029968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3A5A7A"/>
                </a:solidFill>
                <a:latin typeface="Courier New"/>
                <a:ea typeface="Courier New"/>
                <a:cs typeface="Courier New"/>
              </a:rPr>
              <a:t>4</a:t>
            </a:r>
            <a:endParaRPr lang="en-US" sz="800"/>
          </a:p>
        </p:txBody>
      </p:sp>
      <p:sp>
        <p:nvSpPr>
          <p:cNvPr id="26947073" name="Text 37"/>
          <p:cNvSpPr/>
          <p:nvPr/>
        </p:nvSpPr>
        <p:spPr bwMode="auto">
          <a:xfrm>
            <a:off x="5193792" y="2029968"/>
            <a:ext cx="3630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endParaRPr lang="en-US" sz="950"/>
          </a:p>
        </p:txBody>
      </p:sp>
      <p:sp>
        <p:nvSpPr>
          <p:cNvPr id="787520189" name="Text 38"/>
          <p:cNvSpPr/>
          <p:nvPr/>
        </p:nvSpPr>
        <p:spPr bwMode="auto">
          <a:xfrm>
            <a:off x="4846320" y="2304288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3A5A7A"/>
                </a:solidFill>
                <a:latin typeface="Courier New"/>
                <a:ea typeface="Courier New"/>
                <a:cs typeface="Courier New"/>
              </a:rPr>
              <a:t>5</a:t>
            </a:r>
            <a:endParaRPr lang="en-US" sz="800"/>
          </a:p>
        </p:txBody>
      </p:sp>
      <p:sp>
        <p:nvSpPr>
          <p:cNvPr id="1184330067" name="Text 39"/>
          <p:cNvSpPr/>
          <p:nvPr/>
        </p:nvSpPr>
        <p:spPr bwMode="auto">
          <a:xfrm>
            <a:off x="5193792" y="2304288"/>
            <a:ext cx="3630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A8D8EA"/>
                </a:solidFill>
                <a:latin typeface="Courier New"/>
                <a:ea typeface="Courier New"/>
                <a:cs typeface="Courier New"/>
              </a:rPr>
              <a:t>-- Szakács típus VARRAY-jel:</a:t>
            </a:r>
            <a:endParaRPr lang="en-US" sz="950"/>
          </a:p>
        </p:txBody>
      </p:sp>
      <p:sp>
        <p:nvSpPr>
          <p:cNvPr id="1016817884" name="Text 40"/>
          <p:cNvSpPr/>
          <p:nvPr/>
        </p:nvSpPr>
        <p:spPr bwMode="auto">
          <a:xfrm>
            <a:off x="4846320" y="2578608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3A5A7A"/>
                </a:solidFill>
                <a:latin typeface="Courier New"/>
                <a:ea typeface="Courier New"/>
                <a:cs typeface="Courier New"/>
              </a:rPr>
              <a:t>6</a:t>
            </a:r>
            <a:endParaRPr lang="en-US" sz="800"/>
          </a:p>
        </p:txBody>
      </p:sp>
      <p:sp>
        <p:nvSpPr>
          <p:cNvPr id="897825647" name="Text 41"/>
          <p:cNvSpPr/>
          <p:nvPr/>
        </p:nvSpPr>
        <p:spPr bwMode="auto">
          <a:xfrm>
            <a:off x="5193792" y="2578608"/>
            <a:ext cx="3630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A8D8EA"/>
                </a:solidFill>
                <a:latin typeface="Courier New"/>
                <a:ea typeface="Courier New"/>
                <a:cs typeface="Courier New"/>
              </a:rPr>
              <a:t>CREATE OR REPLACE TYPE szakacs_t</a:t>
            </a:r>
            <a:endParaRPr lang="en-US" sz="950"/>
          </a:p>
        </p:txBody>
      </p:sp>
      <p:sp>
        <p:nvSpPr>
          <p:cNvPr id="1962727902" name="Text 42"/>
          <p:cNvSpPr/>
          <p:nvPr/>
        </p:nvSpPr>
        <p:spPr bwMode="auto">
          <a:xfrm>
            <a:off x="4846320" y="2852928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3A5A7A"/>
                </a:solidFill>
                <a:latin typeface="Courier New"/>
                <a:ea typeface="Courier New"/>
                <a:cs typeface="Courier New"/>
              </a:rPr>
              <a:t>7</a:t>
            </a:r>
            <a:endParaRPr lang="en-US" sz="800"/>
          </a:p>
        </p:txBody>
      </p:sp>
      <p:sp>
        <p:nvSpPr>
          <p:cNvPr id="292383868" name="Text 43"/>
          <p:cNvSpPr/>
          <p:nvPr/>
        </p:nvSpPr>
        <p:spPr bwMode="auto">
          <a:xfrm>
            <a:off x="5193792" y="2852928"/>
            <a:ext cx="3630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A8D8EA"/>
                </a:solidFill>
                <a:latin typeface="Courier New"/>
                <a:ea typeface="Courier New"/>
                <a:cs typeface="Courier New"/>
              </a:rPr>
              <a:t>  AS OBJECT (</a:t>
            </a:r>
            <a:endParaRPr lang="en-US" sz="950"/>
          </a:p>
        </p:txBody>
      </p:sp>
      <p:sp>
        <p:nvSpPr>
          <p:cNvPr id="1412319811" name="Text 44"/>
          <p:cNvSpPr/>
          <p:nvPr/>
        </p:nvSpPr>
        <p:spPr bwMode="auto">
          <a:xfrm>
            <a:off x="4846320" y="3127248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3A5A7A"/>
                </a:solidFill>
                <a:latin typeface="Courier New"/>
                <a:ea typeface="Courier New"/>
                <a:cs typeface="Courier New"/>
              </a:rPr>
              <a:t>8</a:t>
            </a:r>
            <a:endParaRPr lang="en-US" sz="800"/>
          </a:p>
        </p:txBody>
      </p:sp>
      <p:sp>
        <p:nvSpPr>
          <p:cNvPr id="33036309" name="Text 45"/>
          <p:cNvSpPr/>
          <p:nvPr/>
        </p:nvSpPr>
        <p:spPr bwMode="auto">
          <a:xfrm>
            <a:off x="5193792" y="3127248"/>
            <a:ext cx="3630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A8D8EA"/>
                </a:solidFill>
                <a:latin typeface="Courier New"/>
                <a:ea typeface="Courier New"/>
                <a:cs typeface="Courier New"/>
              </a:rPr>
              <a:t>  szkod  VARCHAR2(10),</a:t>
            </a:r>
            <a:endParaRPr lang="en-US" sz="950"/>
          </a:p>
        </p:txBody>
      </p:sp>
      <p:sp>
        <p:nvSpPr>
          <p:cNvPr id="1928487129" name="Text 46"/>
          <p:cNvSpPr/>
          <p:nvPr/>
        </p:nvSpPr>
        <p:spPr bwMode="auto">
          <a:xfrm>
            <a:off x="4846320" y="3401568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3A5A7A"/>
                </a:solidFill>
                <a:latin typeface="Courier New"/>
                <a:ea typeface="Courier New"/>
                <a:cs typeface="Courier New"/>
              </a:rPr>
              <a:t>9</a:t>
            </a:r>
            <a:endParaRPr lang="en-US" sz="800"/>
          </a:p>
        </p:txBody>
      </p:sp>
      <p:sp>
        <p:nvSpPr>
          <p:cNvPr id="1471116242" name="Text 47"/>
          <p:cNvSpPr/>
          <p:nvPr/>
        </p:nvSpPr>
        <p:spPr bwMode="auto">
          <a:xfrm>
            <a:off x="5193792" y="3401568"/>
            <a:ext cx="3630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A8D8EA"/>
                </a:solidFill>
                <a:latin typeface="Courier New"/>
                <a:ea typeface="Courier New"/>
                <a:cs typeface="Courier New"/>
              </a:rPr>
              <a:t>  nev    VARCHAR2(200),</a:t>
            </a:r>
            <a:endParaRPr lang="en-US" sz="950"/>
          </a:p>
        </p:txBody>
      </p:sp>
      <p:sp>
        <p:nvSpPr>
          <p:cNvPr id="811225651" name="Text 48"/>
          <p:cNvSpPr/>
          <p:nvPr/>
        </p:nvSpPr>
        <p:spPr bwMode="auto">
          <a:xfrm>
            <a:off x="4846320" y="3675888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3A5A7A"/>
                </a:solidFill>
                <a:latin typeface="Courier New"/>
                <a:ea typeface="Courier New"/>
                <a:cs typeface="Courier New"/>
              </a:rPr>
              <a:t>10</a:t>
            </a:r>
            <a:endParaRPr lang="en-US" sz="800"/>
          </a:p>
        </p:txBody>
      </p:sp>
      <p:sp>
        <p:nvSpPr>
          <p:cNvPr id="590512198" name="Shape 49"/>
          <p:cNvSpPr/>
          <p:nvPr/>
        </p:nvSpPr>
        <p:spPr bwMode="auto">
          <a:xfrm>
            <a:off x="5138928" y="3675888"/>
            <a:ext cx="3730752" cy="274320"/>
          </a:xfrm>
          <a:prstGeom prst="rect">
            <a:avLst/>
          </a:prstGeom>
          <a:solidFill>
            <a:srgbClr val="1A4A3A"/>
          </a:solidFill>
          <a:ln/>
        </p:spPr>
      </p:sp>
      <p:sp>
        <p:nvSpPr>
          <p:cNvPr id="773285440" name="Text 50"/>
          <p:cNvSpPr/>
          <p:nvPr/>
        </p:nvSpPr>
        <p:spPr bwMode="auto">
          <a:xfrm>
            <a:off x="5193792" y="3675888"/>
            <a:ext cx="3630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00D4AA"/>
                </a:solidFill>
                <a:latin typeface="Courier New"/>
                <a:ea typeface="Courier New"/>
                <a:cs typeface="Courier New"/>
              </a:rPr>
              <a:t>  vegzettsegek vegzettseg_va -- ←</a:t>
            </a:r>
            <a:endParaRPr lang="en-US" sz="950"/>
          </a:p>
        </p:txBody>
      </p:sp>
      <p:sp>
        <p:nvSpPr>
          <p:cNvPr id="616306927" name="Text 51"/>
          <p:cNvSpPr/>
          <p:nvPr/>
        </p:nvSpPr>
        <p:spPr bwMode="auto">
          <a:xfrm>
            <a:off x="4846320" y="3950208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3A5A7A"/>
                </a:solidFill>
                <a:latin typeface="Courier New"/>
                <a:ea typeface="Courier New"/>
                <a:cs typeface="Courier New"/>
              </a:rPr>
              <a:t>11</a:t>
            </a:r>
            <a:endParaRPr lang="en-US" sz="800"/>
          </a:p>
        </p:txBody>
      </p:sp>
      <p:sp>
        <p:nvSpPr>
          <p:cNvPr id="76784935" name="Text 52"/>
          <p:cNvSpPr/>
          <p:nvPr/>
        </p:nvSpPr>
        <p:spPr bwMode="auto">
          <a:xfrm>
            <a:off x="5193792" y="3950208"/>
            <a:ext cx="3630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A8D8EA"/>
                </a:solidFill>
                <a:latin typeface="Courier New"/>
                <a:ea typeface="Courier New"/>
                <a:cs typeface="Courier New"/>
              </a:rPr>
              <a:t>);</a:t>
            </a:r>
            <a:endParaRPr lang="en-US" sz="950"/>
          </a:p>
        </p:txBody>
      </p:sp>
      <p:sp>
        <p:nvSpPr>
          <p:cNvPr id="1948755943" name="Shape 53"/>
          <p:cNvSpPr/>
          <p:nvPr/>
        </p:nvSpPr>
        <p:spPr bwMode="auto">
          <a:xfrm flipH="0" flipV="0">
            <a:off x="269747" y="3246120"/>
            <a:ext cx="4506954" cy="292608"/>
          </a:xfrm>
          <a:prstGeom prst="rect">
            <a:avLst/>
          </a:prstGeom>
          <a:solidFill>
            <a:srgbClr val="0D3B6E"/>
          </a:solidFill>
          <a:ln/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428316978" name="Text 54"/>
          <p:cNvSpPr/>
          <p:nvPr/>
        </p:nvSpPr>
        <p:spPr bwMode="auto">
          <a:xfrm flipH="0" flipV="0">
            <a:off x="365760" y="3246120"/>
            <a:ext cx="441094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00A8E8"/>
                </a:solidFill>
                <a:latin typeface="Calibri"/>
                <a:ea typeface="Calibri"/>
                <a:cs typeface="Calibri"/>
              </a:rPr>
              <a:t>A VARRAY elemeit a TABLE() operátorral lehet soronként lekérdezni – mintha egy táblából olvasnánk:</a:t>
            </a:r>
            <a:endParaRPr lang="en-US" sz="1100"/>
          </a:p>
        </p:txBody>
      </p:sp>
      <p:sp>
        <p:nvSpPr>
          <p:cNvPr id="1762628484" name="Shape 55"/>
          <p:cNvSpPr/>
          <p:nvPr/>
        </p:nvSpPr>
        <p:spPr bwMode="auto">
          <a:xfrm>
            <a:off x="274320" y="3584448"/>
            <a:ext cx="8595360" cy="822960"/>
          </a:xfrm>
          <a:prstGeom prst="rect">
            <a:avLst/>
          </a:prstGeom>
          <a:solidFill>
            <a:srgbClr val="1E2D3D"/>
          </a:solidFill>
          <a:ln/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413456116" name="Shape 56"/>
          <p:cNvSpPr/>
          <p:nvPr/>
        </p:nvSpPr>
        <p:spPr bwMode="auto">
          <a:xfrm>
            <a:off x="274320" y="3584448"/>
            <a:ext cx="292608" cy="822960"/>
          </a:xfrm>
          <a:prstGeom prst="rect">
            <a:avLst/>
          </a:prstGeom>
          <a:solidFill>
            <a:srgbClr val="0D2233"/>
          </a:solidFill>
          <a:ln/>
        </p:spPr>
      </p:sp>
      <p:sp>
        <p:nvSpPr>
          <p:cNvPr id="1861895725" name="Text 57"/>
          <p:cNvSpPr/>
          <p:nvPr/>
        </p:nvSpPr>
        <p:spPr bwMode="auto">
          <a:xfrm>
            <a:off x="269747" y="3584448"/>
            <a:ext cx="292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3A5A7A"/>
                </a:solidFill>
                <a:latin typeface="Courier New"/>
                <a:ea typeface="Courier New"/>
                <a:cs typeface="Courier New"/>
              </a:rPr>
              <a:t>1</a:t>
            </a:r>
            <a:endParaRPr lang="en-US" sz="800"/>
          </a:p>
        </p:txBody>
      </p:sp>
      <p:sp>
        <p:nvSpPr>
          <p:cNvPr id="1036231069" name="Shape 58"/>
          <p:cNvSpPr/>
          <p:nvPr/>
        </p:nvSpPr>
        <p:spPr bwMode="auto">
          <a:xfrm>
            <a:off x="566928" y="3584448"/>
            <a:ext cx="8302752" cy="411480"/>
          </a:xfrm>
          <a:prstGeom prst="rect">
            <a:avLst/>
          </a:prstGeom>
          <a:solidFill>
            <a:srgbClr val="1A4A3A"/>
          </a:solidFill>
          <a:ln/>
        </p:spPr>
      </p:sp>
      <p:sp>
        <p:nvSpPr>
          <p:cNvPr id="1155492096" name="Text 59"/>
          <p:cNvSpPr/>
          <p:nvPr/>
        </p:nvSpPr>
        <p:spPr bwMode="auto">
          <a:xfrm>
            <a:off x="621792" y="3584448"/>
            <a:ext cx="8202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00D4AA"/>
                </a:solidFill>
                <a:latin typeface="Courier New"/>
                <a:ea typeface="Courier New"/>
                <a:cs typeface="Courier New"/>
              </a:rPr>
              <a:t>SELECT s.nev, v.COLUMN_VALUE AS vegzettseg</a:t>
            </a:r>
            <a:endParaRPr lang="en-US" sz="950"/>
          </a:p>
        </p:txBody>
      </p:sp>
      <p:sp>
        <p:nvSpPr>
          <p:cNvPr id="1239388359" name="Text 60"/>
          <p:cNvSpPr/>
          <p:nvPr/>
        </p:nvSpPr>
        <p:spPr bwMode="auto">
          <a:xfrm>
            <a:off x="274320" y="3995928"/>
            <a:ext cx="292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3A5A7A"/>
                </a:solidFill>
                <a:latin typeface="Courier New"/>
                <a:ea typeface="Courier New"/>
                <a:cs typeface="Courier New"/>
              </a:rPr>
              <a:t>2</a:t>
            </a:r>
            <a:endParaRPr lang="en-US" sz="800"/>
          </a:p>
        </p:txBody>
      </p:sp>
      <p:sp>
        <p:nvSpPr>
          <p:cNvPr id="793731880" name="Shape 61"/>
          <p:cNvSpPr/>
          <p:nvPr/>
        </p:nvSpPr>
        <p:spPr bwMode="auto">
          <a:xfrm>
            <a:off x="566928" y="3995928"/>
            <a:ext cx="8302752" cy="411480"/>
          </a:xfrm>
          <a:prstGeom prst="rect">
            <a:avLst/>
          </a:prstGeom>
          <a:solidFill>
            <a:srgbClr val="1A4A3A"/>
          </a:solidFill>
          <a:ln/>
        </p:spPr>
      </p:sp>
      <p:sp>
        <p:nvSpPr>
          <p:cNvPr id="586574785" name="Text 62"/>
          <p:cNvSpPr/>
          <p:nvPr/>
        </p:nvSpPr>
        <p:spPr bwMode="auto">
          <a:xfrm>
            <a:off x="621792" y="3995928"/>
            <a:ext cx="8202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00D4AA"/>
                </a:solidFill>
                <a:latin typeface="Courier New"/>
                <a:ea typeface="Courier New"/>
                <a:cs typeface="Courier New"/>
              </a:rPr>
              <a:t>  FROM szakacsok s, TABLE(s.vegzettsegek) v;</a:t>
            </a:r>
            <a:endParaRPr lang="en-US" sz="950"/>
          </a:p>
        </p:txBody>
      </p:sp>
      <p:sp>
        <p:nvSpPr>
          <p:cNvPr id="1271430576" name="Shape 64"/>
          <p:cNvSpPr/>
          <p:nvPr/>
        </p:nvSpPr>
        <p:spPr bwMode="auto">
          <a:xfrm>
            <a:off x="274320" y="4526280"/>
            <a:ext cx="45720" cy="384048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881269093" name="Shape 66"/>
          <p:cNvSpPr/>
          <p:nvPr/>
        </p:nvSpPr>
        <p:spPr bwMode="auto">
          <a:xfrm>
            <a:off x="0" y="5065776"/>
            <a:ext cx="9144000" cy="73152"/>
          </a:xfrm>
          <a:prstGeom prst="rect">
            <a:avLst/>
          </a:prstGeom>
          <a:solidFill>
            <a:srgbClr val="00D4AA"/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1">
    <p:bg>
      <p:bgPr shadeToTitle="0">
        <a:solidFill>
          <a:srgbClr val="0A162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6272708" name="Shape 0"/>
          <p:cNvSpPr/>
          <p:nvPr/>
        </p:nvSpPr>
        <p:spPr bwMode="auto">
          <a:xfrm>
            <a:off x="0" y="0"/>
            <a:ext cx="9144000" cy="73152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1982376747" name="Text 1"/>
          <p:cNvSpPr/>
          <p:nvPr/>
        </p:nvSpPr>
        <p:spPr bwMode="auto">
          <a:xfrm>
            <a:off x="457200" y="1097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Összefoglalás – Gyorslista</a:t>
            </a:r>
            <a:endParaRPr lang="en-US" sz="2800"/>
          </a:p>
        </p:txBody>
      </p:sp>
      <p:sp>
        <p:nvSpPr>
          <p:cNvPr id="1860592430" name="Shape 2"/>
          <p:cNvSpPr/>
          <p:nvPr/>
        </p:nvSpPr>
        <p:spPr bwMode="auto">
          <a:xfrm>
            <a:off x="274320" y="749808"/>
            <a:ext cx="4160519" cy="768096"/>
          </a:xfrm>
          <a:prstGeom prst="rect">
            <a:avLst/>
          </a:prstGeom>
          <a:solidFill>
            <a:srgbClr val="0D3B6E"/>
          </a:solidFill>
          <a:ln/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534106232" name="Shape 3"/>
          <p:cNvSpPr/>
          <p:nvPr/>
        </p:nvSpPr>
        <p:spPr bwMode="auto">
          <a:xfrm>
            <a:off x="274320" y="749808"/>
            <a:ext cx="45720" cy="768096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691630120" name="Text 4"/>
          <p:cNvSpPr/>
          <p:nvPr/>
        </p:nvSpPr>
        <p:spPr bwMode="auto">
          <a:xfrm>
            <a:off x="384048" y="795528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00A8E8"/>
                </a:solidFill>
                <a:latin typeface="Trebuchet MS"/>
                <a:ea typeface="Trebuchet MS"/>
                <a:cs typeface="Trebuchet MS"/>
              </a:rPr>
              <a:t>XMLType tábla</a:t>
            </a:r>
            <a:endParaRPr lang="en-US" sz="1100"/>
          </a:p>
        </p:txBody>
      </p:sp>
      <p:sp>
        <p:nvSpPr>
          <p:cNvPr id="1090978670" name="Shape 5"/>
          <p:cNvSpPr/>
          <p:nvPr/>
        </p:nvSpPr>
        <p:spPr bwMode="auto">
          <a:xfrm>
            <a:off x="384048" y="1042416"/>
            <a:ext cx="3931920" cy="41148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1990158790" name="Text 6"/>
          <p:cNvSpPr/>
          <p:nvPr/>
        </p:nvSpPr>
        <p:spPr bwMode="auto">
          <a:xfrm>
            <a:off x="420624" y="1042416"/>
            <a:ext cx="3858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A8D8EA"/>
                </a:solidFill>
                <a:latin typeface="Courier New"/>
                <a:ea typeface="Courier New"/>
                <a:cs typeface="Courier New"/>
              </a:rPr>
              <a:t>CREATE TABLE t (adat XMLType);</a:t>
            </a:r>
            <a:endParaRPr lang="en-US" sz="900"/>
          </a:p>
        </p:txBody>
      </p:sp>
      <p:sp>
        <p:nvSpPr>
          <p:cNvPr id="1820828966" name="Shape 7"/>
          <p:cNvSpPr/>
          <p:nvPr/>
        </p:nvSpPr>
        <p:spPr bwMode="auto">
          <a:xfrm>
            <a:off x="4709160" y="749808"/>
            <a:ext cx="4160519" cy="768096"/>
          </a:xfrm>
          <a:prstGeom prst="rect">
            <a:avLst/>
          </a:prstGeom>
          <a:solidFill>
            <a:srgbClr val="0D3B6E"/>
          </a:solidFill>
          <a:ln/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1079509015" name="Shape 8"/>
          <p:cNvSpPr/>
          <p:nvPr/>
        </p:nvSpPr>
        <p:spPr bwMode="auto">
          <a:xfrm>
            <a:off x="4709160" y="749808"/>
            <a:ext cx="45720" cy="768096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1931511176" name="Text 9"/>
          <p:cNvSpPr/>
          <p:nvPr/>
        </p:nvSpPr>
        <p:spPr bwMode="auto">
          <a:xfrm>
            <a:off x="4818888" y="795528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00A8E8"/>
                </a:solidFill>
                <a:latin typeface="Trebuchet MS"/>
                <a:ea typeface="Trebuchet MS"/>
                <a:cs typeface="Trebuchet MS"/>
              </a:rPr>
              <a:t>XMLTABLE XPath</a:t>
            </a:r>
            <a:endParaRPr lang="en-US" sz="1100"/>
          </a:p>
        </p:txBody>
      </p:sp>
      <p:sp>
        <p:nvSpPr>
          <p:cNvPr id="445397396" name="Shape 10"/>
          <p:cNvSpPr/>
          <p:nvPr/>
        </p:nvSpPr>
        <p:spPr bwMode="auto">
          <a:xfrm>
            <a:off x="4818888" y="1042416"/>
            <a:ext cx="3931920" cy="41148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280515783" name="Text 11"/>
          <p:cNvSpPr/>
          <p:nvPr/>
        </p:nvSpPr>
        <p:spPr bwMode="auto">
          <a:xfrm>
            <a:off x="4855464" y="1042416"/>
            <a:ext cx="3858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A8D8EA"/>
                </a:solidFill>
                <a:latin typeface="Courier New"/>
                <a:ea typeface="Courier New"/>
                <a:cs typeface="Courier New"/>
              </a:rPr>
              <a:t>XMLTABLE('/gyoker/elem' PASSING v.adat COLUMNS ...)</a:t>
            </a:r>
            <a:endParaRPr lang="en-US" sz="900"/>
          </a:p>
        </p:txBody>
      </p:sp>
      <p:sp>
        <p:nvSpPr>
          <p:cNvPr id="752220845" name="Shape 12"/>
          <p:cNvSpPr/>
          <p:nvPr/>
        </p:nvSpPr>
        <p:spPr bwMode="auto">
          <a:xfrm>
            <a:off x="274320" y="1572768"/>
            <a:ext cx="4160519" cy="768096"/>
          </a:xfrm>
          <a:prstGeom prst="rect">
            <a:avLst/>
          </a:prstGeom>
          <a:solidFill>
            <a:srgbClr val="0D3B6E"/>
          </a:solidFill>
          <a:ln/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749167780" name="Shape 13"/>
          <p:cNvSpPr/>
          <p:nvPr/>
        </p:nvSpPr>
        <p:spPr bwMode="auto">
          <a:xfrm>
            <a:off x="274320" y="1572768"/>
            <a:ext cx="45720" cy="768096"/>
          </a:xfrm>
          <a:prstGeom prst="rect">
            <a:avLst/>
          </a:prstGeom>
          <a:solidFill>
            <a:srgbClr val="A8D8EA"/>
          </a:solidFill>
          <a:ln/>
        </p:spPr>
      </p:sp>
      <p:sp>
        <p:nvSpPr>
          <p:cNvPr id="1431124912" name="Text 14"/>
          <p:cNvSpPr/>
          <p:nvPr/>
        </p:nvSpPr>
        <p:spPr bwMode="auto">
          <a:xfrm>
            <a:off x="384048" y="1618488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A8D8EA"/>
                </a:solidFill>
                <a:latin typeface="Trebuchet MS"/>
                <a:ea typeface="Trebuchet MS"/>
                <a:cs typeface="Trebuchet MS"/>
              </a:rPr>
              <a:t>Attribútum</a:t>
            </a:r>
            <a:endParaRPr lang="en-US" sz="1100"/>
          </a:p>
        </p:txBody>
      </p:sp>
      <p:sp>
        <p:nvSpPr>
          <p:cNvPr id="293055052" name="Shape 15"/>
          <p:cNvSpPr/>
          <p:nvPr/>
        </p:nvSpPr>
        <p:spPr bwMode="auto">
          <a:xfrm>
            <a:off x="384048" y="1865376"/>
            <a:ext cx="3931920" cy="41148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541789611" name="Text 16"/>
          <p:cNvSpPr/>
          <p:nvPr/>
        </p:nvSpPr>
        <p:spPr bwMode="auto">
          <a:xfrm>
            <a:off x="420624" y="1865376"/>
            <a:ext cx="3858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A8D8EA"/>
                </a:solidFill>
                <a:latin typeface="Courier New"/>
                <a:ea typeface="Courier New"/>
                <a:cs typeface="Courier New"/>
              </a:rPr>
              <a:t>PATH '@attrib_nev'</a:t>
            </a:r>
            <a:endParaRPr lang="en-US" sz="900"/>
          </a:p>
        </p:txBody>
      </p:sp>
      <p:sp>
        <p:nvSpPr>
          <p:cNvPr id="556066829" name="Shape 17"/>
          <p:cNvSpPr/>
          <p:nvPr/>
        </p:nvSpPr>
        <p:spPr bwMode="auto">
          <a:xfrm>
            <a:off x="4709160" y="1572768"/>
            <a:ext cx="4160519" cy="768096"/>
          </a:xfrm>
          <a:prstGeom prst="rect">
            <a:avLst/>
          </a:prstGeom>
          <a:solidFill>
            <a:srgbClr val="0D3B6E"/>
          </a:solidFill>
          <a:ln/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1270303055" name="Shape 18"/>
          <p:cNvSpPr/>
          <p:nvPr/>
        </p:nvSpPr>
        <p:spPr bwMode="auto">
          <a:xfrm>
            <a:off x="4709160" y="1572768"/>
            <a:ext cx="45720" cy="768096"/>
          </a:xfrm>
          <a:prstGeom prst="rect">
            <a:avLst/>
          </a:prstGeom>
          <a:solidFill>
            <a:srgbClr val="A8D8EA"/>
          </a:solidFill>
          <a:ln/>
        </p:spPr>
      </p:sp>
      <p:sp>
        <p:nvSpPr>
          <p:cNvPr id="88055412" name="Text 19"/>
          <p:cNvSpPr/>
          <p:nvPr/>
        </p:nvSpPr>
        <p:spPr bwMode="auto">
          <a:xfrm>
            <a:off x="4818888" y="1618488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A8D8EA"/>
                </a:solidFill>
                <a:latin typeface="Trebuchet MS"/>
                <a:ea typeface="Trebuchet MS"/>
                <a:cs typeface="Trebuchet MS"/>
              </a:rPr>
              <a:t>Beágyazott elem</a:t>
            </a:r>
            <a:endParaRPr lang="en-US" sz="1100"/>
          </a:p>
        </p:txBody>
      </p:sp>
      <p:sp>
        <p:nvSpPr>
          <p:cNvPr id="693730109" name="Shape 20"/>
          <p:cNvSpPr/>
          <p:nvPr/>
        </p:nvSpPr>
        <p:spPr bwMode="auto">
          <a:xfrm>
            <a:off x="4818888" y="1865376"/>
            <a:ext cx="3931920" cy="41148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1601271875" name="Text 21"/>
          <p:cNvSpPr/>
          <p:nvPr/>
        </p:nvSpPr>
        <p:spPr bwMode="auto">
          <a:xfrm>
            <a:off x="4855464" y="1865376"/>
            <a:ext cx="3858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A8D8EA"/>
                </a:solidFill>
                <a:latin typeface="Courier New"/>
                <a:ea typeface="Courier New"/>
                <a:cs typeface="Courier New"/>
              </a:rPr>
              <a:t>PATH 'szulo/gyerek'</a:t>
            </a:r>
            <a:endParaRPr lang="en-US" sz="900"/>
          </a:p>
        </p:txBody>
      </p:sp>
      <p:sp>
        <p:nvSpPr>
          <p:cNvPr id="474303161" name="Shape 22"/>
          <p:cNvSpPr/>
          <p:nvPr/>
        </p:nvSpPr>
        <p:spPr bwMode="auto">
          <a:xfrm>
            <a:off x="274320" y="2395728"/>
            <a:ext cx="4160519" cy="768096"/>
          </a:xfrm>
          <a:prstGeom prst="rect">
            <a:avLst/>
          </a:prstGeom>
          <a:solidFill>
            <a:srgbClr val="0D3B6E"/>
          </a:solidFill>
          <a:ln/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557828197" name="Shape 23"/>
          <p:cNvSpPr/>
          <p:nvPr/>
        </p:nvSpPr>
        <p:spPr bwMode="auto">
          <a:xfrm>
            <a:off x="274320" y="2395728"/>
            <a:ext cx="45720" cy="768096"/>
          </a:xfrm>
          <a:prstGeom prst="rect">
            <a:avLst/>
          </a:prstGeom>
          <a:solidFill>
            <a:srgbClr val="C77DFF"/>
          </a:solidFill>
          <a:ln/>
        </p:spPr>
      </p:sp>
      <p:sp>
        <p:nvSpPr>
          <p:cNvPr id="1443724172" name="Text 24"/>
          <p:cNvSpPr/>
          <p:nvPr/>
        </p:nvSpPr>
        <p:spPr bwMode="auto">
          <a:xfrm>
            <a:off x="384048" y="2441448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C77DFF"/>
                </a:solidFill>
                <a:latin typeface="Trebuchet MS"/>
                <a:ea typeface="Trebuchet MS"/>
                <a:cs typeface="Trebuchet MS"/>
              </a:rPr>
              <a:t>UDT létrehozás</a:t>
            </a:r>
            <a:endParaRPr lang="en-US" sz="1100"/>
          </a:p>
        </p:txBody>
      </p:sp>
      <p:sp>
        <p:nvSpPr>
          <p:cNvPr id="1616488895" name="Shape 25"/>
          <p:cNvSpPr/>
          <p:nvPr/>
        </p:nvSpPr>
        <p:spPr bwMode="auto">
          <a:xfrm>
            <a:off x="384048" y="2688336"/>
            <a:ext cx="3931920" cy="41148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1157754851" name="Text 26"/>
          <p:cNvSpPr/>
          <p:nvPr/>
        </p:nvSpPr>
        <p:spPr bwMode="auto">
          <a:xfrm>
            <a:off x="420624" y="2688336"/>
            <a:ext cx="3858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A8D8EA"/>
                </a:solidFill>
                <a:latin typeface="Courier New"/>
                <a:ea typeface="Courier New"/>
                <a:cs typeface="Courier New"/>
              </a:rPr>
              <a:t>CREATE TYPE nev_t AS OBJECT (mezo TIPUS, ...);</a:t>
            </a:r>
            <a:endParaRPr lang="en-US" sz="900"/>
          </a:p>
        </p:txBody>
      </p:sp>
      <p:sp>
        <p:nvSpPr>
          <p:cNvPr id="693432082" name="Shape 27"/>
          <p:cNvSpPr/>
          <p:nvPr/>
        </p:nvSpPr>
        <p:spPr bwMode="auto">
          <a:xfrm>
            <a:off x="4709160" y="2395728"/>
            <a:ext cx="4160519" cy="768096"/>
          </a:xfrm>
          <a:prstGeom prst="rect">
            <a:avLst/>
          </a:prstGeom>
          <a:solidFill>
            <a:srgbClr val="0D3B6E"/>
          </a:solidFill>
          <a:ln/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621452468" name="Shape 28"/>
          <p:cNvSpPr/>
          <p:nvPr/>
        </p:nvSpPr>
        <p:spPr bwMode="auto">
          <a:xfrm>
            <a:off x="4709160" y="2395728"/>
            <a:ext cx="45720" cy="768096"/>
          </a:xfrm>
          <a:prstGeom prst="rect">
            <a:avLst/>
          </a:prstGeom>
          <a:solidFill>
            <a:srgbClr val="C77DFF"/>
          </a:solidFill>
          <a:ln/>
        </p:spPr>
      </p:sp>
      <p:sp>
        <p:nvSpPr>
          <p:cNvPr id="125947009" name="Text 29"/>
          <p:cNvSpPr/>
          <p:nvPr/>
        </p:nvSpPr>
        <p:spPr bwMode="auto">
          <a:xfrm>
            <a:off x="4818888" y="2441448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C77DFF"/>
                </a:solidFill>
                <a:latin typeface="Trebuchet MS"/>
                <a:ea typeface="Trebuchet MS"/>
                <a:cs typeface="Trebuchet MS"/>
              </a:rPr>
              <a:t>TYPE BODY</a:t>
            </a:r>
            <a:endParaRPr lang="en-US" sz="1100"/>
          </a:p>
        </p:txBody>
      </p:sp>
      <p:sp>
        <p:nvSpPr>
          <p:cNvPr id="1222639771" name="Shape 30"/>
          <p:cNvSpPr/>
          <p:nvPr/>
        </p:nvSpPr>
        <p:spPr bwMode="auto">
          <a:xfrm>
            <a:off x="4818888" y="2688336"/>
            <a:ext cx="3931920" cy="41148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1664538960" name="Text 31"/>
          <p:cNvSpPr/>
          <p:nvPr/>
        </p:nvSpPr>
        <p:spPr bwMode="auto">
          <a:xfrm>
            <a:off x="4855464" y="2688336"/>
            <a:ext cx="3858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A8D8EA"/>
                </a:solidFill>
                <a:latin typeface="Courier New"/>
                <a:ea typeface="Courier New"/>
                <a:cs typeface="Courier New"/>
              </a:rPr>
              <a:t>CREATE TYPE BODY nev_t AS MEMBER FUNCTION ... END;</a:t>
            </a:r>
            <a:endParaRPr lang="en-US" sz="900"/>
          </a:p>
        </p:txBody>
      </p:sp>
      <p:sp>
        <p:nvSpPr>
          <p:cNvPr id="923931937" name="Shape 32"/>
          <p:cNvSpPr/>
          <p:nvPr/>
        </p:nvSpPr>
        <p:spPr bwMode="auto">
          <a:xfrm>
            <a:off x="274320" y="3218688"/>
            <a:ext cx="4160519" cy="768096"/>
          </a:xfrm>
          <a:prstGeom prst="rect">
            <a:avLst/>
          </a:prstGeom>
          <a:solidFill>
            <a:srgbClr val="0D3B6E"/>
          </a:solidFill>
          <a:ln/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465698150" name="Shape 33"/>
          <p:cNvSpPr/>
          <p:nvPr/>
        </p:nvSpPr>
        <p:spPr bwMode="auto">
          <a:xfrm>
            <a:off x="274320" y="3218688"/>
            <a:ext cx="45720" cy="768096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05377343" name="Text 34"/>
          <p:cNvSpPr/>
          <p:nvPr/>
        </p:nvSpPr>
        <p:spPr bwMode="auto">
          <a:xfrm>
            <a:off x="384048" y="3264408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F4A261"/>
                </a:solidFill>
                <a:latin typeface="Trebuchet MS"/>
                <a:ea typeface="Trebuchet MS"/>
                <a:cs typeface="Trebuchet MS"/>
              </a:rPr>
              <a:t>Object Table</a:t>
            </a:r>
            <a:endParaRPr lang="en-US" sz="1100"/>
          </a:p>
        </p:txBody>
      </p:sp>
      <p:sp>
        <p:nvSpPr>
          <p:cNvPr id="1725749551" name="Shape 35"/>
          <p:cNvSpPr/>
          <p:nvPr/>
        </p:nvSpPr>
        <p:spPr bwMode="auto">
          <a:xfrm>
            <a:off x="384048" y="3511296"/>
            <a:ext cx="3931920" cy="41148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385844924" name="Text 36"/>
          <p:cNvSpPr/>
          <p:nvPr/>
        </p:nvSpPr>
        <p:spPr bwMode="auto">
          <a:xfrm>
            <a:off x="420624" y="3511296"/>
            <a:ext cx="3858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A8D8EA"/>
                </a:solidFill>
                <a:latin typeface="Courier New"/>
                <a:ea typeface="Courier New"/>
                <a:cs typeface="Courier New"/>
              </a:rPr>
              <a:t>CREATE TABLE t OF udt_t (PRIMARY KEY (m));</a:t>
            </a:r>
            <a:endParaRPr lang="en-US" sz="900"/>
          </a:p>
        </p:txBody>
      </p:sp>
      <p:sp>
        <p:nvSpPr>
          <p:cNvPr id="17501443" name="Shape 37"/>
          <p:cNvSpPr/>
          <p:nvPr/>
        </p:nvSpPr>
        <p:spPr bwMode="auto">
          <a:xfrm>
            <a:off x="4709160" y="3218688"/>
            <a:ext cx="4160519" cy="768096"/>
          </a:xfrm>
          <a:prstGeom prst="rect">
            <a:avLst/>
          </a:prstGeom>
          <a:solidFill>
            <a:srgbClr val="0D3B6E"/>
          </a:solidFill>
          <a:ln/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597677902" name="Shape 38"/>
          <p:cNvSpPr/>
          <p:nvPr/>
        </p:nvSpPr>
        <p:spPr bwMode="auto">
          <a:xfrm>
            <a:off x="4709160" y="3218688"/>
            <a:ext cx="45720" cy="768096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901713683" name="Text 39"/>
          <p:cNvSpPr/>
          <p:nvPr/>
        </p:nvSpPr>
        <p:spPr bwMode="auto">
          <a:xfrm>
            <a:off x="4818888" y="3264408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F4A261"/>
                </a:solidFill>
                <a:latin typeface="Trebuchet MS"/>
                <a:ea typeface="Trebuchet MS"/>
                <a:cs typeface="Trebuchet MS"/>
              </a:rPr>
              <a:t>XML → Object Table</a:t>
            </a:r>
            <a:endParaRPr lang="en-US" sz="1100"/>
          </a:p>
        </p:txBody>
      </p:sp>
      <p:sp>
        <p:nvSpPr>
          <p:cNvPr id="1638534808" name="Shape 40"/>
          <p:cNvSpPr/>
          <p:nvPr/>
        </p:nvSpPr>
        <p:spPr bwMode="auto">
          <a:xfrm>
            <a:off x="4818888" y="3511296"/>
            <a:ext cx="3931920" cy="41148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798700691" name="Text 41"/>
          <p:cNvSpPr/>
          <p:nvPr/>
        </p:nvSpPr>
        <p:spPr bwMode="auto">
          <a:xfrm>
            <a:off x="4855464" y="3511296"/>
            <a:ext cx="3858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A8D8EA"/>
                </a:solidFill>
                <a:latin typeface="Courier New"/>
                <a:ea typeface="Courier New"/>
                <a:cs typeface="Courier New"/>
              </a:rPr>
              <a:t>INSERT INTO t SELECT udt_t(x.m, udt2(x.a)) FROM ... XMLTABLE(...) x;</a:t>
            </a:r>
            <a:endParaRPr lang="en-US" sz="900"/>
          </a:p>
        </p:txBody>
      </p:sp>
      <p:sp>
        <p:nvSpPr>
          <p:cNvPr id="1638332009" name="Shape 42"/>
          <p:cNvSpPr/>
          <p:nvPr/>
        </p:nvSpPr>
        <p:spPr bwMode="auto">
          <a:xfrm>
            <a:off x="274320" y="4041648"/>
            <a:ext cx="4160519" cy="768096"/>
          </a:xfrm>
          <a:prstGeom prst="rect">
            <a:avLst/>
          </a:prstGeom>
          <a:solidFill>
            <a:srgbClr val="0D3B6E"/>
          </a:solidFill>
          <a:ln/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1343277798" name="Shape 43"/>
          <p:cNvSpPr/>
          <p:nvPr/>
        </p:nvSpPr>
        <p:spPr bwMode="auto">
          <a:xfrm>
            <a:off x="274320" y="4041648"/>
            <a:ext cx="45720" cy="768096"/>
          </a:xfrm>
          <a:prstGeom prst="rect">
            <a:avLst/>
          </a:prstGeom>
          <a:solidFill>
            <a:srgbClr val="5BF0A5"/>
          </a:solidFill>
          <a:ln/>
        </p:spPr>
      </p:sp>
      <p:sp>
        <p:nvSpPr>
          <p:cNvPr id="1590281495" name="Text 44"/>
          <p:cNvSpPr/>
          <p:nvPr/>
        </p:nvSpPr>
        <p:spPr bwMode="auto">
          <a:xfrm>
            <a:off x="384048" y="4087368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5BF0A5"/>
                </a:solidFill>
                <a:latin typeface="Trebuchet MS"/>
                <a:ea typeface="Trebuchet MS"/>
                <a:cs typeface="Trebuchet MS"/>
              </a:rPr>
              <a:t>VARRAY típus</a:t>
            </a:r>
            <a:endParaRPr lang="en-US" sz="1100"/>
          </a:p>
        </p:txBody>
      </p:sp>
      <p:sp>
        <p:nvSpPr>
          <p:cNvPr id="2031964523" name="Shape 45"/>
          <p:cNvSpPr/>
          <p:nvPr/>
        </p:nvSpPr>
        <p:spPr bwMode="auto">
          <a:xfrm>
            <a:off x="384048" y="4334256"/>
            <a:ext cx="3931920" cy="41148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2042684624" name="Text 46"/>
          <p:cNvSpPr/>
          <p:nvPr/>
        </p:nvSpPr>
        <p:spPr bwMode="auto">
          <a:xfrm>
            <a:off x="420624" y="4334256"/>
            <a:ext cx="3858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A8D8EA"/>
                </a:solidFill>
                <a:latin typeface="Courier New"/>
                <a:ea typeface="Courier New"/>
                <a:cs typeface="Courier New"/>
              </a:rPr>
              <a:t>CREATE TYPE nev_va AS VARRAY(N) OF VARCHAR2(200);</a:t>
            </a:r>
            <a:endParaRPr lang="en-US" sz="900"/>
          </a:p>
        </p:txBody>
      </p:sp>
      <p:sp>
        <p:nvSpPr>
          <p:cNvPr id="1294018327" name="Shape 47"/>
          <p:cNvSpPr/>
          <p:nvPr/>
        </p:nvSpPr>
        <p:spPr bwMode="auto">
          <a:xfrm>
            <a:off x="4709160" y="4041648"/>
            <a:ext cx="4160519" cy="768096"/>
          </a:xfrm>
          <a:prstGeom prst="rect">
            <a:avLst/>
          </a:prstGeom>
          <a:solidFill>
            <a:srgbClr val="0D3B6E"/>
          </a:solidFill>
          <a:ln/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338862844" name="Shape 48"/>
          <p:cNvSpPr/>
          <p:nvPr/>
        </p:nvSpPr>
        <p:spPr bwMode="auto">
          <a:xfrm>
            <a:off x="4709160" y="4041648"/>
            <a:ext cx="45720" cy="768096"/>
          </a:xfrm>
          <a:prstGeom prst="rect">
            <a:avLst/>
          </a:prstGeom>
          <a:solidFill>
            <a:srgbClr val="5BF0A5"/>
          </a:solidFill>
          <a:ln/>
        </p:spPr>
      </p:sp>
      <p:sp>
        <p:nvSpPr>
          <p:cNvPr id="2021067312" name="Text 49"/>
          <p:cNvSpPr/>
          <p:nvPr/>
        </p:nvSpPr>
        <p:spPr bwMode="auto">
          <a:xfrm>
            <a:off x="4818888" y="4087368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5BF0A5"/>
                </a:solidFill>
                <a:latin typeface="Trebuchet MS"/>
                <a:ea typeface="Trebuchet MS"/>
                <a:cs typeface="Trebuchet MS"/>
              </a:rPr>
              <a:t>VARRAY lekérdezés</a:t>
            </a:r>
            <a:endParaRPr lang="en-US" sz="1100"/>
          </a:p>
        </p:txBody>
      </p:sp>
      <p:sp>
        <p:nvSpPr>
          <p:cNvPr id="421315539" name="Shape 50"/>
          <p:cNvSpPr/>
          <p:nvPr/>
        </p:nvSpPr>
        <p:spPr bwMode="auto">
          <a:xfrm>
            <a:off x="4818888" y="4334256"/>
            <a:ext cx="3931920" cy="41148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2044531543" name="Text 51"/>
          <p:cNvSpPr/>
          <p:nvPr/>
        </p:nvSpPr>
        <p:spPr bwMode="auto">
          <a:xfrm>
            <a:off x="4855464" y="4334256"/>
            <a:ext cx="3858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A8D8EA"/>
                </a:solidFill>
                <a:latin typeface="Courier New"/>
                <a:ea typeface="Courier New"/>
                <a:cs typeface="Courier New"/>
              </a:rPr>
              <a:t>SELECT ... FROM t, TABLE(t.varray_mezo) v;</a:t>
            </a:r>
            <a:endParaRPr lang="en-US" sz="900"/>
          </a:p>
        </p:txBody>
      </p:sp>
      <p:sp>
        <p:nvSpPr>
          <p:cNvPr id="1732906061" name="Shape 52"/>
          <p:cNvSpPr/>
          <p:nvPr/>
        </p:nvSpPr>
        <p:spPr bwMode="auto">
          <a:xfrm>
            <a:off x="0" y="5065776"/>
            <a:ext cx="9144000" cy="73152"/>
          </a:xfrm>
          <a:prstGeom prst="rect">
            <a:avLst/>
          </a:prstGeom>
          <a:solidFill>
            <a:srgbClr val="00D4AA"/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ONLYOFFICE/9.3.1.8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Oracle ORDBMS – XMLType &amp; UDT</dc:title>
  <dc:subject>PptxGenJS Presentation</dc:subject>
  <dc:creator>PptxGenJS</dc:creator>
  <cp:lastModifiedBy/>
  <cp:revision>3</cp:revision>
  <dcterms:created xsi:type="dcterms:W3CDTF">2026-03-31T07:54:25Z</dcterms:created>
  <dcterms:modified xsi:type="dcterms:W3CDTF">2026-04-01T06:20:32Z</dcterms:modified>
</cp:coreProperties>
</file>